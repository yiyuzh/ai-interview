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868680"/>
            <a:ext cx="384048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06959"/>
                </a:solidFill>
                <a:latin typeface="Microsoft YaHei"/>
              </a:rPr>
              <a:t>职启智评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859536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>
                <a:solidFill>
                  <a:srgbClr val="192330"/>
                </a:solidFill>
                <a:latin typeface="Microsoft YaHei"/>
              </a:rPr>
              <a:t>真实简历驱动的岗位化 AI 模拟面试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905256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5C6773"/>
                </a:solidFill>
                <a:latin typeface="Microsoft YaHei"/>
              </a:rPr>
              <a:t>从一份公开简历出发，系统把岗位画像、简历证据和知识切片组合起来，生成更接近真实招聘场景的追问与报告。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401568"/>
            <a:ext cx="1078992" cy="310896"/>
          </a:xfrm>
          <a:prstGeom prst="round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3456432"/>
            <a:ext cx="932688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简历证据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39242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5C6773"/>
                </a:solidFill>
                <a:latin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0088" y="3401568"/>
            <a:ext cx="1078992" cy="310896"/>
          </a:xfrm>
          <a:prstGeom prst="roundRect">
            <a:avLst/>
          </a:prstGeom>
          <a:solidFill>
            <a:srgbClr val="006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3456432"/>
            <a:ext cx="932688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岗位画像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4528" y="339242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5C6773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2936" y="3401568"/>
            <a:ext cx="1078992" cy="310896"/>
          </a:xfrm>
          <a:prstGeom prst="roundRect">
            <a:avLst/>
          </a:prstGeom>
          <a:solidFill>
            <a:srgbClr val="D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76088" y="3456432"/>
            <a:ext cx="932688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证据追问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5" y="3392424"/>
            <a:ext cx="320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5C6773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15783" y="3401568"/>
            <a:ext cx="1078992" cy="310896"/>
          </a:xfrm>
          <a:prstGeom prst="roundRect">
            <a:avLst/>
          </a:prstGeom>
          <a:solidFill>
            <a:srgbClr val="B23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88936" y="3456432"/>
            <a:ext cx="932688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报告复核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315968"/>
            <a:ext cx="2103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DA891C"/>
                </a:solidFill>
                <a:latin typeface="Microsoft YaHei"/>
              </a:rPr>
              <a:t>初赛演讲优化版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709160"/>
            <a:ext cx="6583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92330"/>
                </a:solidFill>
                <a:latin typeface="Microsoft YaHei"/>
              </a:rPr>
              <a:t>建议演讲时长：6 分钟；现场展示重点：真实案例、画像驱动、证据追问。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3112" y="502920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5C6773"/>
                </a:solidFill>
                <a:latin typeface="Microsoft YaHe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46520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5C6773"/>
                </a:solidFill>
                <a:latin typeface="Microsoft YaHei"/>
              </a:rPr>
              <a:t>来源：Harvard College Tech Resume Example, Office of Career Services, Harvard FAS；用户已确认学习场景授权使用。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6959"/>
                </a:solidFill>
                <a:latin typeface="Microsoft YaHei"/>
              </a:rPr>
              <a:t>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923544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92330"/>
                </a:solidFill>
                <a:latin typeface="Microsoft YaHei"/>
              </a:rPr>
              <a:t>从一份真实公开简历开始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835640" cy="32004"/>
          </a:xfrm>
          <a:prstGeom prst="rect">
            <a:avLst/>
          </a:prstGeom>
          <a:solidFill>
            <a:srgbClr val="006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5C6773"/>
                </a:solidFill>
                <a:latin typeface="Microsoft YaHe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47088"/>
            <a:ext cx="2926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121408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006959"/>
                </a:solidFill>
                <a:latin typeface="Microsoft YaHei"/>
              </a:rPr>
              <a:t>公开样例简历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24328"/>
            <a:ext cx="2194560" cy="1024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2330"/>
                </a:solidFill>
                <a:latin typeface="Microsoft YaHei"/>
              </a:rPr>
              <a:t>Ruby Swift
Harvard CS
Tech Resume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4251960"/>
            <a:ext cx="2487168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DA891C"/>
                </a:solidFill>
                <a:latin typeface="Microsoft YaHei"/>
              </a:rPr>
              <a:t>演示目标岗位：
Python后端开发工程师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5074920"/>
            <a:ext cx="21488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773"/>
                </a:solidFill>
                <a:latin typeface="Microsoft YaHei"/>
              </a:rPr>
              <a:t>用途：看系统如何把简历证据转成岗位化追问，而不是简单复述简历。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874519"/>
            <a:ext cx="2880360" cy="5029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984248"/>
            <a:ext cx="2880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92330"/>
                </a:solidFill>
                <a:latin typeface="Microsoft YaHei"/>
              </a:rPr>
              <a:t>可直接使用的简历证据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468880"/>
            <a:ext cx="3108960" cy="1920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20">
                <a:solidFill>
                  <a:srgbClr val="192330"/>
                </a:solidFill>
                <a:latin typeface="Microsoft YaHei"/>
              </a:defRPr>
            </a:pPr>
            <a:r>
              <a:t>• 计算机背景，课程覆盖系统编程、数据结构、算法、AI、概率。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20">
                <a:solidFill>
                  <a:srgbClr val="192330"/>
                </a:solidFill>
                <a:latin typeface="Microsoft YaHei"/>
              </a:defRPr>
            </a:pPr>
            <a:r>
              <a:t>• 技能线索包含 Python、SQL、JavaScript、C/C++/C# 等。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20">
                <a:solidFill>
                  <a:srgbClr val="192330"/>
                </a:solidFill>
                <a:latin typeface="Microsoft YaHei"/>
              </a:defRPr>
            </a:pPr>
            <a:r>
              <a:t>• 有软件工程实习、助教、网站后端数据库项目经历。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874519"/>
            <a:ext cx="3063240" cy="50292"/>
          </a:xfrm>
          <a:prstGeom prst="rect">
            <a:avLst/>
          </a:prstGeom>
          <a:solidFill>
            <a:srgbClr val="D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984248"/>
            <a:ext cx="3063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92330"/>
                </a:solidFill>
                <a:latin typeface="Microsoft YaHei"/>
              </a:rPr>
              <a:t>不能直接下结论的部分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468880"/>
            <a:ext cx="3246120" cy="1920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20">
                <a:solidFill>
                  <a:srgbClr val="192330"/>
                </a:solidFill>
                <a:latin typeface="Microsoft YaHei"/>
              </a:defRPr>
            </a:pPr>
            <a:r>
              <a:t>• 简历未直接写 FastAPI、Redis、Celery、Docker。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20">
                <a:solidFill>
                  <a:srgbClr val="192330"/>
                </a:solidFill>
                <a:latin typeface="Microsoft YaHei"/>
              </a:defRPr>
            </a:pPr>
            <a:r>
              <a:t>• 系统不能替演示对象判定为已掌握。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20">
                <a:solidFill>
                  <a:srgbClr val="192330"/>
                </a:solidFill>
                <a:latin typeface="Microsoft YaHei"/>
              </a:defRPr>
            </a:pPr>
            <a:r>
              <a:t>• 这些内容应转成追问，验证是否真的具备岗位能力。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98348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6959"/>
                </a:solidFill>
                <a:latin typeface="Microsoft YaHei"/>
              </a:rPr>
              <a:t>现场表达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5321808"/>
            <a:ext cx="6949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20" b="0">
                <a:solidFill>
                  <a:srgbClr val="192330"/>
                </a:solidFill>
                <a:latin typeface="Microsoft YaHei"/>
              </a:rPr>
              <a:t>我会说：这份简历提供了技术基础和项目证据，但岗位画像中的 Redis、FastAPI、Docker 没有直接证据，所以系统会围绕这些缺口继续追问。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46520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5C6773"/>
                </a:solidFill>
                <a:latin typeface="Microsoft YaHei"/>
              </a:rPr>
              <a:t>来源：Harvard College Tech Resume Example, Office of Career Services, Harvard FAS；用户已确认学习场景授权使用。 页面只展示与演示相关的证据摘要。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6959"/>
                </a:solidFill>
                <a:latin typeface="Microsoft YaHei"/>
              </a:rPr>
              <a:t>系统闭环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923544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92330"/>
                </a:solidFill>
                <a:latin typeface="Microsoft YaHei"/>
              </a:rPr>
              <a:t>系统把简历变成一场岗位化面试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835640" cy="32004"/>
          </a:xfrm>
          <a:prstGeom prst="rect">
            <a:avLst/>
          </a:prstGeom>
          <a:solidFill>
            <a:srgbClr val="006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5C6773"/>
                </a:solidFill>
                <a:latin typeface="Microsoft Ya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194560"/>
            <a:ext cx="170078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" y="2395728"/>
            <a:ext cx="347472" cy="310896"/>
          </a:xfrm>
          <a:prstGeom prst="round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50592"/>
            <a:ext cx="201168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16352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192330"/>
                </a:solidFill>
                <a:latin typeface="Microsoft YaHei"/>
              </a:rPr>
              <a:t>上传简历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1371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40" b="0">
                <a:solidFill>
                  <a:srgbClr val="5C6773"/>
                </a:solidFill>
                <a:latin typeface="Microsoft YaHei"/>
              </a:rPr>
              <a:t>抽取经历、技能、项目证据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743200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5C6773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2656" y="2194560"/>
            <a:ext cx="170078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99815" y="2395728"/>
            <a:ext cx="347472" cy="310896"/>
          </a:xfrm>
          <a:prstGeom prst="roundRect">
            <a:avLst/>
          </a:prstGeom>
          <a:solidFill>
            <a:srgbClr val="006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72968" y="2450592"/>
            <a:ext cx="201168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2816352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192330"/>
                </a:solidFill>
                <a:latin typeface="Microsoft YaHei"/>
              </a:rPr>
              <a:t>选择岗位画像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127248"/>
            <a:ext cx="1371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40" b="0">
                <a:solidFill>
                  <a:srgbClr val="5C6773"/>
                </a:solidFill>
                <a:latin typeface="Microsoft YaHei"/>
              </a:rPr>
              <a:t>锁定岗位能力与知识切片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743200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5C6773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2194560"/>
            <a:ext cx="170078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12664" y="2395728"/>
            <a:ext cx="347472" cy="310896"/>
          </a:xfrm>
          <a:prstGeom prst="roundRect">
            <a:avLst/>
          </a:prstGeom>
          <a:solidFill>
            <a:srgbClr val="D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450592"/>
            <a:ext cx="201168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2816352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192330"/>
                </a:solidFill>
                <a:latin typeface="Microsoft YaHei"/>
              </a:rPr>
              <a:t>匹配分析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3127248"/>
            <a:ext cx="1371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40" b="0">
                <a:solidFill>
                  <a:srgbClr val="5C6773"/>
                </a:solidFill>
                <a:latin typeface="Microsoft YaHei"/>
              </a:rPr>
              <a:t>区分已有证据与能力缺口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2743200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5C6773"/>
                </a:solidFill>
                <a:latin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88352" y="2194560"/>
            <a:ext cx="170078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25512" y="2395728"/>
            <a:ext cx="347472" cy="310896"/>
          </a:xfrm>
          <a:prstGeom prst="roundRect">
            <a:avLst/>
          </a:prstGeom>
          <a:solidFill>
            <a:srgbClr val="B23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98664" y="2450592"/>
            <a:ext cx="201168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71231" y="2816352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192330"/>
                </a:solidFill>
                <a:latin typeface="Microsoft YaHei"/>
              </a:rPr>
              <a:t>模拟面试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127248"/>
            <a:ext cx="1371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40" b="0">
                <a:solidFill>
                  <a:srgbClr val="5C6773"/>
                </a:solidFill>
                <a:latin typeface="Microsoft YaHei"/>
              </a:rPr>
              <a:t>围绕证据和缺口生成追问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2743200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5C6773"/>
                </a:solidFill>
                <a:latin typeface="Microsoft Ya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2194560"/>
            <a:ext cx="170078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38360" y="2395728"/>
            <a:ext cx="347472" cy="310896"/>
          </a:xfrm>
          <a:prstGeom prst="roundRect">
            <a:avLst/>
          </a:prstGeom>
          <a:solidFill>
            <a:srgbClr val="006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11512" y="2450592"/>
            <a:ext cx="201168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816352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192330"/>
                </a:solidFill>
                <a:latin typeface="Microsoft YaHei"/>
              </a:rPr>
              <a:t>报告复核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5792" y="3127248"/>
            <a:ext cx="1371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40" b="0">
                <a:solidFill>
                  <a:srgbClr val="5C6773"/>
                </a:solidFill>
                <a:latin typeface="Microsoft YaHei"/>
              </a:rPr>
              <a:t>输出评分、建议和后台样本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72000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06959"/>
                </a:solidFill>
                <a:latin typeface="Microsoft YaHei"/>
              </a:rPr>
              <a:t>关键变化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4507992"/>
            <a:ext cx="85953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92330"/>
                </a:solidFill>
                <a:latin typeface="Microsoft YaHei"/>
              </a:rPr>
              <a:t>系统不是把简历直接交给聊天机器人，而是先建立证据链，再把岗位缺口转成可验证的问题。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446520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5C6773"/>
                </a:solidFill>
                <a:latin typeface="Microsoft YaHei"/>
              </a:rPr>
              <a:t>来源：Harvard College Tech Resume Example, Office of Career Services, Harvard FAS；用户已确认学习场景授权使用。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6959"/>
                </a:solidFill>
                <a:latin typeface="Microsoft YaHei"/>
              </a:rPr>
              <a:t>岗位画像库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923544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92330"/>
                </a:solidFill>
                <a:latin typeface="Microsoft YaHei"/>
              </a:rPr>
              <a:t>为什么这次选 Python 后端岗位画像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835640" cy="32004"/>
          </a:xfrm>
          <a:prstGeom prst="rect">
            <a:avLst/>
          </a:prstGeom>
          <a:solidFill>
            <a:srgbClr val="006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5C6773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77724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92330"/>
                </a:solidFill>
                <a:latin typeface="Microsoft YaHei"/>
              </a:rPr>
              <a:t>当前项目中信息最完整、最适合技术演示的岗位画像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331720"/>
            <a:ext cx="2880360" cy="5029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41448"/>
            <a:ext cx="2880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92330"/>
                </a:solidFill>
                <a:latin typeface="Microsoft YaHei"/>
              </a:rPr>
              <a:t>核心能力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2880360" cy="2057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>
                <a:solidFill>
                  <a:srgbClr val="5C6773"/>
                </a:solidFill>
                <a:latin typeface="Microsoft YaHei"/>
              </a:rPr>
              <a:t>Python / FastAPI
SQLAlchemy / PostgreSQL
Redis / Docker
异步编程 / Celery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331720"/>
            <a:ext cx="2880360" cy="50292"/>
          </a:xfrm>
          <a:prstGeom prst="rect">
            <a:avLst/>
          </a:prstGeom>
          <a:solidFill>
            <a:srgbClr val="006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41448"/>
            <a:ext cx="2880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92330"/>
                </a:solidFill>
                <a:latin typeface="Microsoft YaHei"/>
              </a:rPr>
              <a:t>面试重点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80360"/>
            <a:ext cx="2880360" cy="2057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>
                <a:solidFill>
                  <a:srgbClr val="5C6773"/>
                </a:solidFill>
                <a:latin typeface="Microsoft YaHei"/>
              </a:rPr>
              <a:t>接口设计
数据库索引与事务
缓存一致性
异步任务与幂等
线上排障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19" y="2331720"/>
            <a:ext cx="2880360" cy="50292"/>
          </a:xfrm>
          <a:prstGeom prst="rect">
            <a:avLst/>
          </a:prstGeom>
          <a:solidFill>
            <a:srgbClr val="D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2441448"/>
            <a:ext cx="2880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92330"/>
                </a:solidFill>
                <a:latin typeface="Microsoft YaHei"/>
              </a:rPr>
              <a:t>评分关注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880360"/>
            <a:ext cx="2880360" cy="2057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>
                <a:solidFill>
                  <a:srgbClr val="5C6773"/>
                </a:solidFill>
                <a:latin typeface="Microsoft YaHei"/>
              </a:rPr>
              <a:t>基础是否扎实
项目证据是否真实
能否解释技术取舍
能否定位问题
是否给出改进路径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504688"/>
            <a:ext cx="10515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6959"/>
                </a:solidFill>
                <a:latin typeface="Microsoft YaHei"/>
              </a:rPr>
              <a:t>展示重点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440680"/>
            <a:ext cx="90068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50" b="0">
                <a:solidFill>
                  <a:srgbClr val="192330"/>
                </a:solidFill>
                <a:latin typeface="Microsoft YaHei"/>
              </a:rPr>
              <a:t>这不是固定题库，而是由岗位画像、简历证据和知识切片共同驱动的追问流程；岗位越清楚，面试越像真实招聘。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5C6773"/>
                </a:solidFill>
                <a:latin typeface="Microsoft YaHei"/>
              </a:rPr>
              <a:t>来源：Harvard College Tech Resume Example, Office of Career Services, Harvard FAS；用户已确认学习场景授权使用。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6959"/>
                </a:solidFill>
                <a:latin typeface="Microsoft YaHei"/>
              </a:rPr>
              <a:t>简历匹配分析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923544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92330"/>
                </a:solidFill>
                <a:latin typeface="Microsoft YaHei"/>
              </a:rPr>
              <a:t>证据归证据，缺口归缺口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835640" cy="32004"/>
          </a:xfrm>
          <a:prstGeom prst="rect">
            <a:avLst/>
          </a:prstGeom>
          <a:solidFill>
            <a:srgbClr val="006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5C6773"/>
                </a:solidFill>
                <a:latin typeface="Microsoft YaHe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4937760" cy="3200400"/>
          </a:xfrm>
          <a:prstGeom prst="roundRect">
            <a:avLst/>
          </a:prstGeom>
          <a:solidFill>
            <a:srgbClr val="EAF2EE"/>
          </a:solidFill>
          <a:ln w="12700">
            <a:solidFill>
              <a:srgbClr val="BE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12848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06959"/>
                </a:solidFill>
                <a:latin typeface="Microsoft YaHei"/>
              </a:rPr>
              <a:t>已有证据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4251960" cy="1783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50">
                <a:solidFill>
                  <a:srgbClr val="192330"/>
                </a:solidFill>
                <a:latin typeface="Microsoft YaHei"/>
              </a:defRPr>
            </a:pPr>
            <a:r>
              <a:t>• CS 专业基础和课程经历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50">
                <a:solidFill>
                  <a:srgbClr val="192330"/>
                </a:solidFill>
                <a:latin typeface="Microsoft YaHei"/>
              </a:defRPr>
            </a:pPr>
            <a:r>
              <a:t>• Python、SQL、JavaScript 等技能线索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50">
                <a:solidFill>
                  <a:srgbClr val="192330"/>
                </a:solidFill>
                <a:latin typeface="Microsoft YaHei"/>
              </a:defRPr>
            </a:pPr>
            <a:r>
              <a:t>• Microsoft 实习、TA、数据库后端项目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50">
                <a:solidFill>
                  <a:srgbClr val="192330"/>
                </a:solidFill>
                <a:latin typeface="Microsoft YaHei"/>
              </a:defRPr>
            </a:pPr>
            <a:r>
              <a:t>• 适合切入接口、数据库、项目复盘类追问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4937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12848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DA891C"/>
                </a:solidFill>
                <a:latin typeface="Microsoft YaHei"/>
              </a:rPr>
              <a:t>需要追问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97480"/>
            <a:ext cx="4251960" cy="1920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50">
                <a:solidFill>
                  <a:srgbClr val="192330"/>
                </a:solidFill>
                <a:latin typeface="Microsoft YaHei"/>
              </a:defRPr>
            </a:pPr>
            <a:r>
              <a:t>• FastAPI 是否有实际工程经验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50">
                <a:solidFill>
                  <a:srgbClr val="192330"/>
                </a:solidFill>
                <a:latin typeface="Microsoft YaHei"/>
              </a:defRPr>
            </a:pPr>
            <a:r>
              <a:t>• Redis 缓存一致性与过期策略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50">
                <a:solidFill>
                  <a:srgbClr val="192330"/>
                </a:solidFill>
                <a:latin typeface="Microsoft YaHei"/>
              </a:defRPr>
            </a:pPr>
            <a:r>
              <a:t>• Docker 部署和环境问题处理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50">
                <a:solidFill>
                  <a:srgbClr val="192330"/>
                </a:solidFill>
                <a:latin typeface="Microsoft YaHei"/>
              </a:defRPr>
            </a:pPr>
            <a:r>
              <a:t>• Celery 异步任务、重试与幂等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50">
                <a:solidFill>
                  <a:srgbClr val="192330"/>
                </a:solidFill>
                <a:latin typeface="Microsoft YaHei"/>
              </a:defRPr>
            </a:pPr>
            <a:r>
              <a:t>• 线上慢查询、接口超时如何定位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987552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192330"/>
                </a:solidFill>
                <a:latin typeface="Microsoft YaHei"/>
              </a:rPr>
              <a:t>现场讲法：不是给简历贴标签，而是把确定的证据和不确定的缺口拆开，让后续面试更有针对性。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46520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5C6773"/>
                </a:solidFill>
                <a:latin typeface="Microsoft YaHei"/>
              </a:rPr>
              <a:t>来源：Harvard College Tech Resume Example, Office of Career Services, Harvard FAS；用户已确认学习场景授权使用。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6959"/>
                </a:solidFill>
                <a:latin typeface="Microsoft YaHei"/>
              </a:rPr>
              <a:t>模拟面试追问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923544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92330"/>
                </a:solidFill>
                <a:latin typeface="Microsoft YaHei"/>
              </a:rPr>
              <a:t>题目不是随机抽取，而是证据驱动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835640" cy="32004"/>
          </a:xfrm>
          <a:prstGeom prst="rect">
            <a:avLst/>
          </a:prstGeom>
          <a:solidFill>
            <a:srgbClr val="006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5C6773"/>
                </a:solidFill>
                <a:latin typeface="Microsoft YaHe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1234440" cy="310896"/>
          </a:xfrm>
          <a:prstGeom prst="round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29384"/>
            <a:ext cx="1088136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来自简历证据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856231"/>
            <a:ext cx="813816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20" b="1">
                <a:solidFill>
                  <a:srgbClr val="192330"/>
                </a:solidFill>
                <a:latin typeface="Microsoft YaHei"/>
              </a:rPr>
              <a:t>你在网站后端数据库项目中负责了哪些表结构或查询？如果接口变慢，你会先看哪些指标？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532887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773"/>
                </a:solidFill>
                <a:latin typeface="Microsoft YaHei"/>
              </a:rPr>
              <a:t>评价看点：是否能结合简历经历说明做法、取舍、风险和改进。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00400"/>
            <a:ext cx="1234440" cy="310896"/>
          </a:xfrm>
          <a:prstGeom prst="roundRect">
            <a:avLst/>
          </a:prstGeom>
          <a:solidFill>
            <a:srgbClr val="006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255264"/>
            <a:ext cx="1088136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来自岗位画像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182112"/>
            <a:ext cx="813816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20" b="0">
                <a:solidFill>
                  <a:srgbClr val="192330"/>
                </a:solidFill>
                <a:latin typeface="Microsoft YaHei"/>
              </a:rPr>
              <a:t>如果一个简历上传任务需要异步解析和重试，你会如何设计 Celery 任务、幂等键和失败补偿？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858768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773"/>
                </a:solidFill>
                <a:latin typeface="Microsoft YaHei"/>
              </a:rPr>
              <a:t>评价看点：是否能结合简历经历说明做法、取舍、风险和改进。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526279"/>
            <a:ext cx="1234440" cy="310896"/>
          </a:xfrm>
          <a:prstGeom prst="roundRect">
            <a:avLst/>
          </a:prstGeom>
          <a:solidFill>
            <a:srgbClr val="D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581143"/>
            <a:ext cx="1088136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来自能力缺口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507992"/>
            <a:ext cx="813816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20" b="0">
                <a:solidFill>
                  <a:srgbClr val="192330"/>
                </a:solidFill>
                <a:latin typeface="Microsoft YaHei"/>
              </a:rPr>
              <a:t>简历里没有写 Redis。假设需要缓存岗位画像，你会怎样设置 key、过期时间和一致性策略？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5184647"/>
            <a:ext cx="7040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773"/>
                </a:solidFill>
                <a:latin typeface="Microsoft YaHei"/>
              </a:rPr>
              <a:t>评价看点：是否能结合简历经历说明做法、取舍、风险和改进。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97880"/>
            <a:ext cx="10515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6959"/>
                </a:solidFill>
                <a:latin typeface="Microsoft YaHei"/>
              </a:rPr>
              <a:t>演讲提醒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833872"/>
            <a:ext cx="8138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92330"/>
                </a:solidFill>
                <a:latin typeface="Microsoft YaHei"/>
              </a:rPr>
              <a:t>这里不要说系统已经知道他会什么，而要说系统把未知项变成可验证追问。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46520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5C6773"/>
                </a:solidFill>
                <a:latin typeface="Microsoft YaHei"/>
              </a:rPr>
              <a:t>来源：Harvard College Tech Resume Example, Office of Career Services, Harvard FAS；用户已确认学习场景授权使用。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6959"/>
                </a:solidFill>
                <a:latin typeface="Microsoft YaHei"/>
              </a:rPr>
              <a:t>报告输出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923544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92330"/>
                </a:solidFill>
                <a:latin typeface="Microsoft YaHei"/>
              </a:rPr>
              <a:t>把一次面试变成可解释的改进路径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835640" cy="32004"/>
          </a:xfrm>
          <a:prstGeom prst="rect">
            <a:avLst/>
          </a:prstGeom>
          <a:solidFill>
            <a:srgbClr val="006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5C6773"/>
                </a:solidFill>
                <a:latin typeface="Microsoft YaHe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4617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130552"/>
            <a:ext cx="960120" cy="310896"/>
          </a:xfrm>
          <a:prstGeom prst="round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185416"/>
            <a:ext cx="813816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匹配证据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167128"/>
            <a:ext cx="28346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92330"/>
                </a:solidFill>
                <a:latin typeface="Microsoft YaHei"/>
              </a:rPr>
              <a:t>列出简历和回答中支持判断的项目、课程、技能线索。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20240"/>
            <a:ext cx="4617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2130552"/>
            <a:ext cx="960120" cy="310896"/>
          </a:xfrm>
          <a:prstGeom prst="roundRect">
            <a:avLst/>
          </a:prstGeom>
          <a:solidFill>
            <a:srgbClr val="D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185416"/>
            <a:ext cx="813816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能力短板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167128"/>
            <a:ext cx="28346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92330"/>
                </a:solidFill>
                <a:latin typeface="Microsoft YaHei"/>
              </a:rPr>
              <a:t>把没有证据或回答薄弱的点沉淀为后续训练重点。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611880"/>
            <a:ext cx="4617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80" y="3822192"/>
            <a:ext cx="960120" cy="310896"/>
          </a:xfrm>
          <a:prstGeom prst="roundRect">
            <a:avLst/>
          </a:prstGeom>
          <a:solidFill>
            <a:srgbClr val="006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877056"/>
            <a:ext cx="813816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改进建议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858768"/>
            <a:ext cx="28346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92330"/>
                </a:solidFill>
                <a:latin typeface="Microsoft YaHei"/>
              </a:rPr>
              <a:t>给出简历补充、项目复盘、知识补强和下一轮面试建议。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611880"/>
            <a:ext cx="4617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3822192"/>
            <a:ext cx="960120" cy="310896"/>
          </a:xfrm>
          <a:prstGeom prst="roundRect">
            <a:avLst/>
          </a:prstGeom>
          <a:solidFill>
            <a:srgbClr val="B23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877056"/>
            <a:ext cx="813816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后台复核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858768"/>
            <a:ext cx="28346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92330"/>
                </a:solidFill>
                <a:latin typeface="Microsoft YaHei"/>
              </a:rPr>
              <a:t>样本可进入后台，由人工评分对照系统输出，逐步优化规则。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623560"/>
            <a:ext cx="9601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92330"/>
                </a:solidFill>
                <a:latin typeface="Microsoft YaHei"/>
              </a:rPr>
              <a:t>评委应看到：报告不是一句“好/不好”，而是把判断依据、能力缺口和下一步训练连接起来。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46520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5C6773"/>
                </a:solidFill>
                <a:latin typeface="Microsoft YaHei"/>
              </a:rPr>
              <a:t>来源：Harvard College Tech Resume Example, Office of Career Services, Harvard FAS；用户已确认学习场景授权使用。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6959"/>
                </a:solidFill>
                <a:latin typeface="Microsoft YaHei"/>
              </a:rPr>
              <a:t>后台管理端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923544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92330"/>
                </a:solidFill>
                <a:latin typeface="Microsoft YaHei"/>
              </a:rPr>
              <a:t>参赛展示主场放在可维护的数据里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835640" cy="32004"/>
          </a:xfrm>
          <a:prstGeom prst="rect">
            <a:avLst/>
          </a:prstGeom>
          <a:solidFill>
            <a:srgbClr val="006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5C6773"/>
                </a:solidFill>
                <a:latin typeface="Microsoft YaHe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05840" cy="310896"/>
          </a:xfrm>
          <a:prstGeom prst="roundRect">
            <a:avLst/>
          </a:prstGeom>
          <a:solidFill>
            <a:srgbClr val="006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83664"/>
            <a:ext cx="859536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岗位画像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847088"/>
            <a:ext cx="7772400" cy="301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20" b="0">
                <a:solidFill>
                  <a:srgbClr val="192330"/>
                </a:solidFill>
                <a:latin typeface="Microsoft YaHei"/>
              </a:rPr>
              <a:t>查看岗位数量、画像内容、知识切片；支持编辑和重建切片。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1005840" cy="310896"/>
          </a:xfrm>
          <a:prstGeom prst="round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843784"/>
            <a:ext cx="859536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面试记录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807208"/>
            <a:ext cx="7772400" cy="301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20" b="0">
                <a:solidFill>
                  <a:srgbClr val="192330"/>
                </a:solidFill>
                <a:latin typeface="Microsoft YaHei"/>
              </a:rPr>
              <a:t>按用户、岗位、时间查看训练记录，定位真实使用过程。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749039"/>
            <a:ext cx="1005840" cy="310896"/>
          </a:xfrm>
          <a:prstGeom prst="roundRect">
            <a:avLst/>
          </a:prstGeom>
          <a:solidFill>
            <a:srgbClr val="D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803903"/>
            <a:ext cx="859536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测评样本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767327"/>
            <a:ext cx="7772400" cy="301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20" b="0">
                <a:solidFill>
                  <a:srgbClr val="192330"/>
                </a:solidFill>
                <a:latin typeface="Microsoft YaHei"/>
              </a:rPr>
              <a:t>把面试与报告沉淀为样本，后续做人工评分对比。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709160"/>
            <a:ext cx="1005840" cy="310896"/>
          </a:xfrm>
          <a:prstGeom prst="roundRect">
            <a:avLst/>
          </a:prstGeom>
          <a:solidFill>
            <a:srgbClr val="B23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764024"/>
            <a:ext cx="859536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人工复核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727448"/>
            <a:ext cx="7772400" cy="301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20" b="0">
                <a:solidFill>
                  <a:srgbClr val="192330"/>
                </a:solidFill>
                <a:latin typeface="Microsoft YaHei"/>
              </a:rPr>
              <a:t>老师或团队成员可复核样本，发现评分偏差再调整规则。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46304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6959"/>
                </a:solidFill>
                <a:latin typeface="Microsoft YaHei"/>
              </a:rPr>
              <a:t>为什么这样设计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431536"/>
            <a:ext cx="7315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92330"/>
                </a:solidFill>
                <a:latin typeface="Microsoft YaHei"/>
              </a:rPr>
              <a:t>用户端负责完成训练，后台端负责证明系统可维护、可复核、可持续扩展。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46520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5C6773"/>
                </a:solidFill>
                <a:latin typeface="Microsoft YaHei"/>
              </a:rPr>
              <a:t>来源：Harvard College Tech Resume Example, Office of Career Services, Harvard FAS；用户已确认学习场景授权使用。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6959"/>
                </a:solidFill>
                <a:latin typeface="Microsoft YaHei"/>
              </a:rPr>
              <a:t>现场演示路线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923544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92330"/>
                </a:solidFill>
                <a:latin typeface="Microsoft YaHei"/>
              </a:rPr>
              <a:t>6 分钟内让评委看清三个成功标准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835640" cy="32004"/>
          </a:xfrm>
          <a:prstGeom prst="rect">
            <a:avLst/>
          </a:prstGeom>
          <a:solidFill>
            <a:srgbClr val="006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5C6773"/>
                </a:solidFill>
                <a:latin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6959"/>
                </a:solidFill>
                <a:latin typeface="Microsoft YaHei"/>
              </a:rPr>
              <a:t>0:00-1:00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764792"/>
            <a:ext cx="1874519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92330"/>
                </a:solidFill>
                <a:latin typeface="Microsoft YaHei"/>
              </a:rPr>
              <a:t>真实公开简历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764792"/>
            <a:ext cx="5303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C6773"/>
                </a:solidFill>
                <a:latin typeface="Microsoft YaHei"/>
              </a:rPr>
              <a:t>说明案例来源和目标岗位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32888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6959"/>
                </a:solidFill>
                <a:latin typeface="Microsoft YaHei"/>
              </a:rPr>
              <a:t>1:00-2:10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514600"/>
            <a:ext cx="1874519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92330"/>
                </a:solidFill>
                <a:latin typeface="Microsoft YaHei"/>
              </a:rPr>
              <a:t>岗位画像库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514600"/>
            <a:ext cx="5303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C6773"/>
                </a:solidFill>
                <a:latin typeface="Microsoft YaHei"/>
              </a:rPr>
              <a:t>展示 Python 后端画像和知识切片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82696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6959"/>
                </a:solidFill>
                <a:latin typeface="Microsoft YaHei"/>
              </a:rPr>
              <a:t>2:10-3:40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264408"/>
            <a:ext cx="1874519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92330"/>
                </a:solidFill>
                <a:latin typeface="Microsoft YaHei"/>
              </a:rPr>
              <a:t>新建面试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264408"/>
            <a:ext cx="5303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C6773"/>
                </a:solidFill>
                <a:latin typeface="Microsoft YaHei"/>
              </a:rPr>
              <a:t>上传/选择简历，选择岗位画像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32504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6959"/>
                </a:solidFill>
                <a:latin typeface="Microsoft YaHei"/>
              </a:rPr>
              <a:t>3:40-5:00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014216"/>
            <a:ext cx="1874519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92330"/>
                </a:solidFill>
                <a:latin typeface="Microsoft YaHei"/>
              </a:rPr>
              <a:t>模拟追问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14216"/>
            <a:ext cx="5303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C6773"/>
                </a:solidFill>
                <a:latin typeface="Microsoft YaHei"/>
              </a:rPr>
              <a:t>展示证据驱动问题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82312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6959"/>
                </a:solidFill>
                <a:latin typeface="Microsoft YaHei"/>
              </a:rPr>
              <a:t>5:00-6:00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764024"/>
            <a:ext cx="1874519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192330"/>
                </a:solidFill>
                <a:latin typeface="Microsoft YaHei"/>
              </a:rPr>
              <a:t>报告与后台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764024"/>
            <a:ext cx="5303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C6773"/>
                </a:solidFill>
                <a:latin typeface="Microsoft YaHei"/>
              </a:rPr>
              <a:t>展示报告、记录、样本复核入口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4243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DA891C"/>
                </a:solidFill>
                <a:latin typeface="Microsoft YaHei"/>
              </a:rPr>
              <a:t>成功标准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5669280"/>
            <a:ext cx="8503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192330"/>
                </a:solidFill>
                <a:latin typeface="Microsoft YaHei"/>
              </a:rPr>
              <a:t>评委能听懂：这是一份真实案例；面试由岗位画像和证据驱动；输出能被后台复核和继续优化。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46520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5C6773"/>
                </a:solidFill>
                <a:latin typeface="Microsoft YaHei"/>
              </a:rPr>
              <a:t>来源：Harvard College Tech Resume Example, Office of Career Services, Harvard FAS；用户已确认学习场景授权使用。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