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0"/>
  </p:notesMasterIdLst>
  <p:sldIdLst>
    <p:sldId id="256" r:id="rId3"/>
    <p:sldId id="266" r:id="rId4"/>
    <p:sldId id="257" r:id="rId5"/>
    <p:sldId id="258" r:id="rId6"/>
    <p:sldId id="259" r:id="rId7"/>
    <p:sldId id="260" r:id="rId8"/>
    <p:sldId id="261" r:id="rId9"/>
    <p:sldId id="262" r:id="rId11"/>
    <p:sldId id="263" r:id="rId12"/>
    <p:sldId id="267" r:id="rId13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44" userDrawn="1">
          <p15:clr>
            <a:srgbClr val="A4A3A4"/>
          </p15:clr>
        </p15:guide>
        <p15:guide id="2" pos="274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144"/>
        <p:guide pos="2741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6" Type="http://schemas.openxmlformats.org/officeDocument/2006/relationships/tableStyles" Target="tableStyles.xml"/><Relationship Id="rId15" Type="http://schemas.openxmlformats.org/officeDocument/2006/relationships/viewProps" Target="viewProps.xml"/><Relationship Id="rId14" Type="http://schemas.openxmlformats.org/officeDocument/2006/relationships/presProps" Target="presProps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943" y="1143000"/>
            <a:ext cx="5486114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6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7.xml"/><Relationship Id="rId6" Type="http://schemas.openxmlformats.org/officeDocument/2006/relationships/tags" Target="../tags/tag12.xml"/><Relationship Id="rId5" Type="http://schemas.openxmlformats.org/officeDocument/2006/relationships/tags" Target="../tags/tag11.xml"/><Relationship Id="rId4" Type="http://schemas.openxmlformats.org/officeDocument/2006/relationships/tags" Target="../tags/tag10.xml"/><Relationship Id="rId3" Type="http://schemas.openxmlformats.org/officeDocument/2006/relationships/tags" Target="../tags/tag9.xml"/><Relationship Id="rId2" Type="http://schemas.openxmlformats.org/officeDocument/2006/relationships/tags" Target="../tags/tag8.xml"/><Relationship Id="rId1" Type="http://schemas.openxmlformats.org/officeDocument/2006/relationships/tags" Target="../tags/tag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tags" Target="../tags/tag21.xml"/><Relationship Id="rId8" Type="http://schemas.openxmlformats.org/officeDocument/2006/relationships/tags" Target="../tags/tag20.xml"/><Relationship Id="rId7" Type="http://schemas.openxmlformats.org/officeDocument/2006/relationships/tags" Target="../tags/tag19.xml"/><Relationship Id="rId6" Type="http://schemas.openxmlformats.org/officeDocument/2006/relationships/tags" Target="../tags/tag18.xml"/><Relationship Id="rId5" Type="http://schemas.openxmlformats.org/officeDocument/2006/relationships/tags" Target="../tags/tag17.xml"/><Relationship Id="rId4" Type="http://schemas.openxmlformats.org/officeDocument/2006/relationships/tags" Target="../tags/tag16.xml"/><Relationship Id="rId3" Type="http://schemas.openxmlformats.org/officeDocument/2006/relationships/tags" Target="../tags/tag15.xml"/><Relationship Id="rId2" Type="http://schemas.openxmlformats.org/officeDocument/2006/relationships/tags" Target="../tags/tag14.xml"/><Relationship Id="rId13" Type="http://schemas.openxmlformats.org/officeDocument/2006/relationships/slideLayout" Target="../slideLayouts/slideLayout7.xml"/><Relationship Id="rId12" Type="http://schemas.openxmlformats.org/officeDocument/2006/relationships/tags" Target="../tags/tag24.xml"/><Relationship Id="rId11" Type="http://schemas.openxmlformats.org/officeDocument/2006/relationships/tags" Target="../tags/tag23.xml"/><Relationship Id="rId10" Type="http://schemas.openxmlformats.org/officeDocument/2006/relationships/tags" Target="../tags/tag22.xml"/><Relationship Id="rId1" Type="http://schemas.openxmlformats.org/officeDocument/2006/relationships/tags" Target="../tags/tag1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4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524000" y="880745"/>
            <a:ext cx="9142730" cy="3153410"/>
          </a:xfrm>
          <a:prstGeom prst="rect">
            <a:avLst/>
          </a:prstGeom>
          <a:noFill/>
        </p:spPr>
        <p:txBody>
          <a:bodyPr wrap="square" lIns="18288" tIns="18288" rIns="18288" bIns="18288">
            <a:noAutofit/>
          </a:bodyPr>
          <a:lstStyle/>
          <a:p>
            <a:pPr algn="l">
              <a:lnSpc>
                <a:spcPct val="105000"/>
              </a:lnSpc>
            </a:pPr>
            <a:r>
              <a:rPr sz="7200" b="1">
                <a:solidFill>
                  <a:srgbClr val="006959"/>
                </a:solidFill>
                <a:effectLst>
                  <a:outerShdw blurRad="60007" dist="200025" dir="15000000" sy="30000" kx="-1800000" algn="bl" rotWithShape="0">
                    <a:prstClr val="black">
                      <a:alpha val="32000"/>
                    </a:prstClr>
                  </a:outerShdw>
                </a:effectLst>
                <a:latin typeface="微软雅黑" panose="020B0503020204020204" charset="-122"/>
              </a:rPr>
              <a:t>职启智评</a:t>
            </a:r>
            <a:endParaRPr sz="7200" b="1">
              <a:solidFill>
                <a:srgbClr val="006959"/>
              </a:solidFill>
              <a:effectLst>
                <a:outerShdw blurRad="60007" dist="200025" dir="15000000" sy="30000" kx="-1800000" algn="bl" rotWithShape="0">
                  <a:prstClr val="black">
                    <a:alpha val="32000"/>
                  </a:prstClr>
                </a:outerShdw>
              </a:effectLst>
              <a:latin typeface="微软雅黑" panose="020B0503020204020204" charset="-122"/>
            </a:endParaRPr>
          </a:p>
          <a:p>
            <a:pPr algn="l">
              <a:lnSpc>
                <a:spcPct val="105000"/>
              </a:lnSpc>
            </a:pPr>
            <a:r>
              <a:rPr lang="en-US" sz="7200" b="1">
                <a:solidFill>
                  <a:srgbClr val="006959"/>
                </a:solidFill>
                <a:effectLst>
                  <a:outerShdw blurRad="60007" dist="200025" dir="15000000" sy="30000" kx="-1800000" algn="bl" rotWithShape="0">
                    <a:prstClr val="black">
                      <a:alpha val="32000"/>
                    </a:prstClr>
                  </a:outerShdw>
                </a:effectLst>
                <a:latin typeface="微软雅黑" panose="020B0503020204020204" charset="-122"/>
              </a:rPr>
              <a:t>           ——AI</a:t>
            </a:r>
            <a:r>
              <a:rPr lang="zh-CN" altLang="en-US" sz="7200" b="1">
                <a:solidFill>
                  <a:srgbClr val="006959"/>
                </a:solidFill>
                <a:effectLst>
                  <a:outerShdw blurRad="60007" dist="200025" dir="15000000" sy="30000" kx="-1800000" algn="bl" rotWithShape="0">
                    <a:prstClr val="black">
                      <a:alpha val="32000"/>
                    </a:prstClr>
                  </a:outerShdw>
                </a:effectLst>
                <a:latin typeface="微软雅黑" panose="020B0503020204020204" charset="-122"/>
              </a:rPr>
              <a:t>面试官</a:t>
            </a:r>
            <a:endParaRPr lang="zh-CN" altLang="en-US" sz="7200" b="1">
              <a:solidFill>
                <a:srgbClr val="006959"/>
              </a:solidFill>
              <a:effectLst>
                <a:outerShdw blurRad="60007" dist="200025" dir="15000000" sy="30000" kx="-1800000" algn="bl" rotWithShape="0">
                  <a:prstClr val="black">
                    <a:alpha val="32000"/>
                  </a:prstClr>
                </a:outerShdw>
              </a:effectLst>
              <a:latin typeface="微软雅黑" panose="020B0503020204020204" charset="-122"/>
            </a:endParaRPr>
          </a:p>
        </p:txBody>
      </p:sp>
      <p:cxnSp>
        <p:nvCxnSpPr>
          <p:cNvPr id="20" name="直接连接符 19"/>
          <p:cNvCxnSpPr/>
          <p:nvPr/>
        </p:nvCxnSpPr>
        <p:spPr>
          <a:xfrm>
            <a:off x="8061960" y="5487035"/>
            <a:ext cx="385000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文本框 20"/>
          <p:cNvSpPr txBox="1"/>
          <p:nvPr/>
        </p:nvSpPr>
        <p:spPr>
          <a:xfrm>
            <a:off x="8413750" y="5740400"/>
            <a:ext cx="406400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b="1"/>
              <a:t>第</a:t>
            </a:r>
            <a:r>
              <a:rPr lang="en-US" altLang="zh-CN" b="1"/>
              <a:t>11</a:t>
            </a:r>
            <a:r>
              <a:rPr lang="zh-CN" altLang="en-US" b="1"/>
              <a:t>组</a:t>
            </a:r>
            <a:r>
              <a:rPr lang="en-US" altLang="zh-CN" b="1"/>
              <a:t>：</a:t>
            </a:r>
            <a:r>
              <a:rPr lang="zh-CN" altLang="en-US" b="1"/>
              <a:t>蘸水小菜队</a:t>
            </a:r>
            <a:endParaRPr lang="zh-CN" altLang="en-US" b="1"/>
          </a:p>
          <a:p>
            <a:r>
              <a:rPr lang="zh-CN" altLang="en-US" b="1"/>
              <a:t>组</a:t>
            </a:r>
            <a:r>
              <a:rPr lang="en-US" altLang="zh-CN" b="1"/>
              <a:t>    </a:t>
            </a:r>
            <a:r>
              <a:rPr lang="zh-CN" altLang="en-US" b="1"/>
              <a:t>员</a:t>
            </a:r>
            <a:r>
              <a:rPr lang="en-US" altLang="zh-CN" b="1"/>
              <a:t>：</a:t>
            </a:r>
            <a:r>
              <a:rPr lang="zh-CN" altLang="en-US" b="1"/>
              <a:t>詹已誉</a:t>
            </a:r>
            <a:r>
              <a:rPr lang="en-US" altLang="zh-CN" b="1"/>
              <a:t>、</a:t>
            </a:r>
            <a:r>
              <a:rPr lang="zh-CN" altLang="en-US" b="1"/>
              <a:t>沈昱彤</a:t>
            </a:r>
            <a:r>
              <a:rPr lang="en-US" altLang="zh-CN" b="1"/>
              <a:t>、</a:t>
            </a:r>
            <a:r>
              <a:rPr lang="zh-CN" altLang="en-US" b="1"/>
              <a:t>蔡雨璇</a:t>
            </a:r>
            <a:endParaRPr lang="zh-CN" altLang="en-US" b="1"/>
          </a:p>
        </p:txBody>
      </p:sp>
      <p:pic>
        <p:nvPicPr>
          <p:cNvPr id="30" name="图片 29" descr="f5a7a2866f874a9dd1aaca312d0e744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716915" y="2180590"/>
            <a:ext cx="5906135" cy="491426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4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647" y="502920"/>
            <a:ext cx="3840480" cy="658368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006959"/>
                </a:solidFill>
                <a:latin typeface="微软雅黑" panose="020B0503020204020204" charset="-122"/>
              </a:rPr>
              <a:t>职启智评</a:t>
            </a:r>
            <a:endParaRPr sz="3200" b="1">
              <a:solidFill>
                <a:srgbClr val="006959"/>
              </a:solidFill>
              <a:latin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13232" y="1161415"/>
            <a:ext cx="8595360" cy="487045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>
                <a:solidFill>
                  <a:srgbClr val="192330"/>
                </a:solidFill>
                <a:latin typeface="微软雅黑" panose="020B0503020204020204" charset="-122"/>
              </a:rPr>
              <a:t>真实简历驱动的岗位化 AI 模拟面试</a:t>
            </a:r>
            <a:endParaRPr sz="2800" b="1">
              <a:solidFill>
                <a:srgbClr val="192330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31520" y="1750695"/>
            <a:ext cx="9052560" cy="680085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>
                <a:solidFill>
                  <a:srgbClr val="5C6773"/>
                </a:solidFill>
                <a:latin typeface="微软雅黑" panose="020B0503020204020204" charset="-122"/>
              </a:rPr>
              <a:t>从一份公开简历出发，系统把岗位画像、简历证据和知识切片组合起来，生成更接近真实招聘场景的追问与报告。</a:t>
            </a:r>
            <a:endParaRPr sz="2000" b="0">
              <a:solidFill>
                <a:srgbClr val="5C6773"/>
              </a:solidFill>
              <a:latin typeface="微软雅黑" panose="020B0503020204020204" charset="-122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2218690" y="2872740"/>
            <a:ext cx="2748280" cy="1434465"/>
          </a:xfrm>
          <a:prstGeom prst="roundRect">
            <a:avLst/>
          </a:prstGeom>
          <a:solidFill>
            <a:srgbClr val="256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6" name="TextBox 5"/>
          <p:cNvSpPr txBox="1"/>
          <p:nvPr/>
        </p:nvSpPr>
        <p:spPr>
          <a:xfrm>
            <a:off x="2218690" y="3328035"/>
            <a:ext cx="2376170" cy="673100"/>
          </a:xfrm>
          <a:prstGeom prst="rect">
            <a:avLst/>
          </a:prstGeom>
          <a:noFill/>
        </p:spPr>
        <p:txBody>
          <a:bodyPr wrap="square" lIns="18288" tIns="18288" rIns="18288" bIns="18288">
            <a:noAutofit/>
          </a:bodyPr>
          <a:lstStyle/>
          <a:p>
            <a:pPr algn="ctr">
              <a:lnSpc>
                <a:spcPct val="105000"/>
              </a:lnSpc>
            </a:pPr>
            <a:r>
              <a:rPr lang="en-US" sz="3200" b="1">
                <a:solidFill>
                  <a:srgbClr val="FFFFFF"/>
                </a:solidFill>
                <a:latin typeface="微软雅黑" panose="020B0503020204020204" charset="-122"/>
              </a:rPr>
              <a:t>  </a:t>
            </a:r>
            <a:r>
              <a:rPr sz="3200" b="1">
                <a:solidFill>
                  <a:srgbClr val="FFFFFF"/>
                </a:solidFill>
                <a:latin typeface="微软雅黑" panose="020B0503020204020204" charset="-122"/>
              </a:rPr>
              <a:t>简历证据</a:t>
            </a:r>
            <a:endParaRPr sz="3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283200" y="3513455"/>
            <a:ext cx="814070" cy="1054100"/>
          </a:xfrm>
          <a:prstGeom prst="rect">
            <a:avLst/>
          </a:prstGeom>
          <a:noFill/>
        </p:spPr>
        <p:txBody>
          <a:bodyPr wrap="square" lIns="18288" tIns="18288" rIns="18288" bIns="18288">
            <a:no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5C6773"/>
                </a:solidFill>
                <a:latin typeface="微软雅黑" panose="020B0503020204020204" charset="-122"/>
              </a:rPr>
              <a:t>→</a:t>
            </a:r>
            <a:endParaRPr sz="3200" b="1">
              <a:solidFill>
                <a:srgbClr val="5C6773"/>
              </a:solidFill>
              <a:latin typeface="微软雅黑" panose="020B0503020204020204" charset="-122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135370" y="2872740"/>
            <a:ext cx="2748280" cy="1434465"/>
          </a:xfrm>
          <a:prstGeom prst="roundRect">
            <a:avLst/>
          </a:prstGeom>
          <a:solidFill>
            <a:srgbClr val="006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9" name="TextBox 8"/>
          <p:cNvSpPr txBox="1"/>
          <p:nvPr/>
        </p:nvSpPr>
        <p:spPr>
          <a:xfrm>
            <a:off x="6321425" y="3328035"/>
            <a:ext cx="2376170" cy="673100"/>
          </a:xfrm>
          <a:prstGeom prst="rect">
            <a:avLst/>
          </a:prstGeom>
          <a:noFill/>
        </p:spPr>
        <p:txBody>
          <a:bodyPr wrap="square" lIns="18288" tIns="18288" rIns="18288" bIns="18288">
            <a:noAutofit/>
          </a:bodyPr>
          <a:lstStyle/>
          <a:p>
            <a:pPr algn="ctr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微软雅黑" panose="020B0503020204020204" charset="-122"/>
              </a:rPr>
              <a:t>岗位画像</a:t>
            </a:r>
            <a:endParaRPr sz="3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2218690" y="5151755"/>
            <a:ext cx="2748280" cy="1433195"/>
          </a:xfrm>
          <a:prstGeom prst="roundRect">
            <a:avLst/>
          </a:prstGeom>
          <a:solidFill>
            <a:srgbClr val="DA8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12" name="TextBox 11"/>
          <p:cNvSpPr txBox="1"/>
          <p:nvPr/>
        </p:nvSpPr>
        <p:spPr>
          <a:xfrm>
            <a:off x="2406650" y="5532120"/>
            <a:ext cx="2374900" cy="672465"/>
          </a:xfrm>
          <a:prstGeom prst="rect">
            <a:avLst/>
          </a:prstGeom>
          <a:noFill/>
        </p:spPr>
        <p:txBody>
          <a:bodyPr wrap="square" lIns="18288" tIns="18288" rIns="18288" bIns="18288">
            <a:noAutofit/>
          </a:bodyPr>
          <a:lstStyle/>
          <a:p>
            <a:pPr algn="ctr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微软雅黑" panose="020B0503020204020204" charset="-122"/>
              </a:rPr>
              <a:t>证据追问</a:t>
            </a:r>
            <a:endParaRPr sz="3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321935" y="5537835"/>
            <a:ext cx="813435" cy="1053465"/>
          </a:xfrm>
          <a:prstGeom prst="rect">
            <a:avLst/>
          </a:prstGeom>
          <a:noFill/>
        </p:spPr>
        <p:txBody>
          <a:bodyPr wrap="square" lIns="18288" tIns="18288" rIns="18288" bIns="18288">
            <a:no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5C6773"/>
                </a:solidFill>
                <a:latin typeface="微软雅黑" panose="020B0503020204020204" charset="-122"/>
              </a:rPr>
              <a:t>→</a:t>
            </a:r>
            <a:endParaRPr sz="3200" b="1">
              <a:solidFill>
                <a:srgbClr val="5C6773"/>
              </a:solidFill>
              <a:latin typeface="微软雅黑" panose="020B0503020204020204" charset="-122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6135370" y="5078730"/>
            <a:ext cx="2748280" cy="1433195"/>
          </a:xfrm>
          <a:prstGeom prst="roundRect">
            <a:avLst/>
          </a:prstGeom>
          <a:solidFill>
            <a:srgbClr val="B23D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15" name="TextBox 14"/>
          <p:cNvSpPr txBox="1"/>
          <p:nvPr/>
        </p:nvSpPr>
        <p:spPr>
          <a:xfrm>
            <a:off x="6321425" y="5531485"/>
            <a:ext cx="2374900" cy="672465"/>
          </a:xfrm>
          <a:prstGeom prst="rect">
            <a:avLst/>
          </a:prstGeom>
          <a:noFill/>
        </p:spPr>
        <p:txBody>
          <a:bodyPr wrap="square" lIns="18288" tIns="18288" rIns="18288" bIns="18288">
            <a:noAutofit/>
          </a:bodyPr>
          <a:lstStyle/>
          <a:p>
            <a:pPr algn="ctr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微软雅黑" panose="020B0503020204020204" charset="-122"/>
              </a:rPr>
              <a:t>报告复核</a:t>
            </a:r>
            <a:endParaRPr sz="3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1183112" y="502920"/>
            <a:ext cx="320040" cy="27432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>
                <a:solidFill>
                  <a:srgbClr val="5C6773"/>
                </a:solidFill>
                <a:latin typeface="微软雅黑" panose="020B0503020204020204" charset="-122"/>
              </a:rPr>
              <a:t>01</a:t>
            </a:r>
            <a:endParaRPr sz="1100" b="1">
              <a:solidFill>
                <a:srgbClr val="5C6773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4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3474720" cy="292608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006959"/>
                </a:solidFill>
                <a:latin typeface="微软雅黑" panose="020B0503020204020204" charset="-122"/>
              </a:rPr>
              <a:t>真实案例</a:t>
            </a:r>
            <a:endParaRPr sz="1300" b="1">
              <a:solidFill>
                <a:srgbClr val="006959"/>
              </a:solidFill>
              <a:latin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85800" y="713232"/>
            <a:ext cx="9235440" cy="658368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192330"/>
                </a:solidFill>
                <a:latin typeface="微软雅黑" panose="020B0503020204020204" charset="-122"/>
              </a:rPr>
              <a:t>从一份真实公开简历开始</a:t>
            </a:r>
            <a:endParaRPr sz="3000" b="1">
              <a:solidFill>
                <a:srgbClr val="192330"/>
              </a:solidFill>
              <a:latin typeface="微软雅黑" panose="020B0503020204020204" charset="-122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835640" cy="32004"/>
          </a:xfrm>
          <a:prstGeom prst="rect">
            <a:avLst/>
          </a:prstGeom>
          <a:solidFill>
            <a:srgbClr val="006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01400" y="384048"/>
            <a:ext cx="320040" cy="27432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>
                <a:solidFill>
                  <a:srgbClr val="5C6773"/>
                </a:solidFill>
                <a:latin typeface="微软雅黑" panose="020B0503020204020204" charset="-122"/>
              </a:rPr>
              <a:t>02</a:t>
            </a:r>
            <a:endParaRPr sz="1100" b="1">
              <a:solidFill>
                <a:srgbClr val="5C6773"/>
              </a:solidFill>
              <a:latin typeface="微软雅黑" panose="020B0503020204020204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52450" y="1847215"/>
            <a:ext cx="3215005" cy="428434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B2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0704" y="2121408"/>
            <a:ext cx="2011680" cy="27432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>
                <a:solidFill>
                  <a:srgbClr val="006959"/>
                </a:solidFill>
                <a:latin typeface="微软雅黑" panose="020B0503020204020204" charset="-122"/>
              </a:rPr>
              <a:t>公开样例简历</a:t>
            </a:r>
            <a:endParaRPr sz="1900" b="1">
              <a:solidFill>
                <a:srgbClr val="006959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051560" y="2624328"/>
            <a:ext cx="2194560" cy="1024128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2500" b="1">
                <a:solidFill>
                  <a:srgbClr val="192330"/>
                </a:solidFill>
                <a:latin typeface="微软雅黑" panose="020B0503020204020204" charset="-122"/>
              </a:rPr>
              <a:t>Ruby Swift
Harvard CS
Tech Resume</a:t>
            </a:r>
            <a:endParaRPr sz="2500" b="1">
              <a:solidFill>
                <a:srgbClr val="192330"/>
              </a:solidFill>
              <a:latin typeface="微软雅黑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69848" y="4251960"/>
            <a:ext cx="2487168" cy="566928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>
                <a:solidFill>
                  <a:srgbClr val="DA891C"/>
                </a:solidFill>
                <a:latin typeface="微软雅黑" panose="020B0503020204020204" charset="-122"/>
              </a:rPr>
              <a:t>演示目标岗位：
Python后端开发工程师</a:t>
            </a:r>
            <a:endParaRPr sz="1450" b="1">
              <a:solidFill>
                <a:srgbClr val="DA891C"/>
              </a:solidFill>
              <a:latin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69848" y="5074920"/>
            <a:ext cx="2148840" cy="41148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5C6773"/>
                </a:solidFill>
                <a:latin typeface="微软雅黑" panose="020B0503020204020204" charset="-122"/>
              </a:rPr>
              <a:t>用途：看系统如何把简历证据转成岗位化追问，而不是简单复述简历。</a:t>
            </a:r>
            <a:endParaRPr sz="1150" b="0">
              <a:solidFill>
                <a:srgbClr val="5C6773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343400" y="1874519"/>
            <a:ext cx="2880360" cy="50292"/>
          </a:xfrm>
          <a:prstGeom prst="rect">
            <a:avLst/>
          </a:prstGeom>
          <a:solidFill>
            <a:srgbClr val="256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59275" y="2075688"/>
            <a:ext cx="2880360" cy="357505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>
                <a:solidFill>
                  <a:srgbClr val="192330"/>
                </a:solidFill>
                <a:latin typeface="微软雅黑" panose="020B0503020204020204" charset="-122"/>
              </a:rPr>
              <a:t>可直接使用的简历证据</a:t>
            </a:r>
            <a:endParaRPr sz="2000" b="1">
              <a:solidFill>
                <a:srgbClr val="192330"/>
              </a:solidFill>
              <a:latin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343400" y="2624455"/>
            <a:ext cx="3108960" cy="3670300"/>
          </a:xfrm>
          <a:prstGeom prst="rect">
            <a:avLst/>
          </a:prstGeom>
          <a:noFill/>
        </p:spPr>
        <p:txBody>
          <a:bodyPr wrap="square" lIns="18288" rIns="18288">
            <a:no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  <a:defRPr sz="1420">
                <a:solidFill>
                  <a:srgbClr val="192330"/>
                </a:solidFill>
                <a:latin typeface="微软雅黑" panose="020B0503020204020204" charset="-122"/>
              </a:defRPr>
            </a:pPr>
            <a:r>
              <a:rPr sz="1800"/>
              <a:t>• 计算机背景，课程覆盖系统编程、数据结构、算法、AI、概率。</a:t>
            </a:r>
            <a:endParaRPr sz="1800"/>
          </a:p>
          <a:p>
            <a:pPr>
              <a:lnSpc>
                <a:spcPct val="108000"/>
              </a:lnSpc>
              <a:spcAft>
                <a:spcPts val="500"/>
              </a:spcAft>
              <a:defRPr sz="1420">
                <a:solidFill>
                  <a:srgbClr val="192330"/>
                </a:solidFill>
                <a:latin typeface="微软雅黑" panose="020B0503020204020204" charset="-122"/>
              </a:defRPr>
            </a:pPr>
            <a:r>
              <a:rPr sz="1800"/>
              <a:t>• 技能线索包含 Python、SQL、JavaScript、C/C++/C# 等。</a:t>
            </a:r>
            <a:endParaRPr sz="1800"/>
          </a:p>
          <a:p>
            <a:pPr>
              <a:lnSpc>
                <a:spcPct val="108000"/>
              </a:lnSpc>
              <a:spcAft>
                <a:spcPts val="500"/>
              </a:spcAft>
              <a:defRPr sz="1420">
                <a:solidFill>
                  <a:srgbClr val="192330"/>
                </a:solidFill>
                <a:latin typeface="微软雅黑" panose="020B0503020204020204" charset="-122"/>
              </a:defRPr>
            </a:pPr>
            <a:r>
              <a:rPr sz="1800"/>
              <a:t>• 有软件工程实习、助教、网站后端数据库项目经历。</a:t>
            </a:r>
            <a:endParaRPr sz="1800"/>
          </a:p>
        </p:txBody>
      </p:sp>
      <p:sp>
        <p:nvSpPr>
          <p:cNvPr id="14" name="Rectangle 13"/>
          <p:cNvSpPr/>
          <p:nvPr/>
        </p:nvSpPr>
        <p:spPr>
          <a:xfrm>
            <a:off x="7772400" y="1874519"/>
            <a:ext cx="3063240" cy="50292"/>
          </a:xfrm>
          <a:prstGeom prst="rect">
            <a:avLst/>
          </a:prstGeom>
          <a:solidFill>
            <a:srgbClr val="DA8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0" y="2080768"/>
            <a:ext cx="3063240" cy="357505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>
                <a:solidFill>
                  <a:srgbClr val="192330"/>
                </a:solidFill>
                <a:latin typeface="微软雅黑" panose="020B0503020204020204" charset="-122"/>
              </a:rPr>
              <a:t>不能直接下结论的部分</a:t>
            </a:r>
            <a:endParaRPr sz="2000" b="1">
              <a:solidFill>
                <a:srgbClr val="192330"/>
              </a:solidFill>
              <a:latin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7772400" y="2624455"/>
            <a:ext cx="3246120" cy="2012315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  <a:defRPr sz="1420">
                <a:solidFill>
                  <a:srgbClr val="192330"/>
                </a:solidFill>
                <a:latin typeface="微软雅黑" panose="020B0503020204020204" charset="-122"/>
              </a:defRPr>
            </a:pPr>
            <a:r>
              <a:rPr sz="1800"/>
              <a:t>• 简历未直接写 FastAPI、Redis、Celery、Docker。</a:t>
            </a:r>
            <a:endParaRPr sz="1800"/>
          </a:p>
          <a:p>
            <a:pPr>
              <a:lnSpc>
                <a:spcPct val="108000"/>
              </a:lnSpc>
              <a:spcAft>
                <a:spcPts val="500"/>
              </a:spcAft>
              <a:defRPr sz="1420">
                <a:solidFill>
                  <a:srgbClr val="192330"/>
                </a:solidFill>
                <a:latin typeface="微软雅黑" panose="020B0503020204020204" charset="-122"/>
              </a:defRPr>
            </a:pPr>
            <a:r>
              <a:rPr sz="1800"/>
              <a:t>• 系统不能替演示对象判定为已掌握。</a:t>
            </a:r>
            <a:endParaRPr sz="1800"/>
          </a:p>
          <a:p>
            <a:pPr>
              <a:lnSpc>
                <a:spcPct val="108000"/>
              </a:lnSpc>
              <a:spcAft>
                <a:spcPts val="500"/>
              </a:spcAft>
              <a:defRPr sz="1420">
                <a:solidFill>
                  <a:srgbClr val="192330"/>
                </a:solidFill>
                <a:latin typeface="微软雅黑" panose="020B0503020204020204" charset="-122"/>
              </a:defRPr>
            </a:pPr>
            <a:r>
              <a:rPr sz="1800"/>
              <a:t>• 这些内容应转成追问，验证是否真的具备岗位能力。</a:t>
            </a:r>
            <a:endParaRPr sz="18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4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3474720" cy="292608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006959"/>
                </a:solidFill>
                <a:latin typeface="微软雅黑" panose="020B0503020204020204" charset="-122"/>
              </a:rPr>
              <a:t>系统闭环</a:t>
            </a:r>
            <a:endParaRPr sz="1300" b="1">
              <a:solidFill>
                <a:srgbClr val="006959"/>
              </a:solidFill>
              <a:latin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85800" y="713232"/>
            <a:ext cx="9235440" cy="658368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192330"/>
                </a:solidFill>
                <a:latin typeface="微软雅黑" panose="020B0503020204020204" charset="-122"/>
              </a:rPr>
              <a:t>系统把简历变成一场岗位化面试</a:t>
            </a:r>
            <a:endParaRPr sz="3000" b="1">
              <a:solidFill>
                <a:srgbClr val="192330"/>
              </a:solidFill>
              <a:latin typeface="微软雅黑" panose="020B0503020204020204" charset="-122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835640" cy="32004"/>
          </a:xfrm>
          <a:prstGeom prst="rect">
            <a:avLst/>
          </a:prstGeom>
          <a:solidFill>
            <a:srgbClr val="006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01400" y="384048"/>
            <a:ext cx="320040" cy="27432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>
                <a:solidFill>
                  <a:srgbClr val="5C6773"/>
                </a:solidFill>
                <a:latin typeface="微软雅黑" panose="020B0503020204020204" charset="-122"/>
              </a:rPr>
              <a:t>03</a:t>
            </a:r>
            <a:endParaRPr sz="1100" b="1">
              <a:solidFill>
                <a:srgbClr val="5C6773"/>
              </a:solidFill>
              <a:latin typeface="微软雅黑" panose="020B0503020204020204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1284605" y="1833880"/>
            <a:ext cx="2421890" cy="193357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B2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18590" y="2085340"/>
            <a:ext cx="574675" cy="424180"/>
          </a:xfrm>
          <a:prstGeom prst="roundRect">
            <a:avLst/>
          </a:prstGeom>
          <a:solidFill>
            <a:srgbClr val="256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90980" y="2164715"/>
            <a:ext cx="333375" cy="200025"/>
          </a:xfrm>
          <a:prstGeom prst="rect">
            <a:avLst/>
          </a:prstGeom>
          <a:noFill/>
        </p:spPr>
        <p:txBody>
          <a:bodyPr wrap="square" lIns="18288" tIns="18288" rIns="18288" bIns="18288">
            <a:noAutofit/>
          </a:bodyPr>
          <a:lstStyle/>
          <a:p>
            <a:pPr algn="ctr">
              <a:lnSpc>
                <a:spcPct val="105000"/>
              </a:lnSpc>
            </a:pPr>
            <a:r>
              <a:rPr sz="950" b="1">
                <a:solidFill>
                  <a:srgbClr val="FFFFFF"/>
                </a:solidFill>
                <a:latin typeface="微软雅黑" panose="020B0503020204020204" charset="-122"/>
              </a:rPr>
              <a:t>1</a:t>
            </a:r>
            <a:endParaRPr sz="9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448435" y="2521585"/>
            <a:ext cx="2193290" cy="274955"/>
          </a:xfrm>
          <a:prstGeom prst="rect">
            <a:avLst/>
          </a:prstGeom>
          <a:noFill/>
        </p:spPr>
        <p:txBody>
          <a:bodyPr wrap="square" lIns="18288" tIns="18288" rIns="18288" bIns="18288">
            <a:noAutofit/>
          </a:bodyPr>
          <a:lstStyle/>
          <a:p>
            <a:pPr algn="ctr">
              <a:lnSpc>
                <a:spcPct val="105000"/>
              </a:lnSpc>
            </a:pPr>
            <a:r>
              <a:rPr b="1">
                <a:solidFill>
                  <a:srgbClr val="192330"/>
                </a:solidFill>
                <a:latin typeface="微软雅黑" panose="020B0503020204020204" charset="-122"/>
              </a:rPr>
              <a:t>上传简历</a:t>
            </a:r>
            <a:endParaRPr b="1">
              <a:solidFill>
                <a:srgbClr val="192330"/>
              </a:solidFill>
              <a:latin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438275" y="2801620"/>
            <a:ext cx="2268220" cy="473710"/>
          </a:xfrm>
          <a:prstGeom prst="rect">
            <a:avLst/>
          </a:prstGeom>
          <a:noFill/>
        </p:spPr>
        <p:txBody>
          <a:bodyPr wrap="square" lIns="18288" tIns="18288" rIns="18288" bIns="18288">
            <a:noAutofit/>
          </a:bodyPr>
          <a:lstStyle/>
          <a:p>
            <a:pPr algn="ctr">
              <a:lnSpc>
                <a:spcPct val="105000"/>
              </a:lnSpc>
            </a:pPr>
            <a:r>
              <a:rPr sz="940" b="0">
                <a:solidFill>
                  <a:srgbClr val="5C6773"/>
                </a:solidFill>
                <a:latin typeface="微软雅黑" panose="020B0503020204020204" charset="-122"/>
              </a:rPr>
              <a:t>抽取经历、技能、项目证据</a:t>
            </a:r>
            <a:endParaRPr sz="940" b="0">
              <a:solidFill>
                <a:srgbClr val="5C6773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033520" y="2756535"/>
            <a:ext cx="671830" cy="603250"/>
          </a:xfrm>
          <a:prstGeom prst="rect">
            <a:avLst/>
          </a:prstGeom>
          <a:noFill/>
        </p:spPr>
        <p:txBody>
          <a:bodyPr wrap="square" lIns="18288" tIns="18288" rIns="18288" bIns="18288">
            <a:noAutofit/>
          </a:bodyPr>
          <a:lstStyle/>
          <a:p>
            <a:pPr algn="l">
              <a:lnSpc>
                <a:spcPct val="105000"/>
              </a:lnSpc>
            </a:pPr>
            <a:r>
              <a:rPr sz="2000" b="1">
                <a:solidFill>
                  <a:srgbClr val="5C6773"/>
                </a:solidFill>
                <a:latin typeface="微软雅黑" panose="020B0503020204020204" charset="-122"/>
              </a:rPr>
              <a:t>→</a:t>
            </a:r>
            <a:endParaRPr sz="2000" b="1">
              <a:solidFill>
                <a:srgbClr val="5C6773"/>
              </a:solidFill>
              <a:latin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4592320" y="1833880"/>
            <a:ext cx="2341880" cy="193357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B2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756150" y="2044700"/>
            <a:ext cx="478155" cy="410845"/>
          </a:xfrm>
          <a:prstGeom prst="roundRect">
            <a:avLst/>
          </a:prstGeom>
          <a:solidFill>
            <a:srgbClr val="006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82185" y="2105660"/>
            <a:ext cx="276860" cy="192405"/>
          </a:xfrm>
          <a:prstGeom prst="rect">
            <a:avLst/>
          </a:prstGeom>
          <a:noFill/>
        </p:spPr>
        <p:txBody>
          <a:bodyPr wrap="square" lIns="18288" tIns="18288" rIns="18288" bIns="18288">
            <a:noAutofit/>
          </a:bodyPr>
          <a:lstStyle/>
          <a:p>
            <a:pPr algn="ctr">
              <a:lnSpc>
                <a:spcPct val="105000"/>
              </a:lnSpc>
            </a:pPr>
            <a:r>
              <a:rPr sz="950" b="1">
                <a:solidFill>
                  <a:srgbClr val="FFFFFF"/>
                </a:solidFill>
                <a:latin typeface="微软雅黑" panose="020B0503020204020204" charset="-122"/>
              </a:rPr>
              <a:t>2</a:t>
            </a:r>
            <a:endParaRPr sz="9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992370" y="2536190"/>
            <a:ext cx="1825625" cy="265430"/>
          </a:xfrm>
          <a:prstGeom prst="rect">
            <a:avLst/>
          </a:prstGeom>
          <a:noFill/>
        </p:spPr>
        <p:txBody>
          <a:bodyPr wrap="square" lIns="18288" tIns="18288" rIns="18288" bIns="18288">
            <a:noAutofit/>
          </a:bodyPr>
          <a:lstStyle/>
          <a:p>
            <a:pPr algn="ctr">
              <a:lnSpc>
                <a:spcPct val="105000"/>
              </a:lnSpc>
            </a:pPr>
            <a:r>
              <a:rPr b="1">
                <a:solidFill>
                  <a:srgbClr val="192330"/>
                </a:solidFill>
                <a:latin typeface="微软雅黑" panose="020B0503020204020204" charset="-122"/>
              </a:rPr>
              <a:t>选择岗位画像</a:t>
            </a:r>
            <a:endParaRPr b="1">
              <a:solidFill>
                <a:srgbClr val="192330"/>
              </a:solidFill>
              <a:latin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957445" y="2799715"/>
            <a:ext cx="1888490" cy="458470"/>
          </a:xfrm>
          <a:prstGeom prst="rect">
            <a:avLst/>
          </a:prstGeom>
          <a:noFill/>
        </p:spPr>
        <p:txBody>
          <a:bodyPr wrap="square" lIns="18288" tIns="18288" rIns="18288" bIns="18288">
            <a:noAutofit/>
          </a:bodyPr>
          <a:lstStyle/>
          <a:p>
            <a:pPr algn="ctr">
              <a:lnSpc>
                <a:spcPct val="105000"/>
              </a:lnSpc>
            </a:pPr>
            <a:r>
              <a:rPr sz="940" b="0">
                <a:solidFill>
                  <a:srgbClr val="5C6773"/>
                </a:solidFill>
                <a:latin typeface="微软雅黑" panose="020B0503020204020204" charset="-122"/>
              </a:rPr>
              <a:t>锁定岗位能力与知识切片</a:t>
            </a:r>
            <a:endParaRPr sz="940" b="0">
              <a:solidFill>
                <a:srgbClr val="5C6773"/>
              </a:solidFill>
              <a:latin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7104379" y="2756535"/>
            <a:ext cx="274320" cy="22860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>
                <a:solidFill>
                  <a:srgbClr val="5C6773"/>
                </a:solidFill>
                <a:latin typeface="微软雅黑" panose="020B0503020204020204" charset="-122"/>
              </a:rPr>
              <a:t>→</a:t>
            </a:r>
            <a:endParaRPr sz="2000" b="1">
              <a:solidFill>
                <a:srgbClr val="5C6773"/>
              </a:solidFill>
              <a:latin typeface="微软雅黑" panose="020B0503020204020204" charset="-122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7637145" y="1845310"/>
            <a:ext cx="2421890" cy="194627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B2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774305" y="2035175"/>
            <a:ext cx="494665" cy="413385"/>
          </a:xfrm>
          <a:prstGeom prst="roundRect">
            <a:avLst/>
          </a:prstGeom>
          <a:solidFill>
            <a:srgbClr val="DA8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47965" y="2089785"/>
            <a:ext cx="286385" cy="193675"/>
          </a:xfrm>
          <a:prstGeom prst="rect">
            <a:avLst/>
          </a:prstGeom>
          <a:noFill/>
        </p:spPr>
        <p:txBody>
          <a:bodyPr wrap="square" lIns="18288" tIns="18288" rIns="18288" bIns="18288">
            <a:noAutofit/>
          </a:bodyPr>
          <a:lstStyle/>
          <a:p>
            <a:pPr algn="ctr">
              <a:lnSpc>
                <a:spcPct val="105000"/>
              </a:lnSpc>
            </a:pPr>
            <a:r>
              <a:rPr sz="950" b="1">
                <a:solidFill>
                  <a:srgbClr val="FFFFFF"/>
                </a:solidFill>
                <a:latin typeface="微软雅黑" panose="020B0503020204020204" charset="-122"/>
              </a:rPr>
              <a:t>3</a:t>
            </a:r>
            <a:endParaRPr sz="9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7939405" y="2546350"/>
            <a:ext cx="1888490" cy="267335"/>
          </a:xfrm>
          <a:prstGeom prst="rect">
            <a:avLst/>
          </a:prstGeom>
          <a:noFill/>
        </p:spPr>
        <p:txBody>
          <a:bodyPr wrap="square" lIns="18288" tIns="18288" rIns="18288" bIns="18288">
            <a:noAutofit/>
          </a:bodyPr>
          <a:lstStyle/>
          <a:p>
            <a:pPr algn="ctr">
              <a:lnSpc>
                <a:spcPct val="105000"/>
              </a:lnSpc>
            </a:pPr>
            <a:r>
              <a:rPr b="1">
                <a:solidFill>
                  <a:srgbClr val="192330"/>
                </a:solidFill>
                <a:latin typeface="微软雅黑" panose="020B0503020204020204" charset="-122"/>
              </a:rPr>
              <a:t>匹配分析</a:t>
            </a:r>
            <a:endParaRPr b="1">
              <a:solidFill>
                <a:srgbClr val="192330"/>
              </a:solidFill>
              <a:latin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7967345" y="2813685"/>
            <a:ext cx="1953895" cy="461645"/>
          </a:xfrm>
          <a:prstGeom prst="rect">
            <a:avLst/>
          </a:prstGeom>
          <a:noFill/>
        </p:spPr>
        <p:txBody>
          <a:bodyPr wrap="square" lIns="18288" tIns="18288" rIns="18288" bIns="18288">
            <a:noAutofit/>
          </a:bodyPr>
          <a:lstStyle/>
          <a:p>
            <a:pPr algn="ctr">
              <a:lnSpc>
                <a:spcPct val="105000"/>
              </a:lnSpc>
            </a:pPr>
            <a:r>
              <a:rPr sz="940" b="0">
                <a:solidFill>
                  <a:srgbClr val="5C6773"/>
                </a:solidFill>
                <a:latin typeface="微软雅黑" panose="020B0503020204020204" charset="-122"/>
              </a:rPr>
              <a:t>区分已有证据与能力缺口</a:t>
            </a:r>
            <a:endParaRPr sz="940" b="0">
              <a:solidFill>
                <a:srgbClr val="5C6773"/>
              </a:solidFill>
              <a:latin typeface="微软雅黑" panose="020B0503020204020204" charset="-122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3072130" y="4265930"/>
            <a:ext cx="2421890" cy="218503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B2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209290" y="4467225"/>
            <a:ext cx="494665" cy="464820"/>
          </a:xfrm>
          <a:prstGeom prst="roundRect">
            <a:avLst/>
          </a:prstGeom>
          <a:solidFill>
            <a:srgbClr val="B23D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82315" y="4521835"/>
            <a:ext cx="286385" cy="217805"/>
          </a:xfrm>
          <a:prstGeom prst="rect">
            <a:avLst/>
          </a:prstGeom>
          <a:noFill/>
        </p:spPr>
        <p:txBody>
          <a:bodyPr wrap="square" lIns="18288" tIns="18288" rIns="18288" bIns="18288">
            <a:noAutofit/>
          </a:bodyPr>
          <a:lstStyle/>
          <a:p>
            <a:pPr algn="ctr">
              <a:lnSpc>
                <a:spcPct val="105000"/>
              </a:lnSpc>
            </a:pPr>
            <a:r>
              <a:rPr sz="950" b="1">
                <a:solidFill>
                  <a:srgbClr val="FFFFFF"/>
                </a:solidFill>
                <a:latin typeface="微软雅黑" panose="020B0503020204020204" charset="-122"/>
              </a:rPr>
              <a:t>4</a:t>
            </a:r>
            <a:endParaRPr sz="9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3282315" y="4999990"/>
            <a:ext cx="1888490" cy="300355"/>
          </a:xfrm>
          <a:prstGeom prst="rect">
            <a:avLst/>
          </a:prstGeom>
          <a:noFill/>
        </p:spPr>
        <p:txBody>
          <a:bodyPr wrap="square" lIns="18288" tIns="18288" rIns="18288" bIns="18288">
            <a:noAutofit/>
          </a:bodyPr>
          <a:lstStyle/>
          <a:p>
            <a:pPr algn="ctr">
              <a:lnSpc>
                <a:spcPct val="105000"/>
              </a:lnSpc>
            </a:pPr>
            <a:r>
              <a:rPr b="1">
                <a:solidFill>
                  <a:srgbClr val="192330"/>
                </a:solidFill>
                <a:latin typeface="微软雅黑" panose="020B0503020204020204" charset="-122"/>
              </a:rPr>
              <a:t>模拟面试</a:t>
            </a:r>
            <a:endParaRPr b="1">
              <a:solidFill>
                <a:srgbClr val="192330"/>
              </a:solidFill>
              <a:latin typeface="微软雅黑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3280410" y="5311140"/>
            <a:ext cx="1953895" cy="518795"/>
          </a:xfrm>
          <a:prstGeom prst="rect">
            <a:avLst/>
          </a:prstGeom>
          <a:noFill/>
        </p:spPr>
        <p:txBody>
          <a:bodyPr wrap="square" lIns="18288" tIns="18288" rIns="18288" bIns="18288">
            <a:noAutofit/>
          </a:bodyPr>
          <a:lstStyle/>
          <a:p>
            <a:pPr algn="ctr">
              <a:lnSpc>
                <a:spcPct val="105000"/>
              </a:lnSpc>
            </a:pPr>
            <a:r>
              <a:rPr sz="940" b="0">
                <a:solidFill>
                  <a:srgbClr val="5C6773"/>
                </a:solidFill>
                <a:latin typeface="微软雅黑" panose="020B0503020204020204" charset="-122"/>
              </a:rPr>
              <a:t>围绕证据和缺口生成追问</a:t>
            </a:r>
            <a:endParaRPr sz="940" b="0">
              <a:solidFill>
                <a:srgbClr val="5C6773"/>
              </a:solidFill>
              <a:latin typeface="微软雅黑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5902706" y="5154295"/>
            <a:ext cx="274320" cy="22860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>
                <a:solidFill>
                  <a:srgbClr val="5C6773"/>
                </a:solidFill>
                <a:latin typeface="微软雅黑" panose="020B0503020204020204" charset="-122"/>
              </a:rPr>
              <a:t>→</a:t>
            </a:r>
            <a:endParaRPr sz="2000" b="1">
              <a:solidFill>
                <a:srgbClr val="5C6773"/>
              </a:solidFill>
              <a:latin typeface="微软雅黑" panose="020B0503020204020204" charset="-122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6501130" y="4265930"/>
            <a:ext cx="2421890" cy="21666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B2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638290" y="4467225"/>
            <a:ext cx="494665" cy="442595"/>
          </a:xfrm>
          <a:prstGeom prst="roundRect">
            <a:avLst/>
          </a:prstGeom>
          <a:solidFill>
            <a:srgbClr val="006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711315" y="4521835"/>
            <a:ext cx="286385" cy="268605"/>
          </a:xfrm>
          <a:prstGeom prst="rect">
            <a:avLst/>
          </a:prstGeom>
          <a:noFill/>
        </p:spPr>
        <p:txBody>
          <a:bodyPr wrap="square" lIns="18288" tIns="18288" rIns="18288" bIns="18288">
            <a:noAutofit/>
          </a:bodyPr>
          <a:lstStyle/>
          <a:p>
            <a:pPr algn="ctr">
              <a:lnSpc>
                <a:spcPct val="105000"/>
              </a:lnSpc>
            </a:pPr>
            <a:r>
              <a:rPr sz="950" b="1">
                <a:solidFill>
                  <a:srgbClr val="FFFFFF"/>
                </a:solidFill>
                <a:latin typeface="微软雅黑" panose="020B0503020204020204" charset="-122"/>
              </a:rPr>
              <a:t>5</a:t>
            </a:r>
            <a:endParaRPr sz="9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6845935" y="4999990"/>
            <a:ext cx="1888490" cy="382905"/>
          </a:xfrm>
          <a:prstGeom prst="rect">
            <a:avLst/>
          </a:prstGeom>
          <a:noFill/>
        </p:spPr>
        <p:txBody>
          <a:bodyPr wrap="square" lIns="18288" tIns="18288" rIns="18288" bIns="18288">
            <a:noAutofit/>
          </a:bodyPr>
          <a:lstStyle/>
          <a:p>
            <a:pPr algn="ctr">
              <a:lnSpc>
                <a:spcPct val="105000"/>
              </a:lnSpc>
            </a:pPr>
            <a:r>
              <a:rPr b="1">
                <a:solidFill>
                  <a:srgbClr val="192330"/>
                </a:solidFill>
                <a:latin typeface="微软雅黑" panose="020B0503020204020204" charset="-122"/>
              </a:rPr>
              <a:t>报告复核</a:t>
            </a:r>
            <a:endParaRPr b="1">
              <a:solidFill>
                <a:srgbClr val="192330"/>
              </a:solidFill>
              <a:latin typeface="微软雅黑" panose="020B0503020204020204" charset="-122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6711315" y="5311140"/>
            <a:ext cx="1953895" cy="265430"/>
          </a:xfrm>
          <a:prstGeom prst="rect">
            <a:avLst/>
          </a:prstGeom>
          <a:noFill/>
        </p:spPr>
        <p:txBody>
          <a:bodyPr wrap="square" lIns="18288" tIns="18288" rIns="18288" bIns="18288">
            <a:noAutofit/>
          </a:bodyPr>
          <a:lstStyle/>
          <a:p>
            <a:pPr algn="ctr">
              <a:lnSpc>
                <a:spcPct val="105000"/>
              </a:lnSpc>
            </a:pPr>
            <a:r>
              <a:rPr sz="940" b="0">
                <a:solidFill>
                  <a:srgbClr val="5C6773"/>
                </a:solidFill>
                <a:latin typeface="微软雅黑" panose="020B0503020204020204" charset="-122"/>
              </a:rPr>
              <a:t>输出评分、建议和后台样本</a:t>
            </a:r>
            <a:endParaRPr sz="940" b="0">
              <a:solidFill>
                <a:srgbClr val="5C6773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4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3474720" cy="292608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006959"/>
                </a:solidFill>
                <a:latin typeface="微软雅黑" panose="020B0503020204020204" charset="-122"/>
              </a:rPr>
              <a:t>岗位画像库</a:t>
            </a:r>
            <a:endParaRPr sz="1300" b="1">
              <a:solidFill>
                <a:srgbClr val="006959"/>
              </a:solidFill>
              <a:latin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85800" y="713232"/>
            <a:ext cx="9235440" cy="658368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192330"/>
                </a:solidFill>
                <a:latin typeface="微软雅黑" panose="020B0503020204020204" charset="-122"/>
              </a:rPr>
              <a:t>为什么这次选 Python 后端岗位画像</a:t>
            </a:r>
            <a:endParaRPr sz="3000" b="1">
              <a:solidFill>
                <a:srgbClr val="192330"/>
              </a:solidFill>
              <a:latin typeface="微软雅黑" panose="020B0503020204020204" charset="-122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835640" cy="32004"/>
          </a:xfrm>
          <a:prstGeom prst="rect">
            <a:avLst/>
          </a:prstGeom>
          <a:solidFill>
            <a:srgbClr val="006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01400" y="384048"/>
            <a:ext cx="320040" cy="27432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>
                <a:solidFill>
                  <a:srgbClr val="5C6773"/>
                </a:solidFill>
                <a:latin typeface="微软雅黑" panose="020B0503020204020204" charset="-122"/>
              </a:rPr>
              <a:t>04</a:t>
            </a:r>
            <a:endParaRPr sz="1100" b="1">
              <a:solidFill>
                <a:srgbClr val="5C6773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7772400" cy="310896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192330"/>
                </a:solidFill>
                <a:latin typeface="微软雅黑" panose="020B0503020204020204" charset="-122"/>
              </a:rPr>
              <a:t>当前项目中信息最完整、最适合技术演示的岗位画像</a:t>
            </a:r>
            <a:endParaRPr sz="1800" b="1">
              <a:solidFill>
                <a:srgbClr val="192330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>
            <p:custDataLst>
              <p:tags r:id="rId1"/>
            </p:custDataLst>
          </p:nvPr>
        </p:nvSpPr>
        <p:spPr>
          <a:xfrm>
            <a:off x="868680" y="2331720"/>
            <a:ext cx="2880360" cy="50292"/>
          </a:xfrm>
          <a:prstGeom prst="rect">
            <a:avLst/>
          </a:prstGeom>
          <a:solidFill>
            <a:srgbClr val="256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>
            <p:custDataLst>
              <p:tags r:id="rId2"/>
            </p:custDataLst>
          </p:nvPr>
        </p:nvSpPr>
        <p:spPr>
          <a:xfrm>
            <a:off x="868680" y="2521458"/>
            <a:ext cx="2880360" cy="357505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>
                <a:solidFill>
                  <a:srgbClr val="192330"/>
                </a:solidFill>
                <a:latin typeface="微软雅黑" panose="020B0503020204020204" charset="-122"/>
              </a:rPr>
              <a:t>核心能力</a:t>
            </a:r>
            <a:endParaRPr sz="2000" b="1">
              <a:solidFill>
                <a:srgbClr val="192330"/>
              </a:solidFill>
              <a:latin typeface="微软雅黑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68680" y="3146425"/>
            <a:ext cx="2856865" cy="2155190"/>
          </a:xfrm>
          <a:prstGeom prst="rect">
            <a:avLst/>
          </a:prstGeom>
          <a:noFill/>
        </p:spPr>
        <p:txBody>
          <a:bodyPr wrap="square" lIns="18288" tIns="18288" rIns="18288" bIns="18288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>
                <a:solidFill>
                  <a:srgbClr val="5C6773"/>
                </a:solidFill>
                <a:latin typeface="微软雅黑" panose="020B0503020204020204" charset="-122"/>
              </a:rPr>
              <a:t>Python / FastAPI
SQLAlchemy / PostgreSQL
Redis / Docker
异步编程 / Celery</a:t>
            </a:r>
            <a:endParaRPr sz="2400" b="0">
              <a:solidFill>
                <a:srgbClr val="5C6773"/>
              </a:solidFill>
              <a:latin typeface="微软雅黑" panose="020B0503020204020204" charset="-122"/>
            </a:endParaRPr>
          </a:p>
        </p:txBody>
      </p:sp>
      <p:sp>
        <p:nvSpPr>
          <p:cNvPr id="10" name="Rectangle 9"/>
          <p:cNvSpPr/>
          <p:nvPr>
            <p:custDataLst>
              <p:tags r:id="rId3"/>
            </p:custDataLst>
          </p:nvPr>
        </p:nvSpPr>
        <p:spPr>
          <a:xfrm>
            <a:off x="4572000" y="2331720"/>
            <a:ext cx="2880360" cy="50292"/>
          </a:xfrm>
          <a:prstGeom prst="rect">
            <a:avLst/>
          </a:prstGeom>
          <a:solidFill>
            <a:srgbClr val="006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>
            <p:custDataLst>
              <p:tags r:id="rId4"/>
            </p:custDataLst>
          </p:nvPr>
        </p:nvSpPr>
        <p:spPr>
          <a:xfrm>
            <a:off x="4572000" y="2505583"/>
            <a:ext cx="2880360" cy="357505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>
                <a:solidFill>
                  <a:srgbClr val="192330"/>
                </a:solidFill>
                <a:latin typeface="微软雅黑" panose="020B0503020204020204" charset="-122"/>
              </a:rPr>
              <a:t>面试重点</a:t>
            </a:r>
            <a:endParaRPr sz="2000" b="1">
              <a:solidFill>
                <a:srgbClr val="192330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559935" y="3153410"/>
            <a:ext cx="2880360" cy="1971675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>
                <a:solidFill>
                  <a:srgbClr val="5C6773"/>
                </a:solidFill>
                <a:latin typeface="微软雅黑" panose="020B0503020204020204" charset="-122"/>
              </a:rPr>
              <a:t>接口设计
数据库索引与事务
缓存一致性
异步任务与幂等
线上排障</a:t>
            </a:r>
            <a:endParaRPr sz="2400" b="0">
              <a:solidFill>
                <a:srgbClr val="5C6773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>
            <p:custDataLst>
              <p:tags r:id="rId5"/>
            </p:custDataLst>
          </p:nvPr>
        </p:nvSpPr>
        <p:spPr>
          <a:xfrm>
            <a:off x="8275319" y="2331720"/>
            <a:ext cx="2880360" cy="50292"/>
          </a:xfrm>
          <a:prstGeom prst="rect">
            <a:avLst/>
          </a:prstGeom>
          <a:solidFill>
            <a:srgbClr val="DA8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>
            <p:custDataLst>
              <p:tags r:id="rId6"/>
            </p:custDataLst>
          </p:nvPr>
        </p:nvSpPr>
        <p:spPr>
          <a:xfrm>
            <a:off x="8275319" y="2584958"/>
            <a:ext cx="2880360" cy="357505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>
                <a:solidFill>
                  <a:srgbClr val="192330"/>
                </a:solidFill>
                <a:latin typeface="微软雅黑" panose="020B0503020204020204" charset="-122"/>
              </a:rPr>
              <a:t>评分关注</a:t>
            </a:r>
            <a:endParaRPr sz="2000" b="1">
              <a:solidFill>
                <a:srgbClr val="192330"/>
              </a:solidFill>
              <a:latin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8274684" y="3146425"/>
            <a:ext cx="2880360" cy="1971675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>
                <a:solidFill>
                  <a:srgbClr val="5C6773"/>
                </a:solidFill>
                <a:latin typeface="微软雅黑" panose="020B0503020204020204" charset="-122"/>
              </a:rPr>
              <a:t>基础是否扎实
项目证据是否真实
能否解释技术取舍
能否定位问题
是否给出改进路径</a:t>
            </a:r>
            <a:endParaRPr sz="2400" b="0">
              <a:solidFill>
                <a:srgbClr val="5C6773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4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3474720" cy="292608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006959"/>
                </a:solidFill>
                <a:latin typeface="微软雅黑" panose="020B0503020204020204" charset="-122"/>
              </a:rPr>
              <a:t>简历匹配分析</a:t>
            </a:r>
            <a:endParaRPr sz="1300" b="1">
              <a:solidFill>
                <a:srgbClr val="006959"/>
              </a:solidFill>
              <a:latin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85800" y="713232"/>
            <a:ext cx="9235440" cy="658368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192330"/>
                </a:solidFill>
                <a:latin typeface="微软雅黑" panose="020B0503020204020204" charset="-122"/>
              </a:rPr>
              <a:t>证据归证据，缺口归缺口</a:t>
            </a:r>
            <a:endParaRPr sz="3000" b="1">
              <a:solidFill>
                <a:srgbClr val="192330"/>
              </a:solidFill>
              <a:latin typeface="微软雅黑" panose="020B0503020204020204" charset="-122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835640" cy="32004"/>
          </a:xfrm>
          <a:prstGeom prst="rect">
            <a:avLst/>
          </a:prstGeom>
          <a:solidFill>
            <a:srgbClr val="006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01400" y="384048"/>
            <a:ext cx="320040" cy="27432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>
                <a:solidFill>
                  <a:srgbClr val="5C6773"/>
                </a:solidFill>
                <a:latin typeface="微软雅黑" panose="020B0503020204020204" charset="-122"/>
              </a:rPr>
              <a:t>05</a:t>
            </a:r>
            <a:endParaRPr sz="1100" b="1">
              <a:solidFill>
                <a:srgbClr val="5C6773"/>
              </a:solidFill>
              <a:latin typeface="微软雅黑" panose="020B0503020204020204" charset="-122"/>
            </a:endParaRPr>
          </a:p>
        </p:txBody>
      </p:sp>
      <p:sp>
        <p:nvSpPr>
          <p:cNvPr id="6" name="Rounded Rectangle 5"/>
          <p:cNvSpPr/>
          <p:nvPr>
            <p:custDataLst>
              <p:tags r:id="rId1"/>
            </p:custDataLst>
          </p:nvPr>
        </p:nvSpPr>
        <p:spPr>
          <a:xfrm>
            <a:off x="822960" y="1965960"/>
            <a:ext cx="4937760" cy="3954780"/>
          </a:xfrm>
          <a:prstGeom prst="roundRect">
            <a:avLst/>
          </a:prstGeom>
          <a:solidFill>
            <a:srgbClr val="EAF2EE"/>
          </a:solidFill>
          <a:ln w="12700">
            <a:solidFill>
              <a:srgbClr val="BEB2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>
            <p:custDataLst>
              <p:tags r:id="rId2"/>
            </p:custDataLst>
          </p:nvPr>
        </p:nvSpPr>
        <p:spPr>
          <a:xfrm>
            <a:off x="1051560" y="2212975"/>
            <a:ext cx="1835785" cy="422275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>
                <a:solidFill>
                  <a:srgbClr val="006959"/>
                </a:solidFill>
                <a:latin typeface="微软雅黑" panose="020B0503020204020204" charset="-122"/>
              </a:rPr>
              <a:t>已有证据</a:t>
            </a:r>
            <a:endParaRPr sz="2400" b="1">
              <a:solidFill>
                <a:srgbClr val="006959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>
            <p:custDataLst>
              <p:tags r:id="rId3"/>
            </p:custDataLst>
          </p:nvPr>
        </p:nvSpPr>
        <p:spPr>
          <a:xfrm>
            <a:off x="1051560" y="2882265"/>
            <a:ext cx="4251960" cy="207645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  <a:defRPr sz="1450">
                <a:solidFill>
                  <a:srgbClr val="192330"/>
                </a:solidFill>
                <a:latin typeface="微软雅黑" panose="020B0503020204020204" charset="-122"/>
              </a:defRPr>
            </a:pPr>
            <a:r>
              <a:rPr sz="1800"/>
              <a:t>• CS 专业基础和课程经历</a:t>
            </a:r>
            <a:endParaRPr sz="1800"/>
          </a:p>
          <a:p>
            <a:pPr>
              <a:lnSpc>
                <a:spcPct val="108000"/>
              </a:lnSpc>
              <a:spcAft>
                <a:spcPts val="500"/>
              </a:spcAft>
              <a:defRPr sz="1450">
                <a:solidFill>
                  <a:srgbClr val="192330"/>
                </a:solidFill>
                <a:latin typeface="微软雅黑" panose="020B0503020204020204" charset="-122"/>
              </a:defRPr>
            </a:pPr>
            <a:r>
              <a:rPr sz="1800"/>
              <a:t>• Python、SQL、JavaScript 等技能线索</a:t>
            </a:r>
            <a:endParaRPr sz="1800"/>
          </a:p>
          <a:p>
            <a:pPr>
              <a:lnSpc>
                <a:spcPct val="108000"/>
              </a:lnSpc>
              <a:spcAft>
                <a:spcPts val="500"/>
              </a:spcAft>
              <a:defRPr sz="1450">
                <a:solidFill>
                  <a:srgbClr val="192330"/>
                </a:solidFill>
                <a:latin typeface="微软雅黑" panose="020B0503020204020204" charset="-122"/>
              </a:defRPr>
            </a:pPr>
            <a:r>
              <a:rPr sz="1800"/>
              <a:t>• Microsoft 实习、TA、数据库后端项目</a:t>
            </a:r>
            <a:endParaRPr sz="1800"/>
          </a:p>
          <a:p>
            <a:pPr>
              <a:lnSpc>
                <a:spcPct val="108000"/>
              </a:lnSpc>
              <a:spcAft>
                <a:spcPts val="500"/>
              </a:spcAft>
              <a:defRPr sz="1450">
                <a:solidFill>
                  <a:srgbClr val="192330"/>
                </a:solidFill>
                <a:latin typeface="微软雅黑" panose="020B0503020204020204" charset="-122"/>
              </a:defRPr>
            </a:pPr>
            <a:r>
              <a:rPr sz="1800"/>
              <a:t>• 适合切入接口、数据库、项目复盘类追问</a:t>
            </a:r>
            <a:endParaRPr sz="1800"/>
          </a:p>
        </p:txBody>
      </p:sp>
      <p:sp>
        <p:nvSpPr>
          <p:cNvPr id="9" name="Rounded Rectangle 8"/>
          <p:cNvSpPr/>
          <p:nvPr>
            <p:custDataLst>
              <p:tags r:id="rId4"/>
            </p:custDataLst>
          </p:nvPr>
        </p:nvSpPr>
        <p:spPr>
          <a:xfrm>
            <a:off x="6263640" y="1965960"/>
            <a:ext cx="4937760" cy="39090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B2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>
            <p:custDataLst>
              <p:tags r:id="rId5"/>
            </p:custDataLst>
          </p:nvPr>
        </p:nvSpPr>
        <p:spPr>
          <a:xfrm>
            <a:off x="6492240" y="2212975"/>
            <a:ext cx="1964690" cy="422275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>
                <a:solidFill>
                  <a:srgbClr val="DA891C"/>
                </a:solidFill>
                <a:latin typeface="微软雅黑" panose="020B0503020204020204" charset="-122"/>
              </a:rPr>
              <a:t>需要追问</a:t>
            </a:r>
            <a:endParaRPr sz="2400" b="1">
              <a:solidFill>
                <a:srgbClr val="DA891C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>
            <p:custDataLst>
              <p:tags r:id="rId6"/>
            </p:custDataLst>
          </p:nvPr>
        </p:nvSpPr>
        <p:spPr>
          <a:xfrm>
            <a:off x="6492240" y="2882265"/>
            <a:ext cx="4251960" cy="2075815"/>
          </a:xfrm>
          <a:prstGeom prst="rect">
            <a:avLst/>
          </a:prstGeom>
          <a:noFill/>
        </p:spPr>
        <p:txBody>
          <a:bodyPr wrap="square" lIns="18288" rIns="18288">
            <a:no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  <a:defRPr sz="1450">
                <a:solidFill>
                  <a:srgbClr val="192330"/>
                </a:solidFill>
                <a:latin typeface="微软雅黑" panose="020B0503020204020204" charset="-122"/>
              </a:defRPr>
            </a:pPr>
            <a:r>
              <a:rPr sz="1800"/>
              <a:t>• FastAPI 是否有实际工程经验</a:t>
            </a:r>
            <a:endParaRPr sz="1800"/>
          </a:p>
          <a:p>
            <a:pPr>
              <a:lnSpc>
                <a:spcPct val="108000"/>
              </a:lnSpc>
              <a:spcAft>
                <a:spcPts val="500"/>
              </a:spcAft>
              <a:defRPr sz="1450">
                <a:solidFill>
                  <a:srgbClr val="192330"/>
                </a:solidFill>
                <a:latin typeface="微软雅黑" panose="020B0503020204020204" charset="-122"/>
              </a:defRPr>
            </a:pPr>
            <a:r>
              <a:rPr sz="1800"/>
              <a:t>• Redis 缓存一致性与过期策略</a:t>
            </a:r>
            <a:endParaRPr sz="1800"/>
          </a:p>
          <a:p>
            <a:pPr>
              <a:lnSpc>
                <a:spcPct val="108000"/>
              </a:lnSpc>
              <a:spcAft>
                <a:spcPts val="500"/>
              </a:spcAft>
              <a:defRPr sz="1450">
                <a:solidFill>
                  <a:srgbClr val="192330"/>
                </a:solidFill>
                <a:latin typeface="微软雅黑" panose="020B0503020204020204" charset="-122"/>
              </a:defRPr>
            </a:pPr>
            <a:r>
              <a:rPr sz="1800"/>
              <a:t>• Docker 部署和环境问题处理</a:t>
            </a:r>
            <a:endParaRPr sz="1800"/>
          </a:p>
          <a:p>
            <a:pPr>
              <a:lnSpc>
                <a:spcPct val="108000"/>
              </a:lnSpc>
              <a:spcAft>
                <a:spcPts val="500"/>
              </a:spcAft>
              <a:defRPr sz="1450">
                <a:solidFill>
                  <a:srgbClr val="192330"/>
                </a:solidFill>
                <a:latin typeface="微软雅黑" panose="020B0503020204020204" charset="-122"/>
              </a:defRPr>
            </a:pPr>
            <a:r>
              <a:rPr sz="1800"/>
              <a:t>• Celery 异步任务、重试与幂等</a:t>
            </a:r>
            <a:endParaRPr sz="1800"/>
          </a:p>
          <a:p>
            <a:pPr>
              <a:lnSpc>
                <a:spcPct val="108000"/>
              </a:lnSpc>
              <a:spcAft>
                <a:spcPts val="500"/>
              </a:spcAft>
              <a:defRPr sz="1450">
                <a:solidFill>
                  <a:srgbClr val="192330"/>
                </a:solidFill>
                <a:latin typeface="微软雅黑" panose="020B0503020204020204" charset="-122"/>
              </a:defRPr>
            </a:pPr>
            <a:r>
              <a:rPr sz="1800"/>
              <a:t>• 线上慢查询、接口超时如何定位</a:t>
            </a:r>
            <a:endParaRPr sz="18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4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3474720" cy="292608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006959"/>
                </a:solidFill>
                <a:latin typeface="微软雅黑" panose="020B0503020204020204" charset="-122"/>
              </a:rPr>
              <a:t>模拟面试追问</a:t>
            </a:r>
            <a:endParaRPr sz="1300" b="1">
              <a:solidFill>
                <a:srgbClr val="006959"/>
              </a:solidFill>
              <a:latin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85800" y="713232"/>
            <a:ext cx="9235440" cy="658368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192330"/>
                </a:solidFill>
                <a:latin typeface="微软雅黑" panose="020B0503020204020204" charset="-122"/>
              </a:rPr>
              <a:t>题目不是随机抽取，而是证据驱动</a:t>
            </a:r>
            <a:endParaRPr sz="3000" b="1">
              <a:solidFill>
                <a:srgbClr val="192330"/>
              </a:solidFill>
              <a:latin typeface="微软雅黑" panose="020B0503020204020204" charset="-122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835640" cy="32004"/>
          </a:xfrm>
          <a:prstGeom prst="rect">
            <a:avLst/>
          </a:prstGeom>
          <a:solidFill>
            <a:srgbClr val="006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01400" y="384048"/>
            <a:ext cx="320040" cy="27432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>
                <a:solidFill>
                  <a:srgbClr val="5C6773"/>
                </a:solidFill>
                <a:latin typeface="微软雅黑" panose="020B0503020204020204" charset="-122"/>
              </a:rPr>
              <a:t>06</a:t>
            </a:r>
            <a:endParaRPr sz="1100" b="1">
              <a:solidFill>
                <a:srgbClr val="5C6773"/>
              </a:solidFill>
              <a:latin typeface="微软雅黑" panose="020B0503020204020204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914400" y="1874520"/>
            <a:ext cx="1234440" cy="1097915"/>
          </a:xfrm>
          <a:prstGeom prst="roundRect">
            <a:avLst/>
          </a:prstGeom>
          <a:solidFill>
            <a:srgbClr val="256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7" name="TextBox 6"/>
          <p:cNvSpPr txBox="1"/>
          <p:nvPr/>
        </p:nvSpPr>
        <p:spPr>
          <a:xfrm>
            <a:off x="987425" y="1929130"/>
            <a:ext cx="1088390" cy="515620"/>
          </a:xfrm>
          <a:prstGeom prst="rect">
            <a:avLst/>
          </a:prstGeom>
          <a:noFill/>
        </p:spPr>
        <p:txBody>
          <a:bodyPr wrap="square" lIns="18288" tIns="18288" rIns="18288" bIns="18288">
            <a:noAutofit/>
          </a:bodyPr>
          <a:lstStyle/>
          <a:p>
            <a:pPr algn="ctr">
              <a:lnSpc>
                <a:spcPct val="105000"/>
              </a:lnSpc>
            </a:pPr>
            <a:r>
              <a:rPr sz="2000" b="1">
                <a:solidFill>
                  <a:srgbClr val="FFFFFF"/>
                </a:solidFill>
                <a:latin typeface="微软雅黑" panose="020B0503020204020204" charset="-122"/>
              </a:rPr>
              <a:t>来自简历证据</a:t>
            </a:r>
            <a:endParaRPr sz="20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423160" y="1856105"/>
            <a:ext cx="8138160" cy="1806575"/>
          </a:xfrm>
          <a:prstGeom prst="rect">
            <a:avLst/>
          </a:prstGeom>
          <a:noFill/>
        </p:spPr>
        <p:txBody>
          <a:bodyPr wrap="square" lIns="18288" tIns="18288" rIns="18288" bIns="18288">
            <a:noAutofit/>
          </a:bodyPr>
          <a:lstStyle/>
          <a:p>
            <a:pPr algn="l">
              <a:lnSpc>
                <a:spcPct val="105000"/>
              </a:lnSpc>
            </a:pPr>
            <a:r>
              <a:rPr sz="2000" b="1">
                <a:solidFill>
                  <a:srgbClr val="192330"/>
                </a:solidFill>
                <a:latin typeface="微软雅黑" panose="020B0503020204020204" charset="-122"/>
              </a:rPr>
              <a:t>你在网站后端数据库项目中负责了哪些表结构或查询？如果接口变慢，你会先看哪些指标？</a:t>
            </a:r>
            <a:endParaRPr sz="2000" b="1">
              <a:solidFill>
                <a:srgbClr val="192330"/>
              </a:solidFill>
              <a:latin typeface="微软雅黑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2423160" y="2533015"/>
            <a:ext cx="7040880" cy="806450"/>
          </a:xfrm>
          <a:prstGeom prst="rect">
            <a:avLst/>
          </a:prstGeom>
          <a:noFill/>
        </p:spPr>
        <p:txBody>
          <a:bodyPr wrap="square" lIns="18288" tIns="18288" rIns="18288" bIns="18288">
            <a:noAutofit/>
          </a:bodyPr>
          <a:lstStyle/>
          <a:p>
            <a:pPr algn="l">
              <a:lnSpc>
                <a:spcPct val="105000"/>
              </a:lnSpc>
            </a:pPr>
            <a:r>
              <a:rPr sz="2000" b="0">
                <a:solidFill>
                  <a:srgbClr val="5C6773"/>
                </a:solidFill>
                <a:latin typeface="微软雅黑" panose="020B0503020204020204" charset="-122"/>
              </a:rPr>
              <a:t>评价看点：是否能结合简历经历说明做法、取舍、风险和改进。</a:t>
            </a:r>
            <a:endParaRPr sz="2000" b="0">
              <a:solidFill>
                <a:srgbClr val="5C6773"/>
              </a:solidFill>
              <a:latin typeface="微软雅黑" panose="020B0503020204020204" charset="-122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914400" y="3200400"/>
            <a:ext cx="1234440" cy="1097915"/>
          </a:xfrm>
          <a:prstGeom prst="roundRect">
            <a:avLst/>
          </a:prstGeom>
          <a:solidFill>
            <a:srgbClr val="006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1" name="TextBox 10"/>
          <p:cNvSpPr txBox="1"/>
          <p:nvPr/>
        </p:nvSpPr>
        <p:spPr>
          <a:xfrm>
            <a:off x="987425" y="3255010"/>
            <a:ext cx="1088390" cy="515620"/>
          </a:xfrm>
          <a:prstGeom prst="rect">
            <a:avLst/>
          </a:prstGeom>
          <a:noFill/>
        </p:spPr>
        <p:txBody>
          <a:bodyPr wrap="square" lIns="18288" tIns="18288" rIns="18288" bIns="18288">
            <a:noAutofit/>
          </a:bodyPr>
          <a:lstStyle/>
          <a:p>
            <a:pPr algn="ctr">
              <a:lnSpc>
                <a:spcPct val="105000"/>
              </a:lnSpc>
            </a:pPr>
            <a:r>
              <a:rPr sz="2000" b="1">
                <a:solidFill>
                  <a:srgbClr val="FFFFFF"/>
                </a:solidFill>
                <a:latin typeface="微软雅黑" panose="020B0503020204020204" charset="-122"/>
              </a:rPr>
              <a:t>来自岗位画像</a:t>
            </a:r>
            <a:endParaRPr sz="20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423160" y="3181985"/>
            <a:ext cx="8138160" cy="1806575"/>
          </a:xfrm>
          <a:prstGeom prst="rect">
            <a:avLst/>
          </a:prstGeom>
          <a:noFill/>
        </p:spPr>
        <p:txBody>
          <a:bodyPr wrap="square" lIns="18288" tIns="18288" rIns="18288" bIns="18288">
            <a:noAutofit/>
          </a:bodyPr>
          <a:lstStyle/>
          <a:p>
            <a:pPr algn="l">
              <a:lnSpc>
                <a:spcPct val="105000"/>
              </a:lnSpc>
            </a:pPr>
            <a:r>
              <a:rPr sz="2000" b="0">
                <a:solidFill>
                  <a:srgbClr val="192330"/>
                </a:solidFill>
                <a:latin typeface="微软雅黑" panose="020B0503020204020204" charset="-122"/>
              </a:rPr>
              <a:t>如果一个简历上传任务需要异步解析和重试，你会如何设计 Celery 任务、幂等键和失败补偿？</a:t>
            </a:r>
            <a:endParaRPr sz="2000" b="0">
              <a:solidFill>
                <a:srgbClr val="192330"/>
              </a:solidFill>
              <a:latin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2423160" y="3858895"/>
            <a:ext cx="7040880" cy="806450"/>
          </a:xfrm>
          <a:prstGeom prst="rect">
            <a:avLst/>
          </a:prstGeom>
          <a:noFill/>
        </p:spPr>
        <p:txBody>
          <a:bodyPr wrap="square" lIns="18288" tIns="18288" rIns="18288" bIns="18288">
            <a:noAutofit/>
          </a:bodyPr>
          <a:lstStyle/>
          <a:p>
            <a:pPr algn="l">
              <a:lnSpc>
                <a:spcPct val="105000"/>
              </a:lnSpc>
            </a:pPr>
            <a:r>
              <a:rPr sz="2000" b="0">
                <a:solidFill>
                  <a:srgbClr val="5C6773"/>
                </a:solidFill>
                <a:latin typeface="微软雅黑" panose="020B0503020204020204" charset="-122"/>
              </a:rPr>
              <a:t>评价看点：是否能结合简历经历说明做法、取舍、风险和改进。</a:t>
            </a:r>
            <a:endParaRPr sz="2000" b="0">
              <a:solidFill>
                <a:srgbClr val="5C6773"/>
              </a:solidFill>
              <a:latin typeface="微软雅黑" panose="020B0503020204020204" charset="-122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914400" y="4526280"/>
            <a:ext cx="1234440" cy="1097915"/>
          </a:xfrm>
          <a:prstGeom prst="roundRect">
            <a:avLst/>
          </a:prstGeom>
          <a:solidFill>
            <a:srgbClr val="DA8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5" name="TextBox 14"/>
          <p:cNvSpPr txBox="1"/>
          <p:nvPr/>
        </p:nvSpPr>
        <p:spPr>
          <a:xfrm>
            <a:off x="987425" y="4580890"/>
            <a:ext cx="1088390" cy="515620"/>
          </a:xfrm>
          <a:prstGeom prst="rect">
            <a:avLst/>
          </a:prstGeom>
          <a:noFill/>
        </p:spPr>
        <p:txBody>
          <a:bodyPr wrap="square" lIns="18288" tIns="18288" rIns="18288" bIns="18288">
            <a:noAutofit/>
          </a:bodyPr>
          <a:lstStyle/>
          <a:p>
            <a:pPr algn="ctr">
              <a:lnSpc>
                <a:spcPct val="105000"/>
              </a:lnSpc>
            </a:pPr>
            <a:r>
              <a:rPr sz="2000" b="1">
                <a:solidFill>
                  <a:srgbClr val="FFFFFF"/>
                </a:solidFill>
                <a:latin typeface="微软雅黑" panose="020B0503020204020204" charset="-122"/>
              </a:rPr>
              <a:t>来自能力缺口</a:t>
            </a:r>
            <a:endParaRPr sz="20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423160" y="4507865"/>
            <a:ext cx="8138160" cy="1806575"/>
          </a:xfrm>
          <a:prstGeom prst="rect">
            <a:avLst/>
          </a:prstGeom>
          <a:noFill/>
        </p:spPr>
        <p:txBody>
          <a:bodyPr wrap="square" lIns="18288" tIns="18288" rIns="18288" bIns="18288">
            <a:noAutofit/>
          </a:bodyPr>
          <a:lstStyle/>
          <a:p>
            <a:pPr algn="l">
              <a:lnSpc>
                <a:spcPct val="105000"/>
              </a:lnSpc>
            </a:pPr>
            <a:r>
              <a:rPr sz="2000" b="0">
                <a:solidFill>
                  <a:srgbClr val="192330"/>
                </a:solidFill>
                <a:latin typeface="微软雅黑" panose="020B0503020204020204" charset="-122"/>
              </a:rPr>
              <a:t>简历里没有写 Redis。假设需要缓存岗位画像，你会怎样设置 key、过期时间和一致性策略？</a:t>
            </a:r>
            <a:endParaRPr sz="2000" b="0">
              <a:solidFill>
                <a:srgbClr val="192330"/>
              </a:solidFill>
              <a:latin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2423160" y="5184775"/>
            <a:ext cx="7040880" cy="806450"/>
          </a:xfrm>
          <a:prstGeom prst="rect">
            <a:avLst/>
          </a:prstGeom>
          <a:noFill/>
        </p:spPr>
        <p:txBody>
          <a:bodyPr wrap="square" lIns="18288" tIns="18288" rIns="18288" bIns="18288">
            <a:noAutofit/>
          </a:bodyPr>
          <a:lstStyle/>
          <a:p>
            <a:pPr algn="l">
              <a:lnSpc>
                <a:spcPct val="105000"/>
              </a:lnSpc>
            </a:pPr>
            <a:r>
              <a:rPr sz="2000" b="0">
                <a:solidFill>
                  <a:srgbClr val="5C6773"/>
                </a:solidFill>
                <a:latin typeface="微软雅黑" panose="020B0503020204020204" charset="-122"/>
              </a:rPr>
              <a:t>评价看点：是否能结合简历经历说明做法、取舍、风险和改进。</a:t>
            </a:r>
            <a:endParaRPr sz="2000" b="0">
              <a:solidFill>
                <a:srgbClr val="5C6773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4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3474720" cy="292608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006959"/>
                </a:solidFill>
                <a:latin typeface="微软雅黑" panose="020B0503020204020204" charset="-122"/>
              </a:rPr>
              <a:t>报告输出</a:t>
            </a:r>
            <a:endParaRPr sz="1300" b="1">
              <a:solidFill>
                <a:srgbClr val="006959"/>
              </a:solidFill>
              <a:latin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85800" y="713232"/>
            <a:ext cx="9235440" cy="658368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192330"/>
                </a:solidFill>
                <a:latin typeface="微软雅黑" panose="020B0503020204020204" charset="-122"/>
              </a:rPr>
              <a:t>把一次面试变成可解释的改进路径</a:t>
            </a:r>
            <a:endParaRPr sz="3000" b="1">
              <a:solidFill>
                <a:srgbClr val="192330"/>
              </a:solidFill>
              <a:latin typeface="微软雅黑" panose="020B0503020204020204" charset="-122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835640" cy="32004"/>
          </a:xfrm>
          <a:prstGeom prst="rect">
            <a:avLst/>
          </a:prstGeom>
          <a:solidFill>
            <a:srgbClr val="006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01400" y="384048"/>
            <a:ext cx="320040" cy="27432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>
                <a:solidFill>
                  <a:srgbClr val="5C6773"/>
                </a:solidFill>
                <a:latin typeface="微软雅黑" panose="020B0503020204020204" charset="-122"/>
              </a:rPr>
              <a:t>07</a:t>
            </a:r>
            <a:endParaRPr sz="1100" b="1">
              <a:solidFill>
                <a:srgbClr val="5C6773"/>
              </a:solidFill>
              <a:latin typeface="微软雅黑" panose="020B0503020204020204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701040" y="2208530"/>
            <a:ext cx="5104765" cy="164655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B2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17575" y="2598420"/>
            <a:ext cx="1061085" cy="829945"/>
          </a:xfrm>
          <a:prstGeom prst="roundRect">
            <a:avLst/>
          </a:prstGeom>
          <a:solidFill>
            <a:srgbClr val="256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9965" y="2689225"/>
            <a:ext cx="899795" cy="209550"/>
          </a:xfrm>
          <a:prstGeom prst="rect">
            <a:avLst/>
          </a:prstGeom>
          <a:noFill/>
        </p:spPr>
        <p:txBody>
          <a:bodyPr wrap="square" lIns="18288" tIns="18288" rIns="18288" bIns="18288">
            <a:noAutofit/>
          </a:bodyPr>
          <a:lstStyle/>
          <a:p>
            <a:pPr algn="ctr">
              <a:lnSpc>
                <a:spcPct val="105000"/>
              </a:lnSpc>
            </a:pPr>
            <a:r>
              <a:rPr b="1">
                <a:solidFill>
                  <a:srgbClr val="FFFFFF"/>
                </a:solidFill>
                <a:latin typeface="微软雅黑" panose="020B0503020204020204" charset="-122"/>
              </a:rPr>
              <a:t>匹配</a:t>
            </a:r>
            <a:endParaRPr b="1">
              <a:solidFill>
                <a:srgbClr val="FFFFFF"/>
              </a:solidFill>
              <a:latin typeface="微软雅黑" panose="020B0503020204020204" charset="-122"/>
            </a:endParaRPr>
          </a:p>
          <a:p>
            <a:pPr algn="ctr">
              <a:lnSpc>
                <a:spcPct val="105000"/>
              </a:lnSpc>
            </a:pPr>
            <a:r>
              <a:rPr b="1">
                <a:solidFill>
                  <a:srgbClr val="FFFFFF"/>
                </a:solidFill>
                <a:latin typeface="微软雅黑" panose="020B0503020204020204" charset="-122"/>
              </a:rPr>
              <a:t>证据</a:t>
            </a:r>
            <a:endParaRPr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2112645" y="2603500"/>
            <a:ext cx="3133725" cy="657860"/>
          </a:xfrm>
          <a:prstGeom prst="rect">
            <a:avLst/>
          </a:prstGeom>
          <a:noFill/>
        </p:spPr>
        <p:txBody>
          <a:bodyPr wrap="square" lIns="18288" tIns="18288" rIns="18288" bIns="18288">
            <a:noAutofit/>
          </a:bodyPr>
          <a:lstStyle/>
          <a:p>
            <a:pPr algn="l">
              <a:lnSpc>
                <a:spcPct val="105000"/>
              </a:lnSpc>
            </a:pPr>
            <a:r>
              <a:rPr b="0">
                <a:solidFill>
                  <a:srgbClr val="192330"/>
                </a:solidFill>
                <a:latin typeface="微软雅黑" panose="020B0503020204020204" charset="-122"/>
              </a:rPr>
              <a:t>列出简历和回答中支持判断的项目、课程、技能线索。</a:t>
            </a:r>
            <a:endParaRPr b="0">
              <a:solidFill>
                <a:srgbClr val="192330"/>
              </a:solidFill>
              <a:latin typeface="微软雅黑" panose="020B0503020204020204" charset="-122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096000" y="2208530"/>
            <a:ext cx="5104765" cy="164655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B2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312535" y="2598420"/>
            <a:ext cx="1061085" cy="686435"/>
          </a:xfrm>
          <a:prstGeom prst="roundRect">
            <a:avLst/>
          </a:prstGeom>
          <a:solidFill>
            <a:srgbClr val="DA8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84925" y="2689225"/>
            <a:ext cx="899795" cy="209550"/>
          </a:xfrm>
          <a:prstGeom prst="rect">
            <a:avLst/>
          </a:prstGeom>
          <a:noFill/>
        </p:spPr>
        <p:txBody>
          <a:bodyPr wrap="square" lIns="18288" tIns="18288" rIns="18288" bIns="18288">
            <a:noAutofit/>
          </a:bodyPr>
          <a:lstStyle/>
          <a:p>
            <a:pPr algn="ctr">
              <a:lnSpc>
                <a:spcPct val="105000"/>
              </a:lnSpc>
            </a:pPr>
            <a:r>
              <a:rPr b="1">
                <a:solidFill>
                  <a:srgbClr val="FFFFFF"/>
                </a:solidFill>
                <a:latin typeface="微软雅黑" panose="020B0503020204020204" charset="-122"/>
              </a:rPr>
              <a:t>能力</a:t>
            </a:r>
            <a:endParaRPr b="1">
              <a:solidFill>
                <a:srgbClr val="FFFFFF"/>
              </a:solidFill>
              <a:latin typeface="微软雅黑" panose="020B0503020204020204" charset="-122"/>
            </a:endParaRPr>
          </a:p>
          <a:p>
            <a:pPr algn="ctr">
              <a:lnSpc>
                <a:spcPct val="105000"/>
              </a:lnSpc>
            </a:pPr>
            <a:r>
              <a:rPr b="1">
                <a:solidFill>
                  <a:srgbClr val="FFFFFF"/>
                </a:solidFill>
                <a:latin typeface="微软雅黑" panose="020B0503020204020204" charset="-122"/>
              </a:rPr>
              <a:t>短板</a:t>
            </a:r>
            <a:endParaRPr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507605" y="2603500"/>
            <a:ext cx="3133725" cy="657860"/>
          </a:xfrm>
          <a:prstGeom prst="rect">
            <a:avLst/>
          </a:prstGeom>
          <a:noFill/>
        </p:spPr>
        <p:txBody>
          <a:bodyPr wrap="square" lIns="18288" tIns="18288" rIns="18288" bIns="18288">
            <a:noAutofit/>
          </a:bodyPr>
          <a:lstStyle/>
          <a:p>
            <a:pPr algn="l">
              <a:lnSpc>
                <a:spcPct val="105000"/>
              </a:lnSpc>
            </a:pPr>
            <a:r>
              <a:rPr b="0">
                <a:solidFill>
                  <a:srgbClr val="192330"/>
                </a:solidFill>
                <a:latin typeface="微软雅黑" panose="020B0503020204020204" charset="-122"/>
              </a:rPr>
              <a:t>把没有证据或回答薄弱的点沉淀为后续训练重点。</a:t>
            </a:r>
            <a:endParaRPr b="0">
              <a:solidFill>
                <a:srgbClr val="192330"/>
              </a:solidFill>
              <a:latin typeface="微软雅黑" panose="020B0503020204020204" charset="-122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701040" y="3900170"/>
            <a:ext cx="5104765" cy="164655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B2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17575" y="4290060"/>
            <a:ext cx="1061085" cy="678815"/>
          </a:xfrm>
          <a:prstGeom prst="roundRect">
            <a:avLst/>
          </a:prstGeom>
          <a:solidFill>
            <a:srgbClr val="006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9965" y="4380865"/>
            <a:ext cx="899795" cy="209550"/>
          </a:xfrm>
          <a:prstGeom prst="rect">
            <a:avLst/>
          </a:prstGeom>
          <a:noFill/>
        </p:spPr>
        <p:txBody>
          <a:bodyPr wrap="square" lIns="18288" tIns="18288" rIns="18288" bIns="18288">
            <a:noAutofit/>
          </a:bodyPr>
          <a:lstStyle/>
          <a:p>
            <a:pPr algn="ctr">
              <a:lnSpc>
                <a:spcPct val="105000"/>
              </a:lnSpc>
            </a:pPr>
            <a:r>
              <a:rPr b="1">
                <a:solidFill>
                  <a:srgbClr val="FFFFFF"/>
                </a:solidFill>
                <a:latin typeface="微软雅黑" panose="020B0503020204020204" charset="-122"/>
              </a:rPr>
              <a:t>改进</a:t>
            </a:r>
            <a:endParaRPr b="1">
              <a:solidFill>
                <a:srgbClr val="FFFFFF"/>
              </a:solidFill>
              <a:latin typeface="微软雅黑" panose="020B0503020204020204" charset="-122"/>
            </a:endParaRPr>
          </a:p>
          <a:p>
            <a:pPr algn="ctr">
              <a:lnSpc>
                <a:spcPct val="105000"/>
              </a:lnSpc>
            </a:pPr>
            <a:r>
              <a:rPr b="1">
                <a:solidFill>
                  <a:srgbClr val="FFFFFF"/>
                </a:solidFill>
                <a:latin typeface="微软雅黑" panose="020B0503020204020204" charset="-122"/>
              </a:rPr>
              <a:t>建议</a:t>
            </a:r>
            <a:endParaRPr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2112645" y="4295140"/>
            <a:ext cx="3133725" cy="657860"/>
          </a:xfrm>
          <a:prstGeom prst="rect">
            <a:avLst/>
          </a:prstGeom>
          <a:noFill/>
        </p:spPr>
        <p:txBody>
          <a:bodyPr wrap="square" lIns="18288" tIns="18288" rIns="18288" bIns="18288">
            <a:noAutofit/>
          </a:bodyPr>
          <a:lstStyle/>
          <a:p>
            <a:pPr algn="l">
              <a:lnSpc>
                <a:spcPct val="105000"/>
              </a:lnSpc>
            </a:pPr>
            <a:r>
              <a:rPr b="0">
                <a:solidFill>
                  <a:srgbClr val="192330"/>
                </a:solidFill>
                <a:latin typeface="微软雅黑" panose="020B0503020204020204" charset="-122"/>
              </a:rPr>
              <a:t>给出简历补充、项目复盘、知识补强和下一轮面试建议。</a:t>
            </a:r>
            <a:endParaRPr b="0">
              <a:solidFill>
                <a:srgbClr val="192330"/>
              </a:solidFill>
              <a:latin typeface="微软雅黑" panose="020B0503020204020204" charset="-122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6096000" y="3900170"/>
            <a:ext cx="5104765" cy="164655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B2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12535" y="4290060"/>
            <a:ext cx="1061085" cy="686435"/>
          </a:xfrm>
          <a:prstGeom prst="roundRect">
            <a:avLst/>
          </a:prstGeom>
          <a:solidFill>
            <a:srgbClr val="B23D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84925" y="4380865"/>
            <a:ext cx="899795" cy="209550"/>
          </a:xfrm>
          <a:prstGeom prst="rect">
            <a:avLst/>
          </a:prstGeom>
          <a:noFill/>
        </p:spPr>
        <p:txBody>
          <a:bodyPr wrap="square" lIns="18288" tIns="18288" rIns="18288" bIns="18288">
            <a:noAutofit/>
          </a:bodyPr>
          <a:lstStyle/>
          <a:p>
            <a:pPr algn="ctr">
              <a:lnSpc>
                <a:spcPct val="105000"/>
              </a:lnSpc>
            </a:pPr>
            <a:r>
              <a:rPr b="1">
                <a:solidFill>
                  <a:srgbClr val="FFFFFF"/>
                </a:solidFill>
                <a:latin typeface="微软雅黑" panose="020B0503020204020204" charset="-122"/>
              </a:rPr>
              <a:t>后台</a:t>
            </a:r>
            <a:endParaRPr b="1">
              <a:solidFill>
                <a:srgbClr val="FFFFFF"/>
              </a:solidFill>
              <a:latin typeface="微软雅黑" panose="020B0503020204020204" charset="-122"/>
            </a:endParaRPr>
          </a:p>
          <a:p>
            <a:pPr algn="ctr">
              <a:lnSpc>
                <a:spcPct val="105000"/>
              </a:lnSpc>
            </a:pPr>
            <a:r>
              <a:rPr b="1">
                <a:solidFill>
                  <a:srgbClr val="FFFFFF"/>
                </a:solidFill>
                <a:latin typeface="微软雅黑" panose="020B0503020204020204" charset="-122"/>
              </a:rPr>
              <a:t>复核</a:t>
            </a:r>
            <a:endParaRPr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7507605" y="4295140"/>
            <a:ext cx="3133725" cy="657860"/>
          </a:xfrm>
          <a:prstGeom prst="rect">
            <a:avLst/>
          </a:prstGeom>
          <a:noFill/>
        </p:spPr>
        <p:txBody>
          <a:bodyPr wrap="square" lIns="18288" tIns="18288" rIns="18288" bIns="18288">
            <a:noAutofit/>
          </a:bodyPr>
          <a:lstStyle/>
          <a:p>
            <a:pPr algn="l">
              <a:lnSpc>
                <a:spcPct val="105000"/>
              </a:lnSpc>
            </a:pPr>
            <a:r>
              <a:rPr b="0">
                <a:solidFill>
                  <a:srgbClr val="192330"/>
                </a:solidFill>
                <a:latin typeface="微软雅黑" panose="020B0503020204020204" charset="-122"/>
              </a:rPr>
              <a:t>样本可进入后台，由人工评分对照系统输出，逐步优化规则。</a:t>
            </a:r>
            <a:endParaRPr b="0">
              <a:solidFill>
                <a:srgbClr val="192330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4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3474720" cy="292608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006959"/>
                </a:solidFill>
                <a:latin typeface="微软雅黑" panose="020B0503020204020204" charset="-122"/>
              </a:rPr>
              <a:t>后台管理端</a:t>
            </a:r>
            <a:endParaRPr sz="1300" b="1">
              <a:solidFill>
                <a:srgbClr val="006959"/>
              </a:solidFill>
              <a:latin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85800" y="713232"/>
            <a:ext cx="9235440" cy="658368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192330"/>
                </a:solidFill>
                <a:latin typeface="微软雅黑" panose="020B0503020204020204" charset="-122"/>
              </a:rPr>
              <a:t>参赛展示主场放在可维护的数据里</a:t>
            </a:r>
            <a:endParaRPr sz="3000" b="1">
              <a:solidFill>
                <a:srgbClr val="192330"/>
              </a:solidFill>
              <a:latin typeface="微软雅黑" panose="020B0503020204020204" charset="-122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685800" y="1417320"/>
            <a:ext cx="10835640" cy="32004"/>
          </a:xfrm>
          <a:prstGeom prst="rect">
            <a:avLst/>
          </a:prstGeom>
          <a:solidFill>
            <a:srgbClr val="006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01400" y="384048"/>
            <a:ext cx="320040" cy="27432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>
                <a:solidFill>
                  <a:srgbClr val="5C6773"/>
                </a:solidFill>
                <a:latin typeface="微软雅黑" panose="020B0503020204020204" charset="-122"/>
              </a:rPr>
              <a:t>08</a:t>
            </a:r>
            <a:endParaRPr sz="1100" b="1">
              <a:solidFill>
                <a:srgbClr val="5C6773"/>
              </a:solidFill>
              <a:latin typeface="微软雅黑" panose="020B0503020204020204" charset="-122"/>
            </a:endParaRPr>
          </a:p>
        </p:txBody>
      </p:sp>
      <p:sp>
        <p:nvSpPr>
          <p:cNvPr id="6" name="Rounded Rectangle 5"/>
          <p:cNvSpPr/>
          <p:nvPr>
            <p:custDataLst>
              <p:tags r:id="rId1"/>
            </p:custDataLst>
          </p:nvPr>
        </p:nvSpPr>
        <p:spPr>
          <a:xfrm>
            <a:off x="904875" y="2046435"/>
            <a:ext cx="1139257" cy="816211"/>
          </a:xfrm>
          <a:prstGeom prst="roundRect">
            <a:avLst/>
          </a:prstGeom>
          <a:solidFill>
            <a:srgbClr val="006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>
            <p:custDataLst>
              <p:tags r:id="rId2"/>
            </p:custDataLst>
          </p:nvPr>
        </p:nvSpPr>
        <p:spPr>
          <a:xfrm>
            <a:off x="973041" y="2097411"/>
            <a:ext cx="973881" cy="382914"/>
          </a:xfrm>
          <a:prstGeom prst="rect">
            <a:avLst/>
          </a:prstGeom>
          <a:noFill/>
        </p:spPr>
        <p:txBody>
          <a:bodyPr wrap="square" lIns="18288" tIns="18288" rIns="18288" bIns="18288">
            <a:noAutofit/>
          </a:bodyPr>
          <a:lstStyle/>
          <a:p>
            <a:pPr algn="ctr">
              <a:lnSpc>
                <a:spcPct val="105000"/>
              </a:lnSpc>
            </a:pPr>
            <a:r>
              <a:rPr b="1">
                <a:solidFill>
                  <a:srgbClr val="FFFFFF"/>
                </a:solidFill>
                <a:latin typeface="微软雅黑" panose="020B0503020204020204" charset="-122"/>
              </a:rPr>
              <a:t>岗位画像</a:t>
            </a:r>
            <a:endParaRPr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>
            <p:custDataLst>
              <p:tags r:id="rId3"/>
            </p:custDataLst>
          </p:nvPr>
        </p:nvSpPr>
        <p:spPr>
          <a:xfrm>
            <a:off x="2567527" y="2114008"/>
            <a:ext cx="8804053" cy="791316"/>
          </a:xfrm>
          <a:prstGeom prst="rect">
            <a:avLst/>
          </a:prstGeom>
          <a:noFill/>
        </p:spPr>
        <p:txBody>
          <a:bodyPr wrap="square" lIns="18288" tIns="18288" rIns="18288" bIns="18288">
            <a:noAutofit/>
          </a:bodyPr>
          <a:lstStyle/>
          <a:p>
            <a:pPr algn="l">
              <a:lnSpc>
                <a:spcPct val="105000"/>
              </a:lnSpc>
            </a:pPr>
            <a:r>
              <a:rPr b="0">
                <a:solidFill>
                  <a:srgbClr val="192330"/>
                </a:solidFill>
                <a:latin typeface="微软雅黑" panose="020B0503020204020204" charset="-122"/>
              </a:rPr>
              <a:t>查看岗位数量、画像内容、知识切片；支持编辑和重建切片。</a:t>
            </a:r>
            <a:endParaRPr b="0">
              <a:solidFill>
                <a:srgbClr val="192330"/>
              </a:solidFill>
              <a:latin typeface="微软雅黑" panose="020B0503020204020204" charset="-122"/>
            </a:endParaRPr>
          </a:p>
        </p:txBody>
      </p:sp>
      <p:sp>
        <p:nvSpPr>
          <p:cNvPr id="9" name="Rounded Rectangle 8"/>
          <p:cNvSpPr/>
          <p:nvPr>
            <p:custDataLst>
              <p:tags r:id="rId4"/>
            </p:custDataLst>
          </p:nvPr>
        </p:nvSpPr>
        <p:spPr>
          <a:xfrm>
            <a:off x="904875" y="2942666"/>
            <a:ext cx="1139257" cy="816211"/>
          </a:xfrm>
          <a:prstGeom prst="roundRect">
            <a:avLst/>
          </a:prstGeom>
          <a:solidFill>
            <a:srgbClr val="256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>
            <p:custDataLst>
              <p:tags r:id="rId5"/>
            </p:custDataLst>
          </p:nvPr>
        </p:nvSpPr>
        <p:spPr>
          <a:xfrm>
            <a:off x="973041" y="2993642"/>
            <a:ext cx="973881" cy="382914"/>
          </a:xfrm>
          <a:prstGeom prst="rect">
            <a:avLst/>
          </a:prstGeom>
          <a:noFill/>
        </p:spPr>
        <p:txBody>
          <a:bodyPr wrap="square" lIns="18288" tIns="18288" rIns="18288" bIns="18288">
            <a:noAutofit/>
          </a:bodyPr>
          <a:lstStyle/>
          <a:p>
            <a:pPr algn="ctr">
              <a:lnSpc>
                <a:spcPct val="105000"/>
              </a:lnSpc>
            </a:pPr>
            <a:r>
              <a:rPr b="1">
                <a:solidFill>
                  <a:srgbClr val="FFFFFF"/>
                </a:solidFill>
                <a:latin typeface="微软雅黑" panose="020B0503020204020204" charset="-122"/>
              </a:rPr>
              <a:t>面试记录</a:t>
            </a:r>
            <a:endParaRPr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>
            <p:custDataLst>
              <p:tags r:id="rId6"/>
            </p:custDataLst>
          </p:nvPr>
        </p:nvSpPr>
        <p:spPr>
          <a:xfrm>
            <a:off x="2541600" y="3040912"/>
            <a:ext cx="8804053" cy="791316"/>
          </a:xfrm>
          <a:prstGeom prst="rect">
            <a:avLst/>
          </a:prstGeom>
          <a:noFill/>
        </p:spPr>
        <p:txBody>
          <a:bodyPr wrap="square" lIns="18288" tIns="18288" rIns="18288" bIns="18288">
            <a:noAutofit/>
          </a:bodyPr>
          <a:lstStyle/>
          <a:p>
            <a:pPr algn="l">
              <a:lnSpc>
                <a:spcPct val="105000"/>
              </a:lnSpc>
            </a:pPr>
            <a:r>
              <a:rPr b="0">
                <a:solidFill>
                  <a:srgbClr val="192330"/>
                </a:solidFill>
                <a:latin typeface="微软雅黑" panose="020B0503020204020204" charset="-122"/>
              </a:rPr>
              <a:t>按用户、岗位、时间查看训练记录，定位真实使用过程。</a:t>
            </a:r>
            <a:endParaRPr b="0">
              <a:solidFill>
                <a:srgbClr val="192330"/>
              </a:solidFill>
              <a:latin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>
            <p:custDataLst>
              <p:tags r:id="rId7"/>
            </p:custDataLst>
          </p:nvPr>
        </p:nvSpPr>
        <p:spPr>
          <a:xfrm>
            <a:off x="904875" y="3838898"/>
            <a:ext cx="1139257" cy="816211"/>
          </a:xfrm>
          <a:prstGeom prst="roundRect">
            <a:avLst/>
          </a:prstGeom>
          <a:solidFill>
            <a:srgbClr val="DA8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>
            <p:custDataLst>
              <p:tags r:id="rId8"/>
            </p:custDataLst>
          </p:nvPr>
        </p:nvSpPr>
        <p:spPr>
          <a:xfrm>
            <a:off x="973041" y="3889874"/>
            <a:ext cx="973881" cy="382914"/>
          </a:xfrm>
          <a:prstGeom prst="rect">
            <a:avLst/>
          </a:prstGeom>
          <a:noFill/>
        </p:spPr>
        <p:txBody>
          <a:bodyPr wrap="square" lIns="18288" tIns="18288" rIns="18288" bIns="18288">
            <a:noAutofit/>
          </a:bodyPr>
          <a:lstStyle/>
          <a:p>
            <a:pPr algn="ctr">
              <a:lnSpc>
                <a:spcPct val="105000"/>
              </a:lnSpc>
            </a:pPr>
            <a:r>
              <a:rPr b="1">
                <a:solidFill>
                  <a:srgbClr val="FFFFFF"/>
                </a:solidFill>
                <a:latin typeface="微软雅黑" panose="020B0503020204020204" charset="-122"/>
              </a:rPr>
              <a:t>测评样本</a:t>
            </a:r>
            <a:endParaRPr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>
            <p:custDataLst>
              <p:tags r:id="rId9"/>
            </p:custDataLst>
          </p:nvPr>
        </p:nvSpPr>
        <p:spPr>
          <a:xfrm>
            <a:off x="2567527" y="3886318"/>
            <a:ext cx="8804053" cy="791316"/>
          </a:xfrm>
          <a:prstGeom prst="rect">
            <a:avLst/>
          </a:prstGeom>
          <a:noFill/>
        </p:spPr>
        <p:txBody>
          <a:bodyPr wrap="square" lIns="18288" tIns="18288" rIns="18288" bIns="18288">
            <a:noAutofit/>
          </a:bodyPr>
          <a:lstStyle/>
          <a:p>
            <a:pPr algn="l">
              <a:lnSpc>
                <a:spcPct val="105000"/>
              </a:lnSpc>
            </a:pPr>
            <a:r>
              <a:rPr b="0">
                <a:solidFill>
                  <a:srgbClr val="192330"/>
                </a:solidFill>
                <a:latin typeface="微软雅黑" panose="020B0503020204020204" charset="-122"/>
              </a:rPr>
              <a:t>把面试与报告沉淀为样本，后续做人工评分对比。</a:t>
            </a:r>
            <a:endParaRPr b="0">
              <a:solidFill>
                <a:srgbClr val="192330"/>
              </a:solidFill>
              <a:latin typeface="微软雅黑" panose="020B0503020204020204" charset="-122"/>
            </a:endParaRPr>
          </a:p>
        </p:txBody>
      </p:sp>
      <p:sp>
        <p:nvSpPr>
          <p:cNvPr id="15" name="Rounded Rectangle 14"/>
          <p:cNvSpPr/>
          <p:nvPr>
            <p:custDataLst>
              <p:tags r:id="rId10"/>
            </p:custDataLst>
          </p:nvPr>
        </p:nvSpPr>
        <p:spPr>
          <a:xfrm>
            <a:off x="904875" y="4735129"/>
            <a:ext cx="1139257" cy="816211"/>
          </a:xfrm>
          <a:prstGeom prst="roundRect">
            <a:avLst/>
          </a:prstGeom>
          <a:solidFill>
            <a:srgbClr val="B23D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>
            <p:custDataLst>
              <p:tags r:id="rId11"/>
            </p:custDataLst>
          </p:nvPr>
        </p:nvSpPr>
        <p:spPr>
          <a:xfrm>
            <a:off x="973041" y="4786106"/>
            <a:ext cx="973881" cy="382914"/>
          </a:xfrm>
          <a:prstGeom prst="rect">
            <a:avLst/>
          </a:prstGeom>
          <a:noFill/>
        </p:spPr>
        <p:txBody>
          <a:bodyPr wrap="square" lIns="18288" tIns="18288" rIns="18288" bIns="18288">
            <a:noAutofit/>
          </a:bodyPr>
          <a:lstStyle/>
          <a:p>
            <a:pPr algn="ctr">
              <a:lnSpc>
                <a:spcPct val="105000"/>
              </a:lnSpc>
            </a:pPr>
            <a:r>
              <a:rPr b="1">
                <a:solidFill>
                  <a:srgbClr val="FFFFFF"/>
                </a:solidFill>
                <a:latin typeface="微软雅黑" panose="020B0503020204020204" charset="-122"/>
              </a:rPr>
              <a:t>人工复核</a:t>
            </a:r>
            <a:endParaRPr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>
            <p:custDataLst>
              <p:tags r:id="rId12"/>
            </p:custDataLst>
          </p:nvPr>
        </p:nvSpPr>
        <p:spPr>
          <a:xfrm>
            <a:off x="2567527" y="4755876"/>
            <a:ext cx="8804053" cy="791316"/>
          </a:xfrm>
          <a:prstGeom prst="rect">
            <a:avLst/>
          </a:prstGeom>
          <a:noFill/>
        </p:spPr>
        <p:txBody>
          <a:bodyPr wrap="square" lIns="18288" tIns="18288" rIns="18288" bIns="18288">
            <a:noAutofit/>
          </a:bodyPr>
          <a:lstStyle/>
          <a:p>
            <a:pPr algn="l">
              <a:lnSpc>
                <a:spcPct val="105000"/>
              </a:lnSpc>
            </a:pPr>
            <a:r>
              <a:rPr b="0">
                <a:solidFill>
                  <a:srgbClr val="192330"/>
                </a:solidFill>
                <a:latin typeface="微软雅黑" panose="020B0503020204020204" charset="-122"/>
              </a:rPr>
              <a:t>老师或团队成员可复核样本，发现评分偏差再调整规则。</a:t>
            </a:r>
            <a:endParaRPr b="0">
              <a:solidFill>
                <a:srgbClr val="192330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4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385" y="195580"/>
            <a:ext cx="9658350" cy="1995170"/>
          </a:xfrm>
          <a:prstGeom prst="rect">
            <a:avLst/>
          </a:prstGeom>
          <a:noFill/>
        </p:spPr>
        <p:txBody>
          <a:bodyPr wrap="square" lIns="18288" tIns="18288" rIns="18288" bIns="18288">
            <a:no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006959"/>
                </a:solidFill>
                <a:effectLst>
                  <a:outerShdw blurRad="60007" dist="200025" dir="15000000" sy="30000" kx="-1800000" algn="bl" rotWithShape="0">
                    <a:prstClr val="black">
                      <a:alpha val="32000"/>
                    </a:prstClr>
                  </a:outerShdw>
                </a:effectLst>
                <a:latin typeface="微软雅黑" panose="020B0503020204020204" charset="-122"/>
              </a:rPr>
              <a:t>职启智评</a:t>
            </a:r>
            <a:endParaRPr sz="3200" b="1">
              <a:solidFill>
                <a:srgbClr val="006959"/>
              </a:solidFill>
              <a:effectLst>
                <a:outerShdw blurRad="60007" dist="200025" dir="15000000" sy="30000" kx="-1800000" algn="bl" rotWithShape="0">
                  <a:prstClr val="black">
                    <a:alpha val="32000"/>
                  </a:prstClr>
                </a:outerShdw>
              </a:effectLst>
              <a:latin typeface="微软雅黑" panose="020B0503020204020204" charset="-122"/>
            </a:endParaRPr>
          </a:p>
          <a:p>
            <a:pPr algn="l">
              <a:lnSpc>
                <a:spcPct val="105000"/>
              </a:lnSpc>
            </a:pPr>
            <a:r>
              <a:rPr lang="en-US" sz="3200" b="1">
                <a:solidFill>
                  <a:srgbClr val="006959"/>
                </a:solidFill>
                <a:effectLst>
                  <a:outerShdw blurRad="60007" dist="200025" dir="15000000" sy="30000" kx="-1800000" algn="bl" rotWithShape="0">
                    <a:prstClr val="black">
                      <a:alpha val="32000"/>
                    </a:prstClr>
                  </a:outerShdw>
                </a:effectLst>
                <a:latin typeface="微软雅黑" panose="020B0503020204020204" charset="-122"/>
              </a:rPr>
              <a:t>           ——AI</a:t>
            </a:r>
            <a:r>
              <a:rPr lang="zh-CN" altLang="en-US" sz="3200" b="1">
                <a:solidFill>
                  <a:srgbClr val="006959"/>
                </a:solidFill>
                <a:effectLst>
                  <a:outerShdw blurRad="60007" dist="200025" dir="15000000" sy="30000" kx="-1800000" algn="bl" rotWithShape="0">
                    <a:prstClr val="black">
                      <a:alpha val="32000"/>
                    </a:prstClr>
                  </a:outerShdw>
                </a:effectLst>
                <a:latin typeface="微软雅黑" panose="020B0503020204020204" charset="-122"/>
              </a:rPr>
              <a:t>面试官</a:t>
            </a:r>
            <a:r>
              <a:rPr lang="en-US" altLang="zh-CN" sz="2400" b="1">
                <a:solidFill>
                  <a:srgbClr val="006959"/>
                </a:solidFill>
                <a:effectLst>
                  <a:outerShdw blurRad="60007" dist="200025" dir="15000000" sy="30000" kx="-1800000" algn="bl" rotWithShape="0">
                    <a:prstClr val="black">
                      <a:alpha val="32000"/>
                    </a:prstClr>
                  </a:outerShdw>
                </a:effectLst>
                <a:latin typeface="微软雅黑" panose="020B0503020204020204" charset="-122"/>
              </a:rPr>
              <a:t> </a:t>
            </a:r>
            <a:endParaRPr lang="zh-CN" altLang="en-US" sz="2400" b="1">
              <a:solidFill>
                <a:srgbClr val="006959"/>
              </a:solidFill>
              <a:effectLst>
                <a:outerShdw blurRad="60007" dist="200025" dir="15000000" sy="30000" kx="-1800000" algn="bl" rotWithShape="0">
                  <a:prstClr val="black">
                    <a:alpha val="32000"/>
                  </a:prstClr>
                </a:outerShdw>
              </a:effectLst>
              <a:latin typeface="微软雅黑" panose="020B0503020204020204" charset="-122"/>
            </a:endParaRPr>
          </a:p>
        </p:txBody>
      </p:sp>
      <p:cxnSp>
        <p:nvCxnSpPr>
          <p:cNvPr id="20" name="直接连接符 19"/>
          <p:cNvCxnSpPr/>
          <p:nvPr/>
        </p:nvCxnSpPr>
        <p:spPr>
          <a:xfrm>
            <a:off x="8061960" y="5487035"/>
            <a:ext cx="385000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文本框 20"/>
          <p:cNvSpPr txBox="1"/>
          <p:nvPr/>
        </p:nvSpPr>
        <p:spPr>
          <a:xfrm>
            <a:off x="8413750" y="5740400"/>
            <a:ext cx="406400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b="1"/>
              <a:t>第</a:t>
            </a:r>
            <a:r>
              <a:rPr lang="en-US" altLang="zh-CN" b="1"/>
              <a:t>11</a:t>
            </a:r>
            <a:r>
              <a:rPr lang="zh-CN" altLang="en-US" b="1"/>
              <a:t>组</a:t>
            </a:r>
            <a:r>
              <a:rPr lang="en-US" altLang="zh-CN" b="1"/>
              <a:t>：</a:t>
            </a:r>
            <a:r>
              <a:rPr lang="zh-CN" altLang="en-US" b="1"/>
              <a:t>蘸水小菜队</a:t>
            </a:r>
            <a:endParaRPr lang="zh-CN" altLang="en-US" b="1"/>
          </a:p>
          <a:p>
            <a:r>
              <a:rPr lang="zh-CN" altLang="en-US" b="1"/>
              <a:t>组</a:t>
            </a:r>
            <a:r>
              <a:rPr lang="en-US" altLang="zh-CN" b="1"/>
              <a:t>    </a:t>
            </a:r>
            <a:r>
              <a:rPr lang="zh-CN" altLang="en-US" b="1"/>
              <a:t>员</a:t>
            </a:r>
            <a:r>
              <a:rPr lang="en-US" altLang="zh-CN" b="1"/>
              <a:t>：</a:t>
            </a:r>
            <a:r>
              <a:rPr lang="zh-CN" altLang="en-US" b="1"/>
              <a:t>詹已誉</a:t>
            </a:r>
            <a:r>
              <a:rPr lang="en-US" altLang="zh-CN" b="1"/>
              <a:t>、</a:t>
            </a:r>
            <a:r>
              <a:rPr lang="zh-CN" altLang="en-US" b="1"/>
              <a:t>沈昱彤</a:t>
            </a:r>
            <a:r>
              <a:rPr lang="en-US" altLang="zh-CN" b="1"/>
              <a:t>、</a:t>
            </a:r>
            <a:r>
              <a:rPr lang="zh-CN" altLang="en-US" b="1"/>
              <a:t>蔡雨璇</a:t>
            </a:r>
            <a:endParaRPr lang="zh-CN" altLang="en-US" b="1"/>
          </a:p>
        </p:txBody>
      </p:sp>
      <p:sp>
        <p:nvSpPr>
          <p:cNvPr id="4" name="Rectangle 3"/>
          <p:cNvSpPr/>
          <p:nvPr/>
        </p:nvSpPr>
        <p:spPr>
          <a:xfrm>
            <a:off x="667385" y="1500505"/>
            <a:ext cx="10835640" cy="32004"/>
          </a:xfrm>
          <a:prstGeom prst="rect">
            <a:avLst/>
          </a:prstGeom>
          <a:solidFill>
            <a:srgbClr val="006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文本框 5"/>
          <p:cNvSpPr txBox="1"/>
          <p:nvPr/>
        </p:nvSpPr>
        <p:spPr>
          <a:xfrm>
            <a:off x="667385" y="2574925"/>
            <a:ext cx="5367020" cy="199453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l">
              <a:lnSpc>
                <a:spcPct val="105000"/>
              </a:lnSpc>
            </a:pPr>
            <a:r>
              <a:rPr lang="zh-CN" altLang="en-US" sz="8800" b="1">
                <a:solidFill>
                  <a:srgbClr val="006959"/>
                </a:solidFill>
                <a:effectLst/>
                <a:latin typeface="微软雅黑" panose="020B0503020204020204" charset="-122"/>
                <a:sym typeface="+mn-ea"/>
              </a:rPr>
              <a:t>感谢聆听</a:t>
            </a:r>
            <a:r>
              <a:rPr lang="en-US" altLang="zh-CN" sz="8800" b="1">
                <a:solidFill>
                  <a:srgbClr val="006959"/>
                </a:solidFill>
                <a:effectLst/>
                <a:latin typeface="微软雅黑" panose="020B0503020204020204" charset="-122"/>
                <a:sym typeface="+mn-ea"/>
              </a:rPr>
              <a:t>！</a:t>
            </a:r>
            <a:endParaRPr lang="en-US" altLang="zh-CN" sz="8800" b="1">
              <a:solidFill>
                <a:srgbClr val="006959"/>
              </a:solidFill>
              <a:effectLst/>
              <a:latin typeface="微软雅黑" panose="020B0503020204020204" charset="-122"/>
              <a:sym typeface="+mn-ea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36.789999999999964,&quot;left&quot;:68.4,&quot;top&quot;:183.6,&quot;width&quot;:809.9999212598425}"/>
</p:tagLst>
</file>

<file path=ppt/tags/tag2.xml><?xml version="1.0" encoding="utf-8"?>
<p:tagLst xmlns:p="http://schemas.openxmlformats.org/presentationml/2006/main">
  <p:tag name="KSO_WM_DIAGRAM_VIRTUALLY_FRAME" val="{&quot;height&quot;:36.789999999999964,&quot;left&quot;:68.4,&quot;top&quot;:183.6,&quot;width&quot;:809.9999212598425}"/>
</p:tagLst>
</file>

<file path=ppt/tags/tag3.xml><?xml version="1.0" encoding="utf-8"?>
<p:tagLst xmlns:p="http://schemas.openxmlformats.org/presentationml/2006/main">
  <p:tag name="KSO_WM_DIAGRAM_VIRTUALLY_FRAME" val="{&quot;height&quot;:36.789999999999964,&quot;left&quot;:68.4,&quot;top&quot;:183.6,&quot;width&quot;:809.9999212598425}"/>
</p:tagLst>
</file>

<file path=ppt/tags/tag4.xml><?xml version="1.0" encoding="utf-8"?>
<p:tagLst xmlns:p="http://schemas.openxmlformats.org/presentationml/2006/main">
  <p:tag name="KSO_WM_DIAGRAM_VIRTUALLY_FRAME" val="{&quot;height&quot;:36.789999999999964,&quot;left&quot;:68.4,&quot;top&quot;:183.6,&quot;width&quot;:809.9999212598425}"/>
</p:tagLst>
</file>

<file path=ppt/tags/tag5.xml><?xml version="1.0" encoding="utf-8"?>
<p:tagLst xmlns:p="http://schemas.openxmlformats.org/presentationml/2006/main">
  <p:tag name="KSO_WM_DIAGRAM_VIRTUALLY_FRAME" val="{&quot;height&quot;:36.789999999999964,&quot;left&quot;:68.4,&quot;top&quot;:183.6,&quot;width&quot;:809.9999212598425}"/>
</p:tagLst>
</file>

<file path=ppt/tags/tag6.xml><?xml version="1.0" encoding="utf-8"?>
<p:tagLst xmlns:p="http://schemas.openxmlformats.org/presentationml/2006/main">
  <p:tag name="KSO_WM_DIAGRAM_VIRTUALLY_FRAME" val="{&quot;height&quot;:36.789999999999964,&quot;left&quot;:68.4,&quot;top&quot;:183.6,&quot;width&quot;:809.9999212598425}"/>
</p:tagLst>
</file>

<file path=ppt/tags/tag7.xml><?xml version="1.0" encoding="utf-8"?>
<p:tagLst xmlns:p="http://schemas.openxmlformats.org/presentationml/2006/main">
  <p:tag name="KSO_WM_DIAGRAM_VIRTUALLY_FRAME" val="{&quot;height&quot;:363.35,&quot;left&quot;:64.8,&quot;top&quot;:154.8,&quot;width&quot;:817.2}"/>
</p:tagLst>
</file>

<file path=ppt/tags/tag8.xml><?xml version="1.0" encoding="utf-8"?>
<p:tagLst xmlns:p="http://schemas.openxmlformats.org/presentationml/2006/main">
  <p:tag name="KSO_WM_DIAGRAM_VIRTUALLY_FRAME" val="{&quot;height&quot;:363.35,&quot;left&quot;:64.8,&quot;top&quot;:154.8,&quot;width&quot;:817.2}"/>
</p:tagLst>
</file>

<file path=ppt/tags/tag9.xml><?xml version="1.0" encoding="utf-8"?>
<p:tagLst xmlns:p="http://schemas.openxmlformats.org/presentationml/2006/main">
  <p:tag name="KSO_WM_DIAGRAM_VIRTUALLY_FRAME" val="{&quot;height&quot;:363.35,&quot;left&quot;:64.8,&quot;top&quot;:154.8,&quot;width&quot;:817.2}"/>
</p:tagLst>
</file>

<file path=ppt/tags/tag10.xml><?xml version="1.0" encoding="utf-8"?>
<p:tagLst xmlns:p="http://schemas.openxmlformats.org/presentationml/2006/main">
  <p:tag name="KSO_WM_DIAGRAM_VIRTUALLY_FRAME" val="{&quot;height&quot;:363.35,&quot;left&quot;:64.8,&quot;top&quot;:154.8,&quot;width&quot;:817.2}"/>
</p:tagLst>
</file>

<file path=ppt/tags/tag11.xml><?xml version="1.0" encoding="utf-8"?>
<p:tagLst xmlns:p="http://schemas.openxmlformats.org/presentationml/2006/main">
  <p:tag name="KSO_WM_DIAGRAM_VIRTUALLY_FRAME" val="{&quot;height&quot;:363.35,&quot;left&quot;:64.8,&quot;top&quot;:154.8,&quot;width&quot;:817.2}"/>
</p:tagLst>
</file>

<file path=ppt/tags/tag12.xml><?xml version="1.0" encoding="utf-8"?>
<p:tagLst xmlns:p="http://schemas.openxmlformats.org/presentationml/2006/main">
  <p:tag name="KSO_WM_DIAGRAM_VIRTUALLY_FRAME" val="{&quot;height&quot;:363.35,&quot;left&quot;:64.8,&quot;top&quot;:154.8,&quot;width&quot;:817.2}"/>
</p:tagLst>
</file>

<file path=ppt/tags/tag13.xml><?xml version="1.0" encoding="utf-8"?>
<p:tagLst xmlns:p="http://schemas.openxmlformats.org/presentationml/2006/main">
  <p:tag name="KSO_WM_DIAGRAM_VIRTUALLY_FRAME" val="{&quot;height&quot;:327.25,&quot;left&quot;:71.25,&quot;top&quot;:151.3,&quot;width&quot;:824.15}"/>
</p:tagLst>
</file>

<file path=ppt/tags/tag14.xml><?xml version="1.0" encoding="utf-8"?>
<p:tagLst xmlns:p="http://schemas.openxmlformats.org/presentationml/2006/main">
  <p:tag name="KSO_WM_DIAGRAM_VIRTUALLY_FRAME" val="{&quot;height&quot;:327.25,&quot;left&quot;:71.25,&quot;top&quot;:151.3,&quot;width&quot;:824.15}"/>
</p:tagLst>
</file>

<file path=ppt/tags/tag15.xml><?xml version="1.0" encoding="utf-8"?>
<p:tagLst xmlns:p="http://schemas.openxmlformats.org/presentationml/2006/main">
  <p:tag name="KSO_WM_DIAGRAM_VIRTUALLY_FRAME" val="{&quot;height&quot;:327.25,&quot;left&quot;:71.25,&quot;top&quot;:151.3,&quot;width&quot;:824.15}"/>
</p:tagLst>
</file>

<file path=ppt/tags/tag16.xml><?xml version="1.0" encoding="utf-8"?>
<p:tagLst xmlns:p="http://schemas.openxmlformats.org/presentationml/2006/main">
  <p:tag name="KSO_WM_DIAGRAM_VIRTUALLY_FRAME" val="{&quot;height&quot;:327.25,&quot;left&quot;:71.25,&quot;top&quot;:151.3,&quot;width&quot;:824.15}"/>
</p:tagLst>
</file>

<file path=ppt/tags/tag17.xml><?xml version="1.0" encoding="utf-8"?>
<p:tagLst xmlns:p="http://schemas.openxmlformats.org/presentationml/2006/main">
  <p:tag name="KSO_WM_DIAGRAM_VIRTUALLY_FRAME" val="{&quot;height&quot;:327.25,&quot;left&quot;:71.25,&quot;top&quot;:151.3,&quot;width&quot;:824.15}"/>
</p:tagLst>
</file>

<file path=ppt/tags/tag18.xml><?xml version="1.0" encoding="utf-8"?>
<p:tagLst xmlns:p="http://schemas.openxmlformats.org/presentationml/2006/main">
  <p:tag name="KSO_WM_DIAGRAM_VIRTUALLY_FRAME" val="{&quot;height&quot;:327.25,&quot;left&quot;:71.25,&quot;top&quot;:151.3,&quot;width&quot;:824.15}"/>
</p:tagLst>
</file>

<file path=ppt/tags/tag19.xml><?xml version="1.0" encoding="utf-8"?>
<p:tagLst xmlns:p="http://schemas.openxmlformats.org/presentationml/2006/main">
  <p:tag name="KSO_WM_DIAGRAM_VIRTUALLY_FRAME" val="{&quot;height&quot;:327.25,&quot;left&quot;:71.25,&quot;top&quot;:151.3,&quot;width&quot;:824.15}"/>
</p:tagLst>
</file>

<file path=ppt/tags/tag20.xml><?xml version="1.0" encoding="utf-8"?>
<p:tagLst xmlns:p="http://schemas.openxmlformats.org/presentationml/2006/main">
  <p:tag name="KSO_WM_DIAGRAM_VIRTUALLY_FRAME" val="{&quot;height&quot;:327.25,&quot;left&quot;:71.25,&quot;top&quot;:151.3,&quot;width&quot;:824.15}"/>
</p:tagLst>
</file>

<file path=ppt/tags/tag21.xml><?xml version="1.0" encoding="utf-8"?>
<p:tagLst xmlns:p="http://schemas.openxmlformats.org/presentationml/2006/main">
  <p:tag name="KSO_WM_DIAGRAM_VIRTUALLY_FRAME" val="{&quot;height&quot;:327.25,&quot;left&quot;:71.25,&quot;top&quot;:151.3,&quot;width&quot;:824.15}"/>
</p:tagLst>
</file>

<file path=ppt/tags/tag22.xml><?xml version="1.0" encoding="utf-8"?>
<p:tagLst xmlns:p="http://schemas.openxmlformats.org/presentationml/2006/main">
  <p:tag name="KSO_WM_DIAGRAM_VIRTUALLY_FRAME" val="{&quot;height&quot;:327.25,&quot;left&quot;:71.25,&quot;top&quot;:151.3,&quot;width&quot;:824.15}"/>
</p:tagLst>
</file>

<file path=ppt/tags/tag23.xml><?xml version="1.0" encoding="utf-8"?>
<p:tagLst xmlns:p="http://schemas.openxmlformats.org/presentationml/2006/main">
  <p:tag name="KSO_WM_DIAGRAM_VIRTUALLY_FRAME" val="{&quot;height&quot;:327.25,&quot;left&quot;:71.25,&quot;top&quot;:151.3,&quot;width&quot;:824.15}"/>
</p:tagLst>
</file>

<file path=ppt/tags/tag24.xml><?xml version="1.0" encoding="utf-8"?>
<p:tagLst xmlns:p="http://schemas.openxmlformats.org/presentationml/2006/main">
  <p:tag name="KSO_WM_DIAGRAM_VIRTUALLY_FRAME" val="{&quot;height&quot;:327.25,&quot;left&quot;:71.25,&quot;top&quot;:151.3,&quot;width&quot;:824.15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1550</Words>
  <Application>WPS 演示</Application>
  <PresentationFormat>On-screen Show (4:3)</PresentationFormat>
  <Paragraphs>215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8" baseType="lpstr">
      <vt:lpstr>Arial</vt:lpstr>
      <vt:lpstr>宋体</vt:lpstr>
      <vt:lpstr>Wingdings</vt:lpstr>
      <vt:lpstr>Arial</vt:lpstr>
      <vt:lpstr>微软雅黑</vt:lpstr>
      <vt:lpstr>Calibri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静空ぅ夜昔</cp:lastModifiedBy>
  <cp:revision>5</cp:revision>
  <dcterms:created xsi:type="dcterms:W3CDTF">2026-05-09T08:15:00Z</dcterms:created>
  <dcterms:modified xsi:type="dcterms:W3CDTF">2026-05-09T08:35:04Z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B2B6C49E7FF947979B1ED1A9711B9AD0_12</vt:lpwstr>
  </property>
  <property fmtid="{D5CDD505-2E9C-101B-9397-08002B2CF9AE}" pid="3" name="KSOProductBuildVer">
    <vt:lpwstr>2052-12.1.0.21915</vt:lpwstr>
  </property>
</Properties>
</file>