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658368" y="530352"/>
            <a:ext cx="2606040" cy="292608"/>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2376" y="589788"/>
            <a:ext cx="2478024" cy="164592"/>
          </a:xfrm>
          <a:prstGeom prst="rect">
            <a:avLst/>
          </a:prstGeom>
          <a:noFill/>
        </p:spPr>
        <p:txBody>
          <a:bodyPr wrap="square">
            <a:normAutofit/>
          </a:bodyPr>
          <a:lstStyle/>
          <a:p>
            <a:pPr algn="ctr">
              <a:defRPr sz="900" b="1">
                <a:solidFill>
                  <a:srgbClr val="FFFFFF"/>
                </a:solidFill>
                <a:latin typeface="Microsoft YaHei"/>
              </a:defRPr>
            </a:pPr>
            <a:r>
              <a:t>中国机器人及人工智能大赛 · 初赛答辩</a:t>
            </a:r>
          </a:p>
        </p:txBody>
      </p:sp>
      <p:sp>
        <p:nvSpPr>
          <p:cNvPr id="4" name="TextBox 3"/>
          <p:cNvSpPr txBox="1"/>
          <p:nvPr/>
        </p:nvSpPr>
        <p:spPr>
          <a:xfrm>
            <a:off x="658368" y="1234440"/>
            <a:ext cx="3840480" cy="731520"/>
          </a:xfrm>
          <a:prstGeom prst="rect">
            <a:avLst/>
          </a:prstGeom>
          <a:noFill/>
        </p:spPr>
        <p:txBody>
          <a:bodyPr wrap="square">
            <a:normAutofit/>
          </a:bodyPr>
          <a:lstStyle/>
          <a:p>
            <a:pPr>
              <a:defRPr sz="4200" b="1">
                <a:solidFill>
                  <a:srgbClr val="0F2A43"/>
                </a:solidFill>
                <a:latin typeface="Microsoft YaHei"/>
              </a:defRPr>
            </a:pPr>
            <a:r>
              <a:t>职启智评</a:t>
            </a:r>
          </a:p>
        </p:txBody>
      </p:sp>
      <p:sp>
        <p:nvSpPr>
          <p:cNvPr id="5" name="TextBox 4"/>
          <p:cNvSpPr txBox="1"/>
          <p:nvPr/>
        </p:nvSpPr>
        <p:spPr>
          <a:xfrm>
            <a:off x="694944" y="1993392"/>
            <a:ext cx="8138160" cy="713232"/>
          </a:xfrm>
          <a:prstGeom prst="rect">
            <a:avLst/>
          </a:prstGeom>
          <a:noFill/>
        </p:spPr>
        <p:txBody>
          <a:bodyPr wrap="square">
            <a:normAutofit/>
          </a:bodyPr>
          <a:lstStyle/>
          <a:p>
            <a:pPr>
              <a:defRPr sz="2200" b="1">
                <a:solidFill>
                  <a:srgbClr val="0F766E"/>
                </a:solidFill>
                <a:latin typeface="Microsoft YaHei"/>
              </a:defRPr>
            </a:pPr>
            <a:r>
              <a:t>基于大语言模型与岗位画像匹配的大学生求职能力评估及模拟面试系统</a:t>
            </a:r>
          </a:p>
        </p:txBody>
      </p:sp>
      <p:sp>
        <p:nvSpPr>
          <p:cNvPr id="6" name="TextBox 5"/>
          <p:cNvSpPr txBox="1"/>
          <p:nvPr/>
        </p:nvSpPr>
        <p:spPr>
          <a:xfrm>
            <a:off x="713232" y="2816352"/>
            <a:ext cx="5212080" cy="329184"/>
          </a:xfrm>
          <a:prstGeom prst="rect">
            <a:avLst/>
          </a:prstGeom>
          <a:noFill/>
        </p:spPr>
        <p:txBody>
          <a:bodyPr wrap="square">
            <a:normAutofit/>
          </a:bodyPr>
          <a:lstStyle/>
          <a:p>
            <a:pPr>
              <a:defRPr sz="1500" b="0">
                <a:solidFill>
                  <a:srgbClr val="1F2937"/>
                </a:solidFill>
                <a:latin typeface="Microsoft YaHei"/>
              </a:defRPr>
            </a:pPr>
            <a:r>
              <a:t>通用多岗位 AI 模拟面试平台 + 参赛增强层</a:t>
            </a:r>
          </a:p>
        </p:txBody>
      </p:sp>
      <p:sp>
        <p:nvSpPr>
          <p:cNvPr id="7" name="Rounded Rectangle 6"/>
          <p:cNvSpPr/>
          <p:nvPr/>
        </p:nvSpPr>
        <p:spPr>
          <a:xfrm>
            <a:off x="694944" y="4169663"/>
            <a:ext cx="365760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4944" y="4169663"/>
            <a:ext cx="73152" cy="1143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315968"/>
            <a:ext cx="3364992" cy="292608"/>
          </a:xfrm>
          <a:prstGeom prst="rect">
            <a:avLst/>
          </a:prstGeom>
          <a:noFill/>
        </p:spPr>
        <p:txBody>
          <a:bodyPr wrap="square">
            <a:normAutofit/>
          </a:bodyPr>
          <a:lstStyle/>
          <a:p>
            <a:pPr>
              <a:defRPr sz="1500" b="1">
                <a:solidFill>
                  <a:srgbClr val="0F2A43"/>
                </a:solidFill>
                <a:latin typeface="Microsoft YaHei"/>
              </a:defRPr>
            </a:pPr>
            <a:r>
              <a:t>团队信息</a:t>
            </a:r>
          </a:p>
        </p:txBody>
      </p:sp>
      <p:sp>
        <p:nvSpPr>
          <p:cNvPr id="10" name="TextBox 9"/>
          <p:cNvSpPr txBox="1"/>
          <p:nvPr/>
        </p:nvSpPr>
        <p:spPr>
          <a:xfrm>
            <a:off x="859536" y="4700016"/>
            <a:ext cx="3364992" cy="502920"/>
          </a:xfrm>
          <a:prstGeom prst="rect">
            <a:avLst/>
          </a:prstGeom>
          <a:noFill/>
        </p:spPr>
        <p:txBody>
          <a:bodyPr wrap="square">
            <a:normAutofit/>
          </a:bodyPr>
          <a:lstStyle/>
          <a:p>
            <a:pPr>
              <a:defRPr sz="1100" b="0">
                <a:solidFill>
                  <a:srgbClr val="1F2937"/>
                </a:solidFill>
                <a:latin typeface="Microsoft YaHei"/>
              </a:defRPr>
            </a:pPr>
            <a:r>
              <a:t>中国劳动关系学院 · 工商管理 · 2025级</a:t>
            </a:r>
            <a:br/>
            <a:r>
              <a:t>成员：詹已誉、蔡雨旋、沈昱彤</a:t>
            </a:r>
            <a:br/>
            <a:r>
              <a:t>指导老师：暂不填</a:t>
            </a:r>
          </a:p>
        </p:txBody>
      </p:sp>
      <p:sp>
        <p:nvSpPr>
          <p:cNvPr id="11" name="Rounded Rectangle 10"/>
          <p:cNvSpPr/>
          <p:nvPr/>
        </p:nvSpPr>
        <p:spPr>
          <a:xfrm>
            <a:off x="4590288" y="4169663"/>
            <a:ext cx="475488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90288" y="4169663"/>
            <a:ext cx="73152" cy="1143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79" y="4315968"/>
            <a:ext cx="4462272" cy="292608"/>
          </a:xfrm>
          <a:prstGeom prst="rect">
            <a:avLst/>
          </a:prstGeom>
          <a:noFill/>
        </p:spPr>
        <p:txBody>
          <a:bodyPr wrap="square">
            <a:normAutofit/>
          </a:bodyPr>
          <a:lstStyle/>
          <a:p>
            <a:pPr>
              <a:defRPr sz="1500" b="1">
                <a:solidFill>
                  <a:srgbClr val="0F2A43"/>
                </a:solidFill>
                <a:latin typeface="Microsoft YaHei"/>
              </a:defRPr>
            </a:pPr>
            <a:r>
              <a:t>答辩边界</a:t>
            </a:r>
          </a:p>
        </p:txBody>
      </p:sp>
      <p:sp>
        <p:nvSpPr>
          <p:cNvPr id="14" name="TextBox 13"/>
          <p:cNvSpPr txBox="1"/>
          <p:nvPr/>
        </p:nvSpPr>
        <p:spPr>
          <a:xfrm>
            <a:off x="4754879" y="4700016"/>
            <a:ext cx="4462272" cy="502920"/>
          </a:xfrm>
          <a:prstGeom prst="rect">
            <a:avLst/>
          </a:prstGeom>
          <a:noFill/>
        </p:spPr>
        <p:txBody>
          <a:bodyPr wrap="square">
            <a:normAutofit/>
          </a:bodyPr>
          <a:lstStyle/>
          <a:p>
            <a:pPr>
              <a:defRPr sz="1100" b="0">
                <a:solidFill>
                  <a:srgbClr val="1F2937"/>
                </a:solidFill>
                <a:latin typeface="Microsoft YaHei"/>
              </a:defRPr>
            </a:pPr>
            <a:r>
              <a:t>不宣称自研大模型，不宣称真实微调已上线；重点展示岗位画像、轻量匹配、证据追问、后台评测闭环。</a:t>
            </a:r>
          </a:p>
        </p:txBody>
      </p:sp>
      <p:sp>
        <p:nvSpPr>
          <p:cNvPr id="15" name="TextBox 14"/>
          <p:cNvSpPr txBox="1"/>
          <p:nvPr/>
        </p:nvSpPr>
        <p:spPr>
          <a:xfrm>
            <a:off x="9738360" y="6446520"/>
            <a:ext cx="1920240" cy="228600"/>
          </a:xfrm>
          <a:prstGeom prst="rect">
            <a:avLst/>
          </a:prstGeom>
          <a:noFill/>
        </p:spPr>
        <p:txBody>
          <a:bodyPr wrap="square">
            <a:normAutofit/>
          </a:bodyPr>
          <a:lstStyle/>
          <a:p>
            <a:pPr algn="r">
              <a:defRPr sz="900" b="0">
                <a:solidFill>
                  <a:srgbClr val="64748B"/>
                </a:solidFill>
                <a:latin typeface="Microsoft YaHei"/>
              </a:defRPr>
            </a:pPr>
            <a:r>
              <a:t>职启智评 初赛答辩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84048"/>
            <a:ext cx="8961120" cy="530352"/>
          </a:xfrm>
          <a:prstGeom prst="rect">
            <a:avLst/>
          </a:prstGeom>
          <a:noFill/>
        </p:spPr>
        <p:txBody>
          <a:bodyPr wrap="square">
            <a:normAutofit/>
          </a:bodyPr>
          <a:lstStyle/>
          <a:p>
            <a:pPr>
              <a:defRPr sz="2800" b="1">
                <a:solidFill>
                  <a:srgbClr val="0F2A43"/>
                </a:solidFill>
                <a:latin typeface="Microsoft YaHei"/>
              </a:defRPr>
            </a:pPr>
            <a:r>
              <a:t>1. 问题与定位</a:t>
            </a:r>
          </a:p>
        </p:txBody>
      </p:sp>
      <p:sp>
        <p:nvSpPr>
          <p:cNvPr id="3" name="TextBox 2"/>
          <p:cNvSpPr txBox="1"/>
          <p:nvPr/>
        </p:nvSpPr>
        <p:spPr>
          <a:xfrm>
            <a:off x="603504" y="941832"/>
            <a:ext cx="9326880" cy="292608"/>
          </a:xfrm>
          <a:prstGeom prst="rect">
            <a:avLst/>
          </a:prstGeom>
          <a:noFill/>
        </p:spPr>
        <p:txBody>
          <a:bodyPr wrap="square">
            <a:normAutofit/>
          </a:bodyPr>
          <a:lstStyle/>
          <a:p>
            <a:pPr>
              <a:defRPr sz="1200" b="0">
                <a:solidFill>
                  <a:srgbClr val="64748B"/>
                </a:solidFill>
                <a:latin typeface="Microsoft YaHei"/>
              </a:defRPr>
            </a:pPr>
            <a:r>
              <a:t>从“会聊天”升级为“按岗位训练、可复核评分”的求职面试系统</a:t>
            </a:r>
          </a:p>
        </p:txBody>
      </p:sp>
      <p:sp>
        <p:nvSpPr>
          <p:cNvPr id="4" name="Rectangle 3"/>
          <p:cNvSpPr/>
          <p:nvPr/>
        </p:nvSpPr>
        <p:spPr>
          <a:xfrm>
            <a:off x="594360" y="1298448"/>
            <a:ext cx="182880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645920"/>
            <a:ext cx="3246120" cy="3429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45920"/>
            <a:ext cx="73152" cy="342900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92224"/>
            <a:ext cx="2953512" cy="292608"/>
          </a:xfrm>
          <a:prstGeom prst="rect">
            <a:avLst/>
          </a:prstGeom>
          <a:noFill/>
        </p:spPr>
        <p:txBody>
          <a:bodyPr wrap="square">
            <a:normAutofit/>
          </a:bodyPr>
          <a:lstStyle/>
          <a:p>
            <a:pPr>
              <a:defRPr sz="1600" b="1">
                <a:solidFill>
                  <a:srgbClr val="0F2A43"/>
                </a:solidFill>
                <a:latin typeface="Microsoft YaHei"/>
              </a:defRPr>
            </a:pPr>
            <a:r>
              <a:t>大学生求职痛点</a:t>
            </a:r>
          </a:p>
        </p:txBody>
      </p:sp>
      <p:sp>
        <p:nvSpPr>
          <p:cNvPr id="8" name="TextBox 7"/>
          <p:cNvSpPr txBox="1"/>
          <p:nvPr/>
        </p:nvSpPr>
        <p:spPr>
          <a:xfrm>
            <a:off x="822959" y="2176272"/>
            <a:ext cx="2953512" cy="2788920"/>
          </a:xfrm>
          <a:prstGeom prst="rect">
            <a:avLst/>
          </a:prstGeom>
          <a:noFill/>
        </p:spPr>
        <p:txBody>
          <a:bodyPr wrap="square">
            <a:normAutofit/>
          </a:bodyPr>
          <a:lstStyle/>
          <a:p>
            <a:pPr>
              <a:defRPr sz="1500" b="0">
                <a:solidFill>
                  <a:srgbClr val="1F2937"/>
                </a:solidFill>
                <a:latin typeface="Microsoft YaHei"/>
              </a:defRPr>
            </a:pPr>
            <a:r>
              <a:t>简历经历表达空泛</a:t>
            </a:r>
            <a:br/>
            <a:r>
              <a:t>岗位目标不清，训练不聚焦</a:t>
            </a:r>
            <a:br/>
            <a:r>
              <a:t>面试回答缺少证据</a:t>
            </a:r>
            <a:br/>
            <a:r>
              <a:t>缺少可复盘的改进报告</a:t>
            </a:r>
          </a:p>
        </p:txBody>
      </p:sp>
      <p:sp>
        <p:nvSpPr>
          <p:cNvPr id="9" name="Rounded Rectangle 8"/>
          <p:cNvSpPr/>
          <p:nvPr/>
        </p:nvSpPr>
        <p:spPr>
          <a:xfrm>
            <a:off x="4343400" y="1645920"/>
            <a:ext cx="3246120" cy="3429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645920"/>
            <a:ext cx="73152" cy="3429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1792224"/>
            <a:ext cx="2953512" cy="292608"/>
          </a:xfrm>
          <a:prstGeom prst="rect">
            <a:avLst/>
          </a:prstGeom>
          <a:noFill/>
        </p:spPr>
        <p:txBody>
          <a:bodyPr wrap="square">
            <a:normAutofit/>
          </a:bodyPr>
          <a:lstStyle/>
          <a:p>
            <a:pPr>
              <a:defRPr sz="1600" b="1">
                <a:solidFill>
                  <a:srgbClr val="0F2A43"/>
                </a:solidFill>
                <a:latin typeface="Microsoft YaHei"/>
              </a:defRPr>
            </a:pPr>
            <a:r>
              <a:t>系统定位</a:t>
            </a:r>
          </a:p>
        </p:txBody>
      </p:sp>
      <p:sp>
        <p:nvSpPr>
          <p:cNvPr id="12" name="TextBox 11"/>
          <p:cNvSpPr txBox="1"/>
          <p:nvPr/>
        </p:nvSpPr>
        <p:spPr>
          <a:xfrm>
            <a:off x="4507992" y="2176272"/>
            <a:ext cx="2953512" cy="2788920"/>
          </a:xfrm>
          <a:prstGeom prst="rect">
            <a:avLst/>
          </a:prstGeom>
          <a:noFill/>
        </p:spPr>
        <p:txBody>
          <a:bodyPr wrap="square">
            <a:normAutofit/>
          </a:bodyPr>
          <a:lstStyle/>
          <a:p>
            <a:pPr>
              <a:defRPr sz="1500" b="0">
                <a:solidFill>
                  <a:srgbClr val="1F2937"/>
                </a:solidFill>
                <a:latin typeface="Microsoft YaHei"/>
              </a:defRPr>
            </a:pPr>
            <a:r>
              <a:t>保留原有多岗位面试生态</a:t>
            </a:r>
            <a:br/>
            <a:r>
              <a:t>用户仍可自由输入目标岗位</a:t>
            </a:r>
            <a:br/>
            <a:r>
              <a:t>新增职启智评参赛增强层</a:t>
            </a:r>
            <a:br/>
            <a:r>
              <a:t>后台展示岗位画像与评测数据</a:t>
            </a:r>
          </a:p>
        </p:txBody>
      </p:sp>
      <p:sp>
        <p:nvSpPr>
          <p:cNvPr id="13" name="Rounded Rectangle 12"/>
          <p:cNvSpPr/>
          <p:nvPr/>
        </p:nvSpPr>
        <p:spPr>
          <a:xfrm>
            <a:off x="8028431" y="1645920"/>
            <a:ext cx="3246120" cy="3429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28431" y="1645920"/>
            <a:ext cx="73152" cy="3429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93023" y="1792224"/>
            <a:ext cx="2953512" cy="292608"/>
          </a:xfrm>
          <a:prstGeom prst="rect">
            <a:avLst/>
          </a:prstGeom>
          <a:noFill/>
        </p:spPr>
        <p:txBody>
          <a:bodyPr wrap="square">
            <a:normAutofit/>
          </a:bodyPr>
          <a:lstStyle/>
          <a:p>
            <a:pPr>
              <a:defRPr sz="1600" b="1">
                <a:solidFill>
                  <a:srgbClr val="0F2A43"/>
                </a:solidFill>
                <a:latin typeface="Microsoft YaHei"/>
              </a:defRPr>
            </a:pPr>
            <a:r>
              <a:t>今晚演示重点</a:t>
            </a:r>
          </a:p>
        </p:txBody>
      </p:sp>
      <p:sp>
        <p:nvSpPr>
          <p:cNvPr id="16" name="TextBox 15"/>
          <p:cNvSpPr txBox="1"/>
          <p:nvPr/>
        </p:nvSpPr>
        <p:spPr>
          <a:xfrm>
            <a:off x="8193023" y="2176272"/>
            <a:ext cx="2953512" cy="2788920"/>
          </a:xfrm>
          <a:prstGeom prst="rect">
            <a:avLst/>
          </a:prstGeom>
          <a:noFill/>
        </p:spPr>
        <p:txBody>
          <a:bodyPr wrap="square">
            <a:normAutofit/>
          </a:bodyPr>
          <a:lstStyle/>
          <a:p>
            <a:pPr>
              <a:defRPr sz="1500" b="0">
                <a:solidFill>
                  <a:srgbClr val="1F2937"/>
                </a:solidFill>
                <a:latin typeface="Microsoft YaHei"/>
              </a:defRPr>
            </a:pPr>
            <a:r>
              <a:t>用户端：工作台 + 新建面试</a:t>
            </a:r>
            <a:br/>
            <a:r>
              <a:t>后台端：可编辑岗位画像</a:t>
            </a:r>
            <a:br/>
            <a:r>
              <a:t>测评样本：空态/错误清晰</a:t>
            </a:r>
            <a:br/>
            <a:r>
              <a:t>答辩：说清技术和边界</a:t>
            </a:r>
          </a:p>
        </p:txBody>
      </p:sp>
      <p:sp>
        <p:nvSpPr>
          <p:cNvPr id="17" name="TextBox 16"/>
          <p:cNvSpPr txBox="1"/>
          <p:nvPr/>
        </p:nvSpPr>
        <p:spPr>
          <a:xfrm>
            <a:off x="9738360" y="6446520"/>
            <a:ext cx="1920240" cy="228600"/>
          </a:xfrm>
          <a:prstGeom prst="rect">
            <a:avLst/>
          </a:prstGeom>
          <a:noFill/>
        </p:spPr>
        <p:txBody>
          <a:bodyPr wrap="square">
            <a:normAutofit/>
          </a:bodyPr>
          <a:lstStyle/>
          <a:p>
            <a:pPr algn="r">
              <a:defRPr sz="900" b="0">
                <a:solidFill>
                  <a:srgbClr val="64748B"/>
                </a:solidFill>
                <a:latin typeface="Microsoft YaHei"/>
              </a:defRPr>
            </a:pPr>
            <a:r>
              <a:t>职启智评 初赛答辩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84048"/>
            <a:ext cx="8961120" cy="530352"/>
          </a:xfrm>
          <a:prstGeom prst="rect">
            <a:avLst/>
          </a:prstGeom>
          <a:noFill/>
        </p:spPr>
        <p:txBody>
          <a:bodyPr wrap="square">
            <a:normAutofit/>
          </a:bodyPr>
          <a:lstStyle/>
          <a:p>
            <a:pPr>
              <a:defRPr sz="2800" b="1">
                <a:solidFill>
                  <a:srgbClr val="0F2A43"/>
                </a:solidFill>
                <a:latin typeface="Microsoft YaHei"/>
              </a:defRPr>
            </a:pPr>
            <a:r>
              <a:t>2. 系统闭环</a:t>
            </a:r>
          </a:p>
        </p:txBody>
      </p:sp>
      <p:sp>
        <p:nvSpPr>
          <p:cNvPr id="3" name="TextBox 2"/>
          <p:cNvSpPr txBox="1"/>
          <p:nvPr/>
        </p:nvSpPr>
        <p:spPr>
          <a:xfrm>
            <a:off x="603504" y="941832"/>
            <a:ext cx="9326880" cy="292608"/>
          </a:xfrm>
          <a:prstGeom prst="rect">
            <a:avLst/>
          </a:prstGeom>
          <a:noFill/>
        </p:spPr>
        <p:txBody>
          <a:bodyPr wrap="square">
            <a:normAutofit/>
          </a:bodyPr>
          <a:lstStyle/>
          <a:p>
            <a:pPr>
              <a:defRPr sz="1200" b="0">
                <a:solidFill>
                  <a:srgbClr val="64748B"/>
                </a:solidFill>
                <a:latin typeface="Microsoft YaHei"/>
              </a:defRPr>
            </a:pPr>
            <a:r>
              <a:t>简历、岗位画像、面试追问、报告与人工评分形成闭环</a:t>
            </a:r>
          </a:p>
        </p:txBody>
      </p:sp>
      <p:sp>
        <p:nvSpPr>
          <p:cNvPr id="4" name="Rectangle 3"/>
          <p:cNvSpPr/>
          <p:nvPr/>
        </p:nvSpPr>
        <p:spPr>
          <a:xfrm>
            <a:off x="594360" y="1298448"/>
            <a:ext cx="182880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2331720"/>
            <a:ext cx="1481328" cy="786384"/>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331720"/>
            <a:ext cx="73152" cy="786384"/>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78024"/>
            <a:ext cx="1188720" cy="292608"/>
          </a:xfrm>
          <a:prstGeom prst="rect">
            <a:avLst/>
          </a:prstGeom>
          <a:noFill/>
        </p:spPr>
        <p:txBody>
          <a:bodyPr wrap="square">
            <a:normAutofit/>
          </a:bodyPr>
          <a:lstStyle/>
          <a:p>
            <a:pPr>
              <a:defRPr sz="1300" b="1">
                <a:solidFill>
                  <a:srgbClr val="0F2A43"/>
                </a:solidFill>
                <a:latin typeface="Microsoft YaHei"/>
              </a:defRPr>
            </a:pPr>
            <a:r>
              <a:t>上传简历</a:t>
            </a:r>
          </a:p>
        </p:txBody>
      </p:sp>
      <p:cxnSp>
        <p:nvCxnSpPr>
          <p:cNvPr id="8" name="Connector 7"/>
          <p:cNvCxnSpPr/>
          <p:nvPr/>
        </p:nvCxnSpPr>
        <p:spPr>
          <a:xfrm>
            <a:off x="2167128" y="2724912"/>
            <a:ext cx="356616"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51760" y="2331720"/>
            <a:ext cx="1481328" cy="786384"/>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51760" y="2331720"/>
            <a:ext cx="73152" cy="786384"/>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16352" y="2478024"/>
            <a:ext cx="1188720" cy="292608"/>
          </a:xfrm>
          <a:prstGeom prst="rect">
            <a:avLst/>
          </a:prstGeom>
          <a:noFill/>
        </p:spPr>
        <p:txBody>
          <a:bodyPr wrap="square">
            <a:normAutofit/>
          </a:bodyPr>
          <a:lstStyle/>
          <a:p>
            <a:pPr>
              <a:defRPr sz="1300" b="1">
                <a:solidFill>
                  <a:srgbClr val="0F2A43"/>
                </a:solidFill>
                <a:latin typeface="Microsoft YaHei"/>
              </a:defRPr>
            </a:pPr>
            <a:r>
              <a:t>选择岗位画像</a:t>
            </a:r>
          </a:p>
        </p:txBody>
      </p:sp>
      <p:cxnSp>
        <p:nvCxnSpPr>
          <p:cNvPr id="12" name="Connector 11"/>
          <p:cNvCxnSpPr/>
          <p:nvPr/>
        </p:nvCxnSpPr>
        <p:spPr>
          <a:xfrm>
            <a:off x="4160520" y="2724912"/>
            <a:ext cx="356616"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45152" y="2331720"/>
            <a:ext cx="1481328" cy="786384"/>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45152" y="2331720"/>
            <a:ext cx="73152" cy="786384"/>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9744" y="2478024"/>
            <a:ext cx="1188720" cy="292608"/>
          </a:xfrm>
          <a:prstGeom prst="rect">
            <a:avLst/>
          </a:prstGeom>
          <a:noFill/>
        </p:spPr>
        <p:txBody>
          <a:bodyPr wrap="square">
            <a:normAutofit/>
          </a:bodyPr>
          <a:lstStyle/>
          <a:p>
            <a:pPr>
              <a:defRPr sz="1300" b="1">
                <a:solidFill>
                  <a:srgbClr val="0F2A43"/>
                </a:solidFill>
                <a:latin typeface="Microsoft YaHei"/>
              </a:defRPr>
            </a:pPr>
            <a:r>
              <a:t>模拟面试</a:t>
            </a:r>
          </a:p>
        </p:txBody>
      </p:sp>
      <p:cxnSp>
        <p:nvCxnSpPr>
          <p:cNvPr id="16" name="Connector 15"/>
          <p:cNvCxnSpPr/>
          <p:nvPr/>
        </p:nvCxnSpPr>
        <p:spPr>
          <a:xfrm>
            <a:off x="6153912" y="2724912"/>
            <a:ext cx="356616"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38544" y="2331720"/>
            <a:ext cx="1481328" cy="786384"/>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38544" y="2331720"/>
            <a:ext cx="73152" cy="786384"/>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2478024"/>
            <a:ext cx="1188720" cy="292608"/>
          </a:xfrm>
          <a:prstGeom prst="rect">
            <a:avLst/>
          </a:prstGeom>
          <a:noFill/>
        </p:spPr>
        <p:txBody>
          <a:bodyPr wrap="square">
            <a:normAutofit/>
          </a:bodyPr>
          <a:lstStyle/>
          <a:p>
            <a:pPr>
              <a:defRPr sz="1300" b="1">
                <a:solidFill>
                  <a:srgbClr val="0F2A43"/>
                </a:solidFill>
                <a:latin typeface="Microsoft YaHei"/>
              </a:defRPr>
            </a:pPr>
            <a:r>
              <a:t>能力报告</a:t>
            </a:r>
          </a:p>
        </p:txBody>
      </p:sp>
      <p:cxnSp>
        <p:nvCxnSpPr>
          <p:cNvPr id="20" name="Connector 19"/>
          <p:cNvCxnSpPr/>
          <p:nvPr/>
        </p:nvCxnSpPr>
        <p:spPr>
          <a:xfrm>
            <a:off x="8147304" y="2724912"/>
            <a:ext cx="356615"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631936" y="2331720"/>
            <a:ext cx="1481328" cy="786384"/>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31936" y="2331720"/>
            <a:ext cx="73152" cy="786384"/>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96528" y="2478024"/>
            <a:ext cx="1188720" cy="292608"/>
          </a:xfrm>
          <a:prstGeom prst="rect">
            <a:avLst/>
          </a:prstGeom>
          <a:noFill/>
        </p:spPr>
        <p:txBody>
          <a:bodyPr wrap="square">
            <a:normAutofit/>
          </a:bodyPr>
          <a:lstStyle/>
          <a:p>
            <a:pPr>
              <a:defRPr sz="1300" b="1">
                <a:solidFill>
                  <a:srgbClr val="0F2A43"/>
                </a:solidFill>
                <a:latin typeface="Microsoft YaHei"/>
              </a:defRPr>
            </a:pPr>
            <a:r>
              <a:t>后台复核</a:t>
            </a:r>
          </a:p>
        </p:txBody>
      </p:sp>
      <p:sp>
        <p:nvSpPr>
          <p:cNvPr id="24" name="Rounded Rectangle 23"/>
          <p:cNvSpPr/>
          <p:nvPr/>
        </p:nvSpPr>
        <p:spPr>
          <a:xfrm>
            <a:off x="658368" y="3886200"/>
            <a:ext cx="333756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886200"/>
            <a:ext cx="73152" cy="1234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032504"/>
            <a:ext cx="3044952" cy="292608"/>
          </a:xfrm>
          <a:prstGeom prst="rect">
            <a:avLst/>
          </a:prstGeom>
          <a:noFill/>
        </p:spPr>
        <p:txBody>
          <a:bodyPr wrap="square">
            <a:normAutofit/>
          </a:bodyPr>
          <a:lstStyle/>
          <a:p>
            <a:pPr>
              <a:defRPr sz="1500" b="1">
                <a:solidFill>
                  <a:srgbClr val="0F2A43"/>
                </a:solidFill>
                <a:latin typeface="Microsoft YaHei"/>
              </a:defRPr>
            </a:pPr>
            <a:r>
              <a:t>用户侧</a:t>
            </a:r>
          </a:p>
        </p:txBody>
      </p:sp>
      <p:sp>
        <p:nvSpPr>
          <p:cNvPr id="27" name="TextBox 26"/>
          <p:cNvSpPr txBox="1"/>
          <p:nvPr/>
        </p:nvSpPr>
        <p:spPr>
          <a:xfrm>
            <a:off x="822959" y="4416552"/>
            <a:ext cx="3044952" cy="594360"/>
          </a:xfrm>
          <a:prstGeom prst="rect">
            <a:avLst/>
          </a:prstGeom>
          <a:noFill/>
        </p:spPr>
        <p:txBody>
          <a:bodyPr wrap="square">
            <a:normAutofit/>
          </a:bodyPr>
          <a:lstStyle/>
          <a:p>
            <a:pPr>
              <a:defRPr sz="1100" b="0">
                <a:solidFill>
                  <a:srgbClr val="1F2937"/>
                </a:solidFill>
                <a:latin typeface="Microsoft YaHei"/>
              </a:defRPr>
            </a:pPr>
            <a:r>
              <a:t>完成简历解析、目标岗位选择、面试训练与报告查看。上传简历本身不等于生成面试记录。</a:t>
            </a:r>
          </a:p>
        </p:txBody>
      </p:sp>
      <p:sp>
        <p:nvSpPr>
          <p:cNvPr id="28" name="Rounded Rectangle 27"/>
          <p:cNvSpPr/>
          <p:nvPr/>
        </p:nvSpPr>
        <p:spPr>
          <a:xfrm>
            <a:off x="4407408" y="3886200"/>
            <a:ext cx="333756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07408" y="3886200"/>
            <a:ext cx="73152" cy="1234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0" y="4032504"/>
            <a:ext cx="3044952" cy="292608"/>
          </a:xfrm>
          <a:prstGeom prst="rect">
            <a:avLst/>
          </a:prstGeom>
          <a:noFill/>
        </p:spPr>
        <p:txBody>
          <a:bodyPr wrap="square">
            <a:normAutofit/>
          </a:bodyPr>
          <a:lstStyle/>
          <a:p>
            <a:pPr>
              <a:defRPr sz="1500" b="1">
                <a:solidFill>
                  <a:srgbClr val="0F2A43"/>
                </a:solidFill>
                <a:latin typeface="Microsoft YaHei"/>
              </a:defRPr>
            </a:pPr>
            <a:r>
              <a:t>后台侧</a:t>
            </a:r>
          </a:p>
        </p:txBody>
      </p:sp>
      <p:sp>
        <p:nvSpPr>
          <p:cNvPr id="31" name="TextBox 30"/>
          <p:cNvSpPr txBox="1"/>
          <p:nvPr/>
        </p:nvSpPr>
        <p:spPr>
          <a:xfrm>
            <a:off x="4572000" y="4416552"/>
            <a:ext cx="3044952" cy="594360"/>
          </a:xfrm>
          <a:prstGeom prst="rect">
            <a:avLst/>
          </a:prstGeom>
          <a:noFill/>
        </p:spPr>
        <p:txBody>
          <a:bodyPr wrap="square">
            <a:normAutofit/>
          </a:bodyPr>
          <a:lstStyle/>
          <a:p>
            <a:pPr>
              <a:defRPr sz="1100" b="0">
                <a:solidFill>
                  <a:srgbClr val="1F2937"/>
                </a:solidFill>
                <a:latin typeface="Microsoft YaHei"/>
              </a:defRPr>
            </a:pPr>
            <a:r>
              <a:t>维护公共岗位画像、查看切片、复核面试记录、导出评测样本。</a:t>
            </a:r>
          </a:p>
        </p:txBody>
      </p:sp>
      <p:sp>
        <p:nvSpPr>
          <p:cNvPr id="32" name="Rounded Rectangle 31"/>
          <p:cNvSpPr/>
          <p:nvPr/>
        </p:nvSpPr>
        <p:spPr>
          <a:xfrm>
            <a:off x="8156448" y="3886200"/>
            <a:ext cx="2816352"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6448" y="3886200"/>
            <a:ext cx="73152" cy="123444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4032504"/>
            <a:ext cx="2523744" cy="292608"/>
          </a:xfrm>
          <a:prstGeom prst="rect">
            <a:avLst/>
          </a:prstGeom>
          <a:noFill/>
        </p:spPr>
        <p:txBody>
          <a:bodyPr wrap="square">
            <a:normAutofit/>
          </a:bodyPr>
          <a:lstStyle/>
          <a:p>
            <a:pPr>
              <a:defRPr sz="1500" b="1">
                <a:solidFill>
                  <a:srgbClr val="0F2A43"/>
                </a:solidFill>
                <a:latin typeface="Microsoft YaHei"/>
              </a:defRPr>
            </a:pPr>
            <a:r>
              <a:t>验证侧</a:t>
            </a:r>
          </a:p>
        </p:txBody>
      </p:sp>
      <p:sp>
        <p:nvSpPr>
          <p:cNvPr id="35" name="TextBox 34"/>
          <p:cNvSpPr txBox="1"/>
          <p:nvPr/>
        </p:nvSpPr>
        <p:spPr>
          <a:xfrm>
            <a:off x="8321040" y="4416552"/>
            <a:ext cx="2523744" cy="594360"/>
          </a:xfrm>
          <a:prstGeom prst="rect">
            <a:avLst/>
          </a:prstGeom>
          <a:noFill/>
        </p:spPr>
        <p:txBody>
          <a:bodyPr wrap="square">
            <a:normAutofit/>
          </a:bodyPr>
          <a:lstStyle/>
          <a:p>
            <a:pPr>
              <a:defRPr sz="1100" b="0">
                <a:solidFill>
                  <a:srgbClr val="1F2937"/>
                </a:solidFill>
                <a:latin typeface="Microsoft YaHei"/>
              </a:defRPr>
            </a:pPr>
            <a:r>
              <a:t>AI 评分与人工评分对比，积累后续微调准备数据。</a:t>
            </a:r>
          </a:p>
        </p:txBody>
      </p:sp>
      <p:sp>
        <p:nvSpPr>
          <p:cNvPr id="36" name="TextBox 35"/>
          <p:cNvSpPr txBox="1"/>
          <p:nvPr/>
        </p:nvSpPr>
        <p:spPr>
          <a:xfrm>
            <a:off x="9738360" y="6446520"/>
            <a:ext cx="1920240" cy="228600"/>
          </a:xfrm>
          <a:prstGeom prst="rect">
            <a:avLst/>
          </a:prstGeom>
          <a:noFill/>
        </p:spPr>
        <p:txBody>
          <a:bodyPr wrap="square">
            <a:normAutofit/>
          </a:bodyPr>
          <a:lstStyle/>
          <a:p>
            <a:pPr algn="r">
              <a:defRPr sz="900" b="0">
                <a:solidFill>
                  <a:srgbClr val="64748B"/>
                </a:solidFill>
                <a:latin typeface="Microsoft YaHei"/>
              </a:defRPr>
            </a:pPr>
            <a:r>
              <a:t>职启智评 初赛答辩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84048"/>
            <a:ext cx="8961120" cy="530352"/>
          </a:xfrm>
          <a:prstGeom prst="rect">
            <a:avLst/>
          </a:prstGeom>
          <a:noFill/>
        </p:spPr>
        <p:txBody>
          <a:bodyPr wrap="square">
            <a:normAutofit/>
          </a:bodyPr>
          <a:lstStyle/>
          <a:p>
            <a:pPr>
              <a:defRPr sz="2800" b="1">
                <a:solidFill>
                  <a:srgbClr val="0F2A43"/>
                </a:solidFill>
                <a:latin typeface="Microsoft YaHei"/>
              </a:defRPr>
            </a:pPr>
            <a:r>
              <a:t>3. 用户端调整</a:t>
            </a:r>
          </a:p>
        </p:txBody>
      </p:sp>
      <p:sp>
        <p:nvSpPr>
          <p:cNvPr id="3" name="TextBox 2"/>
          <p:cNvSpPr txBox="1"/>
          <p:nvPr/>
        </p:nvSpPr>
        <p:spPr>
          <a:xfrm>
            <a:off x="603504" y="941832"/>
            <a:ext cx="9326880" cy="292608"/>
          </a:xfrm>
          <a:prstGeom prst="rect">
            <a:avLst/>
          </a:prstGeom>
          <a:noFill/>
        </p:spPr>
        <p:txBody>
          <a:bodyPr wrap="square">
            <a:normAutofit/>
          </a:bodyPr>
          <a:lstStyle/>
          <a:p>
            <a:pPr>
              <a:defRPr sz="1200" b="0">
                <a:solidFill>
                  <a:srgbClr val="64748B"/>
                </a:solidFill>
                <a:latin typeface="Microsoft YaHei"/>
              </a:defRPr>
            </a:pPr>
            <a:r>
              <a:t>去掉重复入口，保留清晰主流程</a:t>
            </a:r>
          </a:p>
        </p:txBody>
      </p:sp>
      <p:sp>
        <p:nvSpPr>
          <p:cNvPr id="4" name="Rectangle 3"/>
          <p:cNvSpPr/>
          <p:nvPr/>
        </p:nvSpPr>
        <p:spPr>
          <a:xfrm>
            <a:off x="594360" y="1298448"/>
            <a:ext cx="182880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572768"/>
            <a:ext cx="3474720" cy="3749039"/>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73152" cy="3749039"/>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19072"/>
            <a:ext cx="3182112" cy="292608"/>
          </a:xfrm>
          <a:prstGeom prst="rect">
            <a:avLst/>
          </a:prstGeom>
          <a:noFill/>
        </p:spPr>
        <p:txBody>
          <a:bodyPr wrap="square">
            <a:normAutofit/>
          </a:bodyPr>
          <a:lstStyle/>
          <a:p>
            <a:pPr>
              <a:defRPr sz="1600" b="1">
                <a:solidFill>
                  <a:srgbClr val="0F2A43"/>
                </a:solidFill>
                <a:latin typeface="Microsoft YaHei"/>
              </a:defRPr>
            </a:pPr>
            <a:r>
              <a:t>改造前问题</a:t>
            </a:r>
          </a:p>
        </p:txBody>
      </p:sp>
      <p:sp>
        <p:nvSpPr>
          <p:cNvPr id="8" name="TextBox 7"/>
          <p:cNvSpPr txBox="1"/>
          <p:nvPr/>
        </p:nvSpPr>
        <p:spPr>
          <a:xfrm>
            <a:off x="822959" y="2103120"/>
            <a:ext cx="3182112" cy="3108959"/>
          </a:xfrm>
          <a:prstGeom prst="rect">
            <a:avLst/>
          </a:prstGeom>
          <a:noFill/>
        </p:spPr>
        <p:txBody>
          <a:bodyPr wrap="square">
            <a:normAutofit/>
          </a:bodyPr>
          <a:lstStyle/>
          <a:p>
            <a:pPr>
              <a:defRPr sz="1400" b="0">
                <a:solidFill>
                  <a:srgbClr val="1F2937"/>
                </a:solidFill>
                <a:latin typeface="Microsoft YaHei"/>
              </a:defRPr>
            </a:pPr>
            <a:r>
              <a:t>工作台、简历分析、参赛演示职责混在一起；固定演示页放在用户端，容易让评委误以为是静态展示。</a:t>
            </a:r>
          </a:p>
        </p:txBody>
      </p:sp>
      <p:sp>
        <p:nvSpPr>
          <p:cNvPr id="9" name="Rounded Rectangle 8"/>
          <p:cNvSpPr/>
          <p:nvPr/>
        </p:nvSpPr>
        <p:spPr>
          <a:xfrm>
            <a:off x="4407408" y="1572768"/>
            <a:ext cx="3474720" cy="3749039"/>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07408" y="1572768"/>
            <a:ext cx="73152" cy="3749039"/>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719072"/>
            <a:ext cx="3182112" cy="292608"/>
          </a:xfrm>
          <a:prstGeom prst="rect">
            <a:avLst/>
          </a:prstGeom>
          <a:noFill/>
        </p:spPr>
        <p:txBody>
          <a:bodyPr wrap="square">
            <a:normAutofit/>
          </a:bodyPr>
          <a:lstStyle/>
          <a:p>
            <a:pPr>
              <a:defRPr sz="1600" b="1">
                <a:solidFill>
                  <a:srgbClr val="0F2A43"/>
                </a:solidFill>
                <a:latin typeface="Microsoft YaHei"/>
              </a:defRPr>
            </a:pPr>
            <a:r>
              <a:t>当前修复</a:t>
            </a:r>
          </a:p>
        </p:txBody>
      </p:sp>
      <p:sp>
        <p:nvSpPr>
          <p:cNvPr id="12" name="TextBox 11"/>
          <p:cNvSpPr txBox="1"/>
          <p:nvPr/>
        </p:nvSpPr>
        <p:spPr>
          <a:xfrm>
            <a:off x="4572000" y="2103120"/>
            <a:ext cx="3182112" cy="3108959"/>
          </a:xfrm>
          <a:prstGeom prst="rect">
            <a:avLst/>
          </a:prstGeom>
          <a:noFill/>
        </p:spPr>
        <p:txBody>
          <a:bodyPr wrap="square">
            <a:normAutofit/>
          </a:bodyPr>
          <a:lstStyle/>
          <a:p>
            <a:pPr>
              <a:defRPr sz="1400" b="0">
                <a:solidFill>
                  <a:srgbClr val="1F2937"/>
                </a:solidFill>
                <a:latin typeface="Microsoft YaHei"/>
              </a:defRPr>
            </a:pPr>
            <a:r>
              <a:t>顶部移除“参赛演示”入口；“简历分析”改为“新建面试”；旧 /competition-demo 暂时重定向到工作台。</a:t>
            </a:r>
          </a:p>
        </p:txBody>
      </p:sp>
      <p:sp>
        <p:nvSpPr>
          <p:cNvPr id="13" name="Rounded Rectangle 12"/>
          <p:cNvSpPr/>
          <p:nvPr/>
        </p:nvSpPr>
        <p:spPr>
          <a:xfrm>
            <a:off x="8156448" y="1572768"/>
            <a:ext cx="2971800" cy="3749039"/>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56448" y="1572768"/>
            <a:ext cx="73152" cy="3749039"/>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719072"/>
            <a:ext cx="2679192" cy="292608"/>
          </a:xfrm>
          <a:prstGeom prst="rect">
            <a:avLst/>
          </a:prstGeom>
          <a:noFill/>
        </p:spPr>
        <p:txBody>
          <a:bodyPr wrap="square">
            <a:normAutofit/>
          </a:bodyPr>
          <a:lstStyle/>
          <a:p>
            <a:pPr>
              <a:defRPr sz="1600" b="1">
                <a:solidFill>
                  <a:srgbClr val="0F2A43"/>
                </a:solidFill>
                <a:latin typeface="Microsoft YaHei"/>
              </a:defRPr>
            </a:pPr>
            <a:r>
              <a:t>演示口径</a:t>
            </a:r>
          </a:p>
        </p:txBody>
      </p:sp>
      <p:sp>
        <p:nvSpPr>
          <p:cNvPr id="16" name="TextBox 15"/>
          <p:cNvSpPr txBox="1"/>
          <p:nvPr/>
        </p:nvSpPr>
        <p:spPr>
          <a:xfrm>
            <a:off x="8321040" y="2103120"/>
            <a:ext cx="2679192" cy="3108959"/>
          </a:xfrm>
          <a:prstGeom prst="rect">
            <a:avLst/>
          </a:prstGeom>
          <a:noFill/>
        </p:spPr>
        <p:txBody>
          <a:bodyPr wrap="square">
            <a:normAutofit/>
          </a:bodyPr>
          <a:lstStyle/>
          <a:p>
            <a:pPr>
              <a:defRPr sz="1400" b="0">
                <a:solidFill>
                  <a:srgbClr val="1F2937"/>
                </a:solidFill>
                <a:latin typeface="Microsoft YaHei"/>
              </a:defRPr>
            </a:pPr>
            <a:r>
              <a:t>工作台看记录；新建面试负责上传简历、选岗位画像、开始面试；只有开始面试后才进入面试记录。</a:t>
            </a:r>
          </a:p>
        </p:txBody>
      </p:sp>
      <p:sp>
        <p:nvSpPr>
          <p:cNvPr id="17" name="TextBox 16"/>
          <p:cNvSpPr txBox="1"/>
          <p:nvPr/>
        </p:nvSpPr>
        <p:spPr>
          <a:xfrm>
            <a:off x="9738360" y="6446520"/>
            <a:ext cx="1920240" cy="228600"/>
          </a:xfrm>
          <a:prstGeom prst="rect">
            <a:avLst/>
          </a:prstGeom>
          <a:noFill/>
        </p:spPr>
        <p:txBody>
          <a:bodyPr wrap="square">
            <a:normAutofit/>
          </a:bodyPr>
          <a:lstStyle/>
          <a:p>
            <a:pPr algn="r">
              <a:defRPr sz="900" b="0">
                <a:solidFill>
                  <a:srgbClr val="64748B"/>
                </a:solidFill>
                <a:latin typeface="Microsoft YaHei"/>
              </a:defRPr>
            </a:pPr>
            <a:r>
              <a:t>职启智评 初赛答辩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84048"/>
            <a:ext cx="8961120" cy="530352"/>
          </a:xfrm>
          <a:prstGeom prst="rect">
            <a:avLst/>
          </a:prstGeom>
          <a:noFill/>
        </p:spPr>
        <p:txBody>
          <a:bodyPr wrap="square">
            <a:normAutofit/>
          </a:bodyPr>
          <a:lstStyle/>
          <a:p>
            <a:pPr>
              <a:defRPr sz="2800" b="1">
                <a:solidFill>
                  <a:srgbClr val="0F2A43"/>
                </a:solidFill>
                <a:latin typeface="Microsoft YaHei"/>
              </a:defRPr>
            </a:pPr>
            <a:r>
              <a:t>4. 后台展示主场</a:t>
            </a:r>
          </a:p>
        </p:txBody>
      </p:sp>
      <p:sp>
        <p:nvSpPr>
          <p:cNvPr id="3" name="TextBox 2"/>
          <p:cNvSpPr txBox="1"/>
          <p:nvPr/>
        </p:nvSpPr>
        <p:spPr>
          <a:xfrm>
            <a:off x="603504" y="941832"/>
            <a:ext cx="9326880" cy="292608"/>
          </a:xfrm>
          <a:prstGeom prst="rect">
            <a:avLst/>
          </a:prstGeom>
          <a:noFill/>
        </p:spPr>
        <p:txBody>
          <a:bodyPr wrap="square">
            <a:normAutofit/>
          </a:bodyPr>
          <a:lstStyle/>
          <a:p>
            <a:pPr>
              <a:defRPr sz="1200" b="0">
                <a:solidFill>
                  <a:srgbClr val="64748B"/>
                </a:solidFill>
                <a:latin typeface="Microsoft YaHei"/>
              </a:defRPr>
            </a:pPr>
            <a:r>
              <a:t>参赛能力放到后台真实数据管理，而不是固定演示页</a:t>
            </a:r>
          </a:p>
        </p:txBody>
      </p:sp>
      <p:sp>
        <p:nvSpPr>
          <p:cNvPr id="4" name="Rectangle 3"/>
          <p:cNvSpPr/>
          <p:nvPr/>
        </p:nvSpPr>
        <p:spPr>
          <a:xfrm>
            <a:off x="594360" y="1298448"/>
            <a:ext cx="182880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600200"/>
            <a:ext cx="2377440" cy="10789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46504"/>
            <a:ext cx="2084832" cy="292608"/>
          </a:xfrm>
          <a:prstGeom prst="rect">
            <a:avLst/>
          </a:prstGeom>
          <a:noFill/>
        </p:spPr>
        <p:txBody>
          <a:bodyPr wrap="square">
            <a:normAutofit/>
          </a:bodyPr>
          <a:lstStyle/>
          <a:p>
            <a:pPr>
              <a:defRPr sz="1400" b="1">
                <a:solidFill>
                  <a:srgbClr val="0F2A43"/>
                </a:solidFill>
                <a:latin typeface="Microsoft YaHei"/>
              </a:defRPr>
            </a:pPr>
            <a:r>
              <a:t>岗位画像总览</a:t>
            </a:r>
          </a:p>
        </p:txBody>
      </p:sp>
      <p:sp>
        <p:nvSpPr>
          <p:cNvPr id="8" name="TextBox 7"/>
          <p:cNvSpPr txBox="1"/>
          <p:nvPr/>
        </p:nvSpPr>
        <p:spPr>
          <a:xfrm>
            <a:off x="822959" y="2130552"/>
            <a:ext cx="2084832" cy="438912"/>
          </a:xfrm>
          <a:prstGeom prst="rect">
            <a:avLst/>
          </a:prstGeom>
          <a:noFill/>
        </p:spPr>
        <p:txBody>
          <a:bodyPr wrap="square">
            <a:normAutofit/>
          </a:bodyPr>
          <a:lstStyle/>
          <a:p>
            <a:pPr>
              <a:defRPr sz="1100" b="0">
                <a:solidFill>
                  <a:srgbClr val="1F2937"/>
                </a:solidFill>
                <a:latin typeface="Microsoft YaHei"/>
              </a:defRPr>
            </a:pPr>
            <a:r>
              <a:t>总数、启用数、技术岗/非技术岗、切片数</a:t>
            </a:r>
          </a:p>
        </p:txBody>
      </p:sp>
      <p:sp>
        <p:nvSpPr>
          <p:cNvPr id="9" name="Rounded Rectangle 8"/>
          <p:cNvSpPr/>
          <p:nvPr/>
        </p:nvSpPr>
        <p:spPr>
          <a:xfrm>
            <a:off x="3246120" y="1600200"/>
            <a:ext cx="2377440" cy="10789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46120" y="1600200"/>
            <a:ext cx="73152" cy="107899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10712" y="1746504"/>
            <a:ext cx="2084832" cy="292608"/>
          </a:xfrm>
          <a:prstGeom prst="rect">
            <a:avLst/>
          </a:prstGeom>
          <a:noFill/>
        </p:spPr>
        <p:txBody>
          <a:bodyPr wrap="square">
            <a:normAutofit/>
          </a:bodyPr>
          <a:lstStyle/>
          <a:p>
            <a:pPr>
              <a:defRPr sz="1400" b="1">
                <a:solidFill>
                  <a:srgbClr val="0F2A43"/>
                </a:solidFill>
                <a:latin typeface="Microsoft YaHei"/>
              </a:defRPr>
            </a:pPr>
            <a:r>
              <a:t>画像内容</a:t>
            </a:r>
          </a:p>
        </p:txBody>
      </p:sp>
      <p:sp>
        <p:nvSpPr>
          <p:cNvPr id="12" name="TextBox 11"/>
          <p:cNvSpPr txBox="1"/>
          <p:nvPr/>
        </p:nvSpPr>
        <p:spPr>
          <a:xfrm>
            <a:off x="3410712" y="2130552"/>
            <a:ext cx="2084832" cy="438912"/>
          </a:xfrm>
          <a:prstGeom prst="rect">
            <a:avLst/>
          </a:prstGeom>
          <a:noFill/>
        </p:spPr>
        <p:txBody>
          <a:bodyPr wrap="square">
            <a:normAutofit/>
          </a:bodyPr>
          <a:lstStyle/>
          <a:p>
            <a:pPr>
              <a:defRPr sz="1100" b="0">
                <a:solidFill>
                  <a:srgbClr val="1F2937"/>
                </a:solidFill>
                <a:latin typeface="Microsoft YaHei"/>
              </a:defRPr>
            </a:pPr>
            <a:r>
              <a:t>岗位定位、能力要求、常见考察方向、题目方向</a:t>
            </a:r>
          </a:p>
        </p:txBody>
      </p:sp>
      <p:sp>
        <p:nvSpPr>
          <p:cNvPr id="13" name="Rounded Rectangle 12"/>
          <p:cNvSpPr/>
          <p:nvPr/>
        </p:nvSpPr>
        <p:spPr>
          <a:xfrm>
            <a:off x="5833872" y="1600200"/>
            <a:ext cx="2377440" cy="10789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33872" y="1600200"/>
            <a:ext cx="73152" cy="10789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98464" y="1746504"/>
            <a:ext cx="2084832" cy="292608"/>
          </a:xfrm>
          <a:prstGeom prst="rect">
            <a:avLst/>
          </a:prstGeom>
          <a:noFill/>
        </p:spPr>
        <p:txBody>
          <a:bodyPr wrap="square">
            <a:normAutofit/>
          </a:bodyPr>
          <a:lstStyle/>
          <a:p>
            <a:pPr>
              <a:defRPr sz="1400" b="1">
                <a:solidFill>
                  <a:srgbClr val="0F2A43"/>
                </a:solidFill>
                <a:latin typeface="Microsoft YaHei"/>
              </a:defRPr>
            </a:pPr>
            <a:r>
              <a:t>知识切片</a:t>
            </a:r>
          </a:p>
        </p:txBody>
      </p:sp>
      <p:sp>
        <p:nvSpPr>
          <p:cNvPr id="16" name="TextBox 15"/>
          <p:cNvSpPr txBox="1"/>
          <p:nvPr/>
        </p:nvSpPr>
        <p:spPr>
          <a:xfrm>
            <a:off x="5998464" y="2130552"/>
            <a:ext cx="2084832" cy="438912"/>
          </a:xfrm>
          <a:prstGeom prst="rect">
            <a:avLst/>
          </a:prstGeom>
          <a:noFill/>
        </p:spPr>
        <p:txBody>
          <a:bodyPr wrap="square">
            <a:normAutofit/>
          </a:bodyPr>
          <a:lstStyle/>
          <a:p>
            <a:pPr>
              <a:defRPr sz="1100" b="0">
                <a:solidFill>
                  <a:srgbClr val="1F2937"/>
                </a:solidFill>
                <a:latin typeface="Microsoft YaHei"/>
              </a:defRPr>
            </a:pPr>
            <a:r>
              <a:t>查看切片来源、难度、标签和内容摘要</a:t>
            </a:r>
          </a:p>
        </p:txBody>
      </p:sp>
      <p:sp>
        <p:nvSpPr>
          <p:cNvPr id="17" name="Rounded Rectangle 16"/>
          <p:cNvSpPr/>
          <p:nvPr/>
        </p:nvSpPr>
        <p:spPr>
          <a:xfrm>
            <a:off x="8421624" y="1600200"/>
            <a:ext cx="2377440" cy="10789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600200"/>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86216" y="1746504"/>
            <a:ext cx="2084832" cy="292608"/>
          </a:xfrm>
          <a:prstGeom prst="rect">
            <a:avLst/>
          </a:prstGeom>
          <a:noFill/>
        </p:spPr>
        <p:txBody>
          <a:bodyPr wrap="square">
            <a:normAutofit/>
          </a:bodyPr>
          <a:lstStyle/>
          <a:p>
            <a:pPr>
              <a:defRPr sz="1400" b="1">
                <a:solidFill>
                  <a:srgbClr val="0F2A43"/>
                </a:solidFill>
                <a:latin typeface="Microsoft YaHei"/>
              </a:defRPr>
            </a:pPr>
            <a:r>
              <a:t>可维护</a:t>
            </a:r>
          </a:p>
        </p:txBody>
      </p:sp>
      <p:sp>
        <p:nvSpPr>
          <p:cNvPr id="20" name="TextBox 19"/>
          <p:cNvSpPr txBox="1"/>
          <p:nvPr/>
        </p:nvSpPr>
        <p:spPr>
          <a:xfrm>
            <a:off x="8586216" y="2130552"/>
            <a:ext cx="2084832" cy="438912"/>
          </a:xfrm>
          <a:prstGeom prst="rect">
            <a:avLst/>
          </a:prstGeom>
          <a:noFill/>
        </p:spPr>
        <p:txBody>
          <a:bodyPr wrap="square">
            <a:normAutofit/>
          </a:bodyPr>
          <a:lstStyle/>
          <a:p>
            <a:pPr>
              <a:defRPr sz="1100" b="0">
                <a:solidFill>
                  <a:srgbClr val="1F2937"/>
                </a:solidFill>
                <a:latin typeface="Microsoft YaHei"/>
              </a:defRPr>
            </a:pPr>
            <a:r>
              <a:t>新建、编辑、删除、重建切片</a:t>
            </a:r>
          </a:p>
        </p:txBody>
      </p:sp>
      <p:sp>
        <p:nvSpPr>
          <p:cNvPr id="21" name="TextBox 20"/>
          <p:cNvSpPr txBox="1"/>
          <p:nvPr/>
        </p:nvSpPr>
        <p:spPr>
          <a:xfrm>
            <a:off x="713232" y="3337560"/>
            <a:ext cx="10424160" cy="731520"/>
          </a:xfrm>
          <a:prstGeom prst="rect">
            <a:avLst/>
          </a:prstGeom>
          <a:noFill/>
        </p:spPr>
        <p:txBody>
          <a:bodyPr wrap="square">
            <a:normAutofit/>
          </a:bodyPr>
          <a:lstStyle/>
          <a:p>
            <a:pPr>
              <a:defRPr sz="1800" b="1">
                <a:solidFill>
                  <a:srgbClr val="0F2A43"/>
                </a:solidFill>
                <a:latin typeface="Microsoft YaHei"/>
              </a:defRPr>
            </a:pPr>
            <a:r>
              <a:t>已实现的后台页应承担“评委看项目深度”的职责：它展示系统里到底有多少岗位画像、每个画像里有什么、是否可以编辑、知识切片是否可重建。</a:t>
            </a:r>
          </a:p>
        </p:txBody>
      </p:sp>
      <p:sp>
        <p:nvSpPr>
          <p:cNvPr id="22" name="TextBox 21"/>
          <p:cNvSpPr txBox="1"/>
          <p:nvPr/>
        </p:nvSpPr>
        <p:spPr>
          <a:xfrm>
            <a:off x="868680" y="4343400"/>
            <a:ext cx="9875520" cy="822960"/>
          </a:xfrm>
          <a:prstGeom prst="rect">
            <a:avLst/>
          </a:prstGeom>
          <a:noFill/>
        </p:spPr>
        <p:txBody>
          <a:bodyPr wrap="square">
            <a:normAutofit/>
          </a:bodyPr>
          <a:lstStyle/>
          <a:p>
            <a:pPr>
              <a:spcAft>
                <a:spcPts val="800"/>
              </a:spcAft>
              <a:defRPr sz="1500">
                <a:solidFill>
                  <a:srgbClr val="1F2937"/>
                </a:solidFill>
                <a:latin typeface="Microsoft YaHei"/>
              </a:defRPr>
            </a:pPr>
            <a:r>
              <a:t>适合现场先展示后台，再回到用户端跑一次新建面试。</a:t>
            </a:r>
          </a:p>
          <a:p>
            <a:pPr>
              <a:spcAft>
                <a:spcPts val="800"/>
              </a:spcAft>
              <a:defRPr sz="1500">
                <a:solidFill>
                  <a:srgbClr val="1F2937"/>
                </a:solidFill>
                <a:latin typeface="Microsoft YaHei"/>
              </a:defRPr>
            </a:pPr>
            <a:r>
              <a:t>若数据库暂无真实样本，也要展示清楚空态和下一步导出条件。</a:t>
            </a:r>
          </a:p>
        </p:txBody>
      </p:sp>
      <p:sp>
        <p:nvSpPr>
          <p:cNvPr id="23" name="TextBox 22"/>
          <p:cNvSpPr txBox="1"/>
          <p:nvPr/>
        </p:nvSpPr>
        <p:spPr>
          <a:xfrm>
            <a:off x="9738360" y="6446520"/>
            <a:ext cx="1920240" cy="228600"/>
          </a:xfrm>
          <a:prstGeom prst="rect">
            <a:avLst/>
          </a:prstGeom>
          <a:noFill/>
        </p:spPr>
        <p:txBody>
          <a:bodyPr wrap="square">
            <a:normAutofit/>
          </a:bodyPr>
          <a:lstStyle/>
          <a:p>
            <a:pPr algn="r">
              <a:defRPr sz="900" b="0">
                <a:solidFill>
                  <a:srgbClr val="64748B"/>
                </a:solidFill>
                <a:latin typeface="Microsoft YaHei"/>
              </a:defRPr>
            </a:pPr>
            <a:r>
              <a:t>职启智评 初赛答辩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84048"/>
            <a:ext cx="8961120" cy="530352"/>
          </a:xfrm>
          <a:prstGeom prst="rect">
            <a:avLst/>
          </a:prstGeom>
          <a:noFill/>
        </p:spPr>
        <p:txBody>
          <a:bodyPr wrap="square">
            <a:normAutofit/>
          </a:bodyPr>
          <a:lstStyle/>
          <a:p>
            <a:pPr>
              <a:defRPr sz="2800" b="1">
                <a:solidFill>
                  <a:srgbClr val="0F2A43"/>
                </a:solidFill>
                <a:latin typeface="Microsoft YaHei"/>
              </a:defRPr>
            </a:pPr>
            <a:r>
              <a:t>5. 技术架构</a:t>
            </a:r>
          </a:p>
        </p:txBody>
      </p:sp>
      <p:sp>
        <p:nvSpPr>
          <p:cNvPr id="3" name="TextBox 2"/>
          <p:cNvSpPr txBox="1"/>
          <p:nvPr/>
        </p:nvSpPr>
        <p:spPr>
          <a:xfrm>
            <a:off x="603504" y="941832"/>
            <a:ext cx="9326880" cy="292608"/>
          </a:xfrm>
          <a:prstGeom prst="rect">
            <a:avLst/>
          </a:prstGeom>
          <a:noFill/>
        </p:spPr>
        <p:txBody>
          <a:bodyPr wrap="square">
            <a:normAutofit/>
          </a:bodyPr>
          <a:lstStyle/>
          <a:p>
            <a:pPr>
              <a:defRPr sz="1200" b="0">
                <a:solidFill>
                  <a:srgbClr val="64748B"/>
                </a:solidFill>
                <a:latin typeface="Microsoft YaHei"/>
              </a:defRPr>
            </a:pPr>
            <a:r>
              <a:t>前后端分离 + 任务队列 + 数据库 + 大语言模型 API</a:t>
            </a:r>
          </a:p>
        </p:txBody>
      </p:sp>
      <p:sp>
        <p:nvSpPr>
          <p:cNvPr id="4" name="Rectangle 3"/>
          <p:cNvSpPr/>
          <p:nvPr/>
        </p:nvSpPr>
        <p:spPr>
          <a:xfrm>
            <a:off x="594360" y="1298448"/>
            <a:ext cx="182880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600200"/>
            <a:ext cx="2331720"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73152" cy="10972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46504"/>
            <a:ext cx="2039112" cy="292608"/>
          </a:xfrm>
          <a:prstGeom prst="rect">
            <a:avLst/>
          </a:prstGeom>
          <a:noFill/>
        </p:spPr>
        <p:txBody>
          <a:bodyPr wrap="square">
            <a:normAutofit/>
          </a:bodyPr>
          <a:lstStyle/>
          <a:p>
            <a:pPr>
              <a:defRPr sz="1400" b="1">
                <a:solidFill>
                  <a:srgbClr val="0F2A43"/>
                </a:solidFill>
                <a:latin typeface="Microsoft YaHei"/>
              </a:defRPr>
            </a:pPr>
            <a:r>
              <a:t>Vue 用户端</a:t>
            </a:r>
          </a:p>
        </p:txBody>
      </p:sp>
      <p:sp>
        <p:nvSpPr>
          <p:cNvPr id="8" name="TextBox 7"/>
          <p:cNvSpPr txBox="1"/>
          <p:nvPr/>
        </p:nvSpPr>
        <p:spPr>
          <a:xfrm>
            <a:off x="822959" y="2130552"/>
            <a:ext cx="2039112" cy="457200"/>
          </a:xfrm>
          <a:prstGeom prst="rect">
            <a:avLst/>
          </a:prstGeom>
          <a:noFill/>
        </p:spPr>
        <p:txBody>
          <a:bodyPr wrap="square">
            <a:normAutofit/>
          </a:bodyPr>
          <a:lstStyle/>
          <a:p>
            <a:pPr>
              <a:defRPr sz="1100" b="0">
                <a:solidFill>
                  <a:srgbClr val="1F2937"/>
                </a:solidFill>
                <a:latin typeface="Microsoft YaHei"/>
              </a:defRPr>
            </a:pPr>
            <a:r>
              <a:t>工作台、新建面试、报告查看</a:t>
            </a:r>
          </a:p>
        </p:txBody>
      </p:sp>
      <p:sp>
        <p:nvSpPr>
          <p:cNvPr id="9" name="Rounded Rectangle 8"/>
          <p:cNvSpPr/>
          <p:nvPr/>
        </p:nvSpPr>
        <p:spPr>
          <a:xfrm>
            <a:off x="658368" y="3063240"/>
            <a:ext cx="2331720"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063240"/>
            <a:ext cx="73152" cy="1097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3209544"/>
            <a:ext cx="2039112" cy="292608"/>
          </a:xfrm>
          <a:prstGeom prst="rect">
            <a:avLst/>
          </a:prstGeom>
          <a:noFill/>
        </p:spPr>
        <p:txBody>
          <a:bodyPr wrap="square">
            <a:normAutofit/>
          </a:bodyPr>
          <a:lstStyle/>
          <a:p>
            <a:pPr>
              <a:defRPr sz="1400" b="1">
                <a:solidFill>
                  <a:srgbClr val="0F2A43"/>
                </a:solidFill>
                <a:latin typeface="Microsoft YaHei"/>
              </a:defRPr>
            </a:pPr>
            <a:r>
              <a:t>Vue 后台端</a:t>
            </a:r>
          </a:p>
        </p:txBody>
      </p:sp>
      <p:sp>
        <p:nvSpPr>
          <p:cNvPr id="12" name="TextBox 11"/>
          <p:cNvSpPr txBox="1"/>
          <p:nvPr/>
        </p:nvSpPr>
        <p:spPr>
          <a:xfrm>
            <a:off x="822959" y="3593592"/>
            <a:ext cx="2039112" cy="457200"/>
          </a:xfrm>
          <a:prstGeom prst="rect">
            <a:avLst/>
          </a:prstGeom>
          <a:noFill/>
        </p:spPr>
        <p:txBody>
          <a:bodyPr wrap="square">
            <a:normAutofit/>
          </a:bodyPr>
          <a:lstStyle/>
          <a:p>
            <a:pPr>
              <a:defRPr sz="1100" b="0">
                <a:solidFill>
                  <a:srgbClr val="1F2937"/>
                </a:solidFill>
                <a:latin typeface="Microsoft YaHei"/>
              </a:defRPr>
            </a:pPr>
            <a:r>
              <a:t>岗位画像、面试记录、评测样本</a:t>
            </a:r>
          </a:p>
        </p:txBody>
      </p:sp>
      <p:sp>
        <p:nvSpPr>
          <p:cNvPr id="13" name="Rounded Rectangle 12"/>
          <p:cNvSpPr/>
          <p:nvPr/>
        </p:nvSpPr>
        <p:spPr>
          <a:xfrm>
            <a:off x="3858768" y="2267712"/>
            <a:ext cx="2514600"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8768" y="2267712"/>
            <a:ext cx="73152" cy="10972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59" y="2414016"/>
            <a:ext cx="2221992" cy="292608"/>
          </a:xfrm>
          <a:prstGeom prst="rect">
            <a:avLst/>
          </a:prstGeom>
          <a:noFill/>
        </p:spPr>
        <p:txBody>
          <a:bodyPr wrap="square">
            <a:normAutofit/>
          </a:bodyPr>
          <a:lstStyle/>
          <a:p>
            <a:pPr>
              <a:defRPr sz="1400" b="1">
                <a:solidFill>
                  <a:srgbClr val="0F2A43"/>
                </a:solidFill>
                <a:latin typeface="Microsoft YaHei"/>
              </a:defRPr>
            </a:pPr>
            <a:r>
              <a:t>FastAPI 接口层</a:t>
            </a:r>
          </a:p>
        </p:txBody>
      </p:sp>
      <p:sp>
        <p:nvSpPr>
          <p:cNvPr id="16" name="TextBox 15"/>
          <p:cNvSpPr txBox="1"/>
          <p:nvPr/>
        </p:nvSpPr>
        <p:spPr>
          <a:xfrm>
            <a:off x="4023359" y="2798064"/>
            <a:ext cx="2221992" cy="457200"/>
          </a:xfrm>
          <a:prstGeom prst="rect">
            <a:avLst/>
          </a:prstGeom>
          <a:noFill/>
        </p:spPr>
        <p:txBody>
          <a:bodyPr wrap="square">
            <a:normAutofit/>
          </a:bodyPr>
          <a:lstStyle/>
          <a:p>
            <a:pPr>
              <a:defRPr sz="1100" b="0">
                <a:solidFill>
                  <a:srgbClr val="1F2937"/>
                </a:solidFill>
                <a:latin typeface="Microsoft YaHei"/>
              </a:defRPr>
            </a:pPr>
            <a:r>
              <a:t>/api/v1 保持兼容</a:t>
            </a:r>
          </a:p>
        </p:txBody>
      </p:sp>
      <p:sp>
        <p:nvSpPr>
          <p:cNvPr id="17" name="Rounded Rectangle 16"/>
          <p:cNvSpPr/>
          <p:nvPr/>
        </p:nvSpPr>
        <p:spPr>
          <a:xfrm>
            <a:off x="7242048" y="1600200"/>
            <a:ext cx="2514600"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42048" y="1600200"/>
            <a:ext cx="73152" cy="10972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1746504"/>
            <a:ext cx="2221992" cy="292608"/>
          </a:xfrm>
          <a:prstGeom prst="rect">
            <a:avLst/>
          </a:prstGeom>
          <a:noFill/>
        </p:spPr>
        <p:txBody>
          <a:bodyPr wrap="square">
            <a:normAutofit/>
          </a:bodyPr>
          <a:lstStyle/>
          <a:p>
            <a:pPr>
              <a:defRPr sz="1400" b="1">
                <a:solidFill>
                  <a:srgbClr val="0F2A43"/>
                </a:solidFill>
                <a:latin typeface="Microsoft YaHei"/>
              </a:defRPr>
            </a:pPr>
            <a:r>
              <a:t>业务服务</a:t>
            </a:r>
          </a:p>
        </p:txBody>
      </p:sp>
      <p:sp>
        <p:nvSpPr>
          <p:cNvPr id="20" name="TextBox 19"/>
          <p:cNvSpPr txBox="1"/>
          <p:nvPr/>
        </p:nvSpPr>
        <p:spPr>
          <a:xfrm>
            <a:off x="7406640" y="2130552"/>
            <a:ext cx="2221992" cy="457200"/>
          </a:xfrm>
          <a:prstGeom prst="rect">
            <a:avLst/>
          </a:prstGeom>
          <a:noFill/>
        </p:spPr>
        <p:txBody>
          <a:bodyPr wrap="square">
            <a:normAutofit/>
          </a:bodyPr>
          <a:lstStyle/>
          <a:p>
            <a:pPr>
              <a:defRPr sz="1000" b="0">
                <a:solidFill>
                  <a:srgbClr val="1F2937"/>
                </a:solidFill>
                <a:latin typeface="Microsoft YaHei"/>
              </a:defRPr>
            </a:pPr>
            <a:r>
              <a:t>简历解析、匹配评分、面试追问、报告生成</a:t>
            </a:r>
          </a:p>
        </p:txBody>
      </p:sp>
      <p:sp>
        <p:nvSpPr>
          <p:cNvPr id="21" name="Rounded Rectangle 20"/>
          <p:cNvSpPr/>
          <p:nvPr/>
        </p:nvSpPr>
        <p:spPr>
          <a:xfrm>
            <a:off x="7242048" y="3063240"/>
            <a:ext cx="2514600"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42048" y="3063240"/>
            <a:ext cx="73152" cy="1097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06640" y="3209544"/>
            <a:ext cx="2221992" cy="292608"/>
          </a:xfrm>
          <a:prstGeom prst="rect">
            <a:avLst/>
          </a:prstGeom>
          <a:noFill/>
        </p:spPr>
        <p:txBody>
          <a:bodyPr wrap="square">
            <a:normAutofit/>
          </a:bodyPr>
          <a:lstStyle/>
          <a:p>
            <a:pPr>
              <a:defRPr sz="1400" b="1">
                <a:solidFill>
                  <a:srgbClr val="0F2A43"/>
                </a:solidFill>
                <a:latin typeface="Microsoft YaHei"/>
              </a:defRPr>
            </a:pPr>
            <a:r>
              <a:t>数据与部署</a:t>
            </a:r>
          </a:p>
        </p:txBody>
      </p:sp>
      <p:sp>
        <p:nvSpPr>
          <p:cNvPr id="24" name="TextBox 23"/>
          <p:cNvSpPr txBox="1"/>
          <p:nvPr/>
        </p:nvSpPr>
        <p:spPr>
          <a:xfrm>
            <a:off x="7406640" y="3593592"/>
            <a:ext cx="2221992" cy="457200"/>
          </a:xfrm>
          <a:prstGeom prst="rect">
            <a:avLst/>
          </a:prstGeom>
          <a:noFill/>
        </p:spPr>
        <p:txBody>
          <a:bodyPr wrap="square">
            <a:normAutofit/>
          </a:bodyPr>
          <a:lstStyle/>
          <a:p>
            <a:pPr>
              <a:defRPr sz="1100" b="0">
                <a:solidFill>
                  <a:srgbClr val="1F2937"/>
                </a:solidFill>
                <a:latin typeface="Microsoft YaHei"/>
              </a:defRPr>
            </a:pPr>
            <a:r>
              <a:t>PostgreSQL、Redis、Celery、Docker</a:t>
            </a:r>
          </a:p>
        </p:txBody>
      </p:sp>
      <p:sp>
        <p:nvSpPr>
          <p:cNvPr id="25" name="Rounded Rectangle 24"/>
          <p:cNvSpPr/>
          <p:nvPr/>
        </p:nvSpPr>
        <p:spPr>
          <a:xfrm>
            <a:off x="3858768" y="4681728"/>
            <a:ext cx="338328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58768" y="4681728"/>
            <a:ext cx="73152" cy="841248"/>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59" y="4828032"/>
            <a:ext cx="3090672" cy="292608"/>
          </a:xfrm>
          <a:prstGeom prst="rect">
            <a:avLst/>
          </a:prstGeom>
          <a:noFill/>
        </p:spPr>
        <p:txBody>
          <a:bodyPr wrap="square">
            <a:normAutofit/>
          </a:bodyPr>
          <a:lstStyle/>
          <a:p>
            <a:pPr>
              <a:defRPr sz="1400" b="1">
                <a:solidFill>
                  <a:srgbClr val="0F2A43"/>
                </a:solidFill>
                <a:latin typeface="Microsoft YaHei"/>
              </a:defRPr>
            </a:pPr>
            <a:r>
              <a:t>LLM API</a:t>
            </a:r>
          </a:p>
        </p:txBody>
      </p:sp>
      <p:sp>
        <p:nvSpPr>
          <p:cNvPr id="28" name="TextBox 27"/>
          <p:cNvSpPr txBox="1"/>
          <p:nvPr/>
        </p:nvSpPr>
        <p:spPr>
          <a:xfrm>
            <a:off x="4023359" y="5212080"/>
            <a:ext cx="3090672" cy="201168"/>
          </a:xfrm>
          <a:prstGeom prst="rect">
            <a:avLst/>
          </a:prstGeom>
          <a:noFill/>
        </p:spPr>
        <p:txBody>
          <a:bodyPr wrap="square">
            <a:normAutofit/>
          </a:bodyPr>
          <a:lstStyle/>
          <a:p>
            <a:pPr>
              <a:defRPr sz="1100" b="0">
                <a:solidFill>
                  <a:srgbClr val="1F2937"/>
                </a:solidFill>
                <a:latin typeface="Microsoft YaHei"/>
              </a:defRPr>
            </a:pPr>
            <a:r>
              <a:t>结构化理解、题目生成、回答评价、解释性报告</a:t>
            </a:r>
          </a:p>
        </p:txBody>
      </p:sp>
      <p:cxnSp>
        <p:nvCxnSpPr>
          <p:cNvPr id="29" name="Connector 28"/>
          <p:cNvCxnSpPr/>
          <p:nvPr/>
        </p:nvCxnSpPr>
        <p:spPr>
          <a:xfrm>
            <a:off x="2999232" y="2148840"/>
            <a:ext cx="841248" cy="530352"/>
          </a:xfrm>
          <a:prstGeom prst="line">
            <a:avLst/>
          </a:prstGeom>
          <a:ln w="25400">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999232" y="2761488"/>
            <a:ext cx="841248" cy="850392"/>
          </a:xfrm>
          <a:prstGeom prst="line">
            <a:avLst/>
          </a:prstGeom>
          <a:ln w="25400">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382512" y="2148840"/>
            <a:ext cx="822960" cy="640080"/>
          </a:xfrm>
          <a:prstGeom prst="line">
            <a:avLst/>
          </a:prstGeom>
          <a:ln w="25400">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382512" y="2788920"/>
            <a:ext cx="822960" cy="822960"/>
          </a:xfrm>
          <a:prstGeom prst="line">
            <a:avLst/>
          </a:prstGeom>
          <a:ln w="25400">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20640" y="3383280"/>
            <a:ext cx="274320" cy="1280160"/>
          </a:xfrm>
          <a:prstGeom prst="line">
            <a:avLst/>
          </a:prstGeom>
          <a:ln w="25400">
            <a:solidFill>
              <a:srgbClr val="CBD5E1"/>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738360" y="6446520"/>
            <a:ext cx="1920240" cy="228600"/>
          </a:xfrm>
          <a:prstGeom prst="rect">
            <a:avLst/>
          </a:prstGeom>
          <a:noFill/>
        </p:spPr>
        <p:txBody>
          <a:bodyPr wrap="square">
            <a:normAutofit/>
          </a:bodyPr>
          <a:lstStyle/>
          <a:p>
            <a:pPr algn="r">
              <a:defRPr sz="900" b="0">
                <a:solidFill>
                  <a:srgbClr val="64748B"/>
                </a:solidFill>
                <a:latin typeface="Microsoft YaHei"/>
              </a:defRPr>
            </a:pPr>
            <a:r>
              <a:t>职启智评 初赛答辩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84048"/>
            <a:ext cx="8961120" cy="530352"/>
          </a:xfrm>
          <a:prstGeom prst="rect">
            <a:avLst/>
          </a:prstGeom>
          <a:noFill/>
        </p:spPr>
        <p:txBody>
          <a:bodyPr wrap="square">
            <a:normAutofit/>
          </a:bodyPr>
          <a:lstStyle/>
          <a:p>
            <a:pPr>
              <a:defRPr sz="2800" b="1">
                <a:solidFill>
                  <a:srgbClr val="0F2A43"/>
                </a:solidFill>
                <a:latin typeface="Microsoft YaHei"/>
              </a:defRPr>
            </a:pPr>
            <a:r>
              <a:t>6. 技术深度</a:t>
            </a:r>
          </a:p>
        </p:txBody>
      </p:sp>
      <p:sp>
        <p:nvSpPr>
          <p:cNvPr id="3" name="TextBox 2"/>
          <p:cNvSpPr txBox="1"/>
          <p:nvPr/>
        </p:nvSpPr>
        <p:spPr>
          <a:xfrm>
            <a:off x="603504" y="941832"/>
            <a:ext cx="9326880" cy="292608"/>
          </a:xfrm>
          <a:prstGeom prst="rect">
            <a:avLst/>
          </a:prstGeom>
          <a:noFill/>
        </p:spPr>
        <p:txBody>
          <a:bodyPr wrap="square">
            <a:normAutofit/>
          </a:bodyPr>
          <a:lstStyle/>
          <a:p>
            <a:pPr>
              <a:defRPr sz="1200" b="0">
                <a:solidFill>
                  <a:srgbClr val="64748B"/>
                </a:solidFill>
                <a:latin typeface="Microsoft YaHei"/>
              </a:defRPr>
            </a:pPr>
            <a:r>
              <a:t>机器学习指标 + LLM/Embedding 能力 + 微调数据准备</a:t>
            </a:r>
          </a:p>
        </p:txBody>
      </p:sp>
      <p:sp>
        <p:nvSpPr>
          <p:cNvPr id="4" name="Rectangle 3"/>
          <p:cNvSpPr/>
          <p:nvPr/>
        </p:nvSpPr>
        <p:spPr>
          <a:xfrm>
            <a:off x="594360" y="1298448"/>
            <a:ext cx="182880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508760"/>
            <a:ext cx="3246120" cy="3383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08760"/>
            <a:ext cx="73152" cy="33832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55063"/>
            <a:ext cx="2953512" cy="292608"/>
          </a:xfrm>
          <a:prstGeom prst="rect">
            <a:avLst/>
          </a:prstGeom>
          <a:noFill/>
        </p:spPr>
        <p:txBody>
          <a:bodyPr wrap="square">
            <a:normAutofit/>
          </a:bodyPr>
          <a:lstStyle/>
          <a:p>
            <a:pPr>
              <a:defRPr sz="1600" b="1">
                <a:solidFill>
                  <a:srgbClr val="0F2A43"/>
                </a:solidFill>
                <a:latin typeface="Microsoft YaHei"/>
              </a:defRPr>
            </a:pPr>
            <a:r>
              <a:t>机器学习层</a:t>
            </a:r>
          </a:p>
        </p:txBody>
      </p:sp>
      <p:sp>
        <p:nvSpPr>
          <p:cNvPr id="8" name="TextBox 7"/>
          <p:cNvSpPr txBox="1"/>
          <p:nvPr/>
        </p:nvSpPr>
        <p:spPr>
          <a:xfrm>
            <a:off x="822959" y="2039112"/>
            <a:ext cx="2953512" cy="2743200"/>
          </a:xfrm>
          <a:prstGeom prst="rect">
            <a:avLst/>
          </a:prstGeom>
          <a:noFill/>
        </p:spPr>
        <p:txBody>
          <a:bodyPr wrap="square">
            <a:normAutofit/>
          </a:bodyPr>
          <a:lstStyle/>
          <a:p>
            <a:pPr>
              <a:defRPr sz="1400" b="0">
                <a:solidFill>
                  <a:srgbClr val="1F2937"/>
                </a:solidFill>
                <a:latin typeface="Microsoft YaHei"/>
              </a:defRPr>
            </a:pPr>
            <a:r>
              <a:t>关键词覆盖率</a:t>
            </a:r>
            <a:br/>
            <a:r>
              <a:t>TF-IDF / 余弦相似度</a:t>
            </a:r>
            <a:br/>
            <a:r>
              <a:t>规则评分与权重</a:t>
            </a:r>
            <a:br/>
            <a:r>
              <a:t>后续用人工评分校准</a:t>
            </a:r>
          </a:p>
        </p:txBody>
      </p:sp>
      <p:sp>
        <p:nvSpPr>
          <p:cNvPr id="9" name="Rounded Rectangle 8"/>
          <p:cNvSpPr/>
          <p:nvPr/>
        </p:nvSpPr>
        <p:spPr>
          <a:xfrm>
            <a:off x="4416552" y="1508760"/>
            <a:ext cx="3246120" cy="3383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16552" y="1508760"/>
            <a:ext cx="73152" cy="3383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144" y="1655063"/>
            <a:ext cx="2953512" cy="292608"/>
          </a:xfrm>
          <a:prstGeom prst="rect">
            <a:avLst/>
          </a:prstGeom>
          <a:noFill/>
        </p:spPr>
        <p:txBody>
          <a:bodyPr wrap="square">
            <a:normAutofit/>
          </a:bodyPr>
          <a:lstStyle/>
          <a:p>
            <a:pPr>
              <a:defRPr sz="1600" b="1">
                <a:solidFill>
                  <a:srgbClr val="0F2A43"/>
                </a:solidFill>
                <a:latin typeface="Microsoft YaHei"/>
              </a:defRPr>
            </a:pPr>
            <a:r>
              <a:t>深度学习应用层</a:t>
            </a:r>
          </a:p>
        </p:txBody>
      </p:sp>
      <p:sp>
        <p:nvSpPr>
          <p:cNvPr id="12" name="TextBox 11"/>
          <p:cNvSpPr txBox="1"/>
          <p:nvPr/>
        </p:nvSpPr>
        <p:spPr>
          <a:xfrm>
            <a:off x="4581144" y="2039112"/>
            <a:ext cx="2953512" cy="2743200"/>
          </a:xfrm>
          <a:prstGeom prst="rect">
            <a:avLst/>
          </a:prstGeom>
          <a:noFill/>
        </p:spPr>
        <p:txBody>
          <a:bodyPr wrap="square">
            <a:normAutofit/>
          </a:bodyPr>
          <a:lstStyle/>
          <a:p>
            <a:pPr>
              <a:defRPr sz="1400" b="0">
                <a:solidFill>
                  <a:srgbClr val="1F2937"/>
                </a:solidFill>
                <a:latin typeface="Microsoft YaHei"/>
              </a:defRPr>
            </a:pPr>
            <a:r>
              <a:t>大语言模型 API</a:t>
            </a:r>
            <a:br/>
            <a:r>
              <a:t>结构化 Prompt</a:t>
            </a:r>
            <a:br/>
            <a:r>
              <a:t>证据约束生成</a:t>
            </a:r>
            <a:br/>
            <a:r>
              <a:t>可选 embedding 语义匹配</a:t>
            </a:r>
          </a:p>
        </p:txBody>
      </p:sp>
      <p:sp>
        <p:nvSpPr>
          <p:cNvPr id="13" name="Rounded Rectangle 12"/>
          <p:cNvSpPr/>
          <p:nvPr/>
        </p:nvSpPr>
        <p:spPr>
          <a:xfrm>
            <a:off x="8174736" y="1508760"/>
            <a:ext cx="2971800" cy="3383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74736" y="1508760"/>
            <a:ext cx="73152" cy="338328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1655063"/>
            <a:ext cx="2679192" cy="292608"/>
          </a:xfrm>
          <a:prstGeom prst="rect">
            <a:avLst/>
          </a:prstGeom>
          <a:noFill/>
        </p:spPr>
        <p:txBody>
          <a:bodyPr wrap="square">
            <a:normAutofit/>
          </a:bodyPr>
          <a:lstStyle/>
          <a:p>
            <a:pPr>
              <a:defRPr sz="1600" b="1">
                <a:solidFill>
                  <a:srgbClr val="0F2A43"/>
                </a:solidFill>
                <a:latin typeface="Microsoft YaHei"/>
              </a:defRPr>
            </a:pPr>
            <a:r>
              <a:t>微调准备层</a:t>
            </a:r>
          </a:p>
        </p:txBody>
      </p:sp>
      <p:sp>
        <p:nvSpPr>
          <p:cNvPr id="16" name="TextBox 15"/>
          <p:cNvSpPr txBox="1"/>
          <p:nvPr/>
        </p:nvSpPr>
        <p:spPr>
          <a:xfrm>
            <a:off x="8339327" y="2039112"/>
            <a:ext cx="2679192" cy="2743200"/>
          </a:xfrm>
          <a:prstGeom prst="rect">
            <a:avLst/>
          </a:prstGeom>
          <a:noFill/>
        </p:spPr>
        <p:txBody>
          <a:bodyPr wrap="square">
            <a:normAutofit/>
          </a:bodyPr>
          <a:lstStyle/>
          <a:p>
            <a:pPr>
              <a:defRPr sz="1400" b="0">
                <a:solidFill>
                  <a:srgbClr val="1F2937"/>
                </a:solidFill>
                <a:latin typeface="Microsoft YaHei"/>
              </a:defRPr>
            </a:pPr>
            <a:r>
              <a:t>人工标注样本</a:t>
            </a:r>
            <a:br/>
            <a:r>
              <a:t>离线评测集</a:t>
            </a:r>
            <a:br/>
            <a:r>
              <a:t>fine-tune-ready JSONL</a:t>
            </a:r>
            <a:br/>
            <a:r>
              <a:t>当前不宣称已上线微调</a:t>
            </a:r>
          </a:p>
        </p:txBody>
      </p:sp>
      <p:sp>
        <p:nvSpPr>
          <p:cNvPr id="17" name="TextBox 16"/>
          <p:cNvSpPr txBox="1"/>
          <p:nvPr/>
        </p:nvSpPr>
        <p:spPr>
          <a:xfrm>
            <a:off x="841248" y="5257800"/>
            <a:ext cx="10058400" cy="457200"/>
          </a:xfrm>
          <a:prstGeom prst="rect">
            <a:avLst/>
          </a:prstGeom>
          <a:noFill/>
        </p:spPr>
        <p:txBody>
          <a:bodyPr wrap="square">
            <a:normAutofit/>
          </a:bodyPr>
          <a:lstStyle/>
          <a:p>
            <a:pPr>
              <a:defRPr sz="1600" b="1">
                <a:solidFill>
                  <a:srgbClr val="0F2A43"/>
                </a:solidFill>
                <a:latin typeface="Microsoft YaHei"/>
              </a:defRPr>
            </a:pPr>
            <a:r>
              <a:t>答辩一句话：不是把评分完全交给模型自由发挥，而是用岗位画像和评分规则先约束，再让 LLM 做理解、追问和解释。</a:t>
            </a:r>
          </a:p>
        </p:txBody>
      </p:sp>
      <p:sp>
        <p:nvSpPr>
          <p:cNvPr id="18" name="TextBox 17"/>
          <p:cNvSpPr txBox="1"/>
          <p:nvPr/>
        </p:nvSpPr>
        <p:spPr>
          <a:xfrm>
            <a:off x="9738360" y="6446520"/>
            <a:ext cx="1920240" cy="228600"/>
          </a:xfrm>
          <a:prstGeom prst="rect">
            <a:avLst/>
          </a:prstGeom>
          <a:noFill/>
        </p:spPr>
        <p:txBody>
          <a:bodyPr wrap="square">
            <a:normAutofit/>
          </a:bodyPr>
          <a:lstStyle/>
          <a:p>
            <a:pPr algn="r">
              <a:defRPr sz="900" b="0">
                <a:solidFill>
                  <a:srgbClr val="64748B"/>
                </a:solidFill>
                <a:latin typeface="Microsoft YaHei"/>
              </a:defRPr>
            </a:pPr>
            <a:r>
              <a:t>职启智评 初赛答辩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84048"/>
            <a:ext cx="8961120" cy="530352"/>
          </a:xfrm>
          <a:prstGeom prst="rect">
            <a:avLst/>
          </a:prstGeom>
          <a:noFill/>
        </p:spPr>
        <p:txBody>
          <a:bodyPr wrap="square">
            <a:normAutofit/>
          </a:bodyPr>
          <a:lstStyle/>
          <a:p>
            <a:pPr>
              <a:defRPr sz="2800" b="1">
                <a:solidFill>
                  <a:srgbClr val="0F2A43"/>
                </a:solidFill>
                <a:latin typeface="Microsoft YaHei"/>
              </a:defRPr>
            </a:pPr>
            <a:r>
              <a:t>7. 验证数据</a:t>
            </a:r>
          </a:p>
        </p:txBody>
      </p:sp>
      <p:sp>
        <p:nvSpPr>
          <p:cNvPr id="3" name="TextBox 2"/>
          <p:cNvSpPr txBox="1"/>
          <p:nvPr/>
        </p:nvSpPr>
        <p:spPr>
          <a:xfrm>
            <a:off x="603504" y="941832"/>
            <a:ext cx="9326880" cy="292608"/>
          </a:xfrm>
          <a:prstGeom prst="rect">
            <a:avLst/>
          </a:prstGeom>
          <a:noFill/>
        </p:spPr>
        <p:txBody>
          <a:bodyPr wrap="square">
            <a:normAutofit/>
          </a:bodyPr>
          <a:lstStyle/>
          <a:p>
            <a:pPr>
              <a:defRPr sz="1200" b="0">
                <a:solidFill>
                  <a:srgbClr val="64748B"/>
                </a:solidFill>
                <a:latin typeface="Microsoft YaHei"/>
              </a:defRPr>
            </a:pPr>
            <a:r>
              <a:t>初赛先展示记录结构，后续替换真实跑测结果</a:t>
            </a:r>
          </a:p>
        </p:txBody>
      </p:sp>
      <p:sp>
        <p:nvSpPr>
          <p:cNvPr id="4" name="Rectangle 3"/>
          <p:cNvSpPr/>
          <p:nvPr/>
        </p:nvSpPr>
        <p:spPr>
          <a:xfrm>
            <a:off x="594360" y="1298448"/>
            <a:ext cx="182880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389888"/>
            <a:ext cx="10835640" cy="437083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389888"/>
            <a:ext cx="73152" cy="43708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536192"/>
            <a:ext cx="10543032" cy="292608"/>
          </a:xfrm>
          <a:prstGeom prst="rect">
            <a:avLst/>
          </a:prstGeom>
          <a:noFill/>
        </p:spPr>
        <p:txBody>
          <a:bodyPr wrap="square">
            <a:normAutofit/>
          </a:bodyPr>
          <a:lstStyle/>
          <a:p>
            <a:pPr>
              <a:defRPr sz="1500" b="1">
                <a:solidFill>
                  <a:srgbClr val="0F2A43"/>
                </a:solidFill>
                <a:latin typeface="Microsoft YaHei"/>
              </a:defRPr>
            </a:pPr>
            <a:r>
              <a:t>AI 评分与人工评分对比（演示样例）</a:t>
            </a:r>
          </a:p>
        </p:txBody>
      </p:sp>
      <p:sp>
        <p:nvSpPr>
          <p:cNvPr id="8" name="TextBox 7"/>
          <p:cNvSpPr txBox="1"/>
          <p:nvPr/>
        </p:nvSpPr>
        <p:spPr>
          <a:xfrm>
            <a:off x="868680" y="1901952"/>
            <a:ext cx="502920" cy="237744"/>
          </a:xfrm>
          <a:prstGeom prst="rect">
            <a:avLst/>
          </a:prstGeom>
          <a:noFill/>
        </p:spPr>
        <p:txBody>
          <a:bodyPr wrap="square">
            <a:normAutofit/>
          </a:bodyPr>
          <a:lstStyle/>
          <a:p>
            <a:pPr>
              <a:defRPr sz="1000" b="1">
                <a:solidFill>
                  <a:srgbClr val="0F766E"/>
                </a:solidFill>
                <a:latin typeface="Microsoft YaHei"/>
              </a:defRPr>
            </a:pPr>
            <a:r>
              <a:t>案例</a:t>
            </a:r>
          </a:p>
        </p:txBody>
      </p:sp>
      <p:sp>
        <p:nvSpPr>
          <p:cNvPr id="9" name="TextBox 8"/>
          <p:cNvSpPr txBox="1"/>
          <p:nvPr/>
        </p:nvSpPr>
        <p:spPr>
          <a:xfrm>
            <a:off x="1508760" y="1901952"/>
            <a:ext cx="2148840" cy="237744"/>
          </a:xfrm>
          <a:prstGeom prst="rect">
            <a:avLst/>
          </a:prstGeom>
          <a:noFill/>
        </p:spPr>
        <p:txBody>
          <a:bodyPr wrap="square">
            <a:normAutofit/>
          </a:bodyPr>
          <a:lstStyle/>
          <a:p>
            <a:pPr>
              <a:defRPr sz="1000" b="1">
                <a:solidFill>
                  <a:srgbClr val="0F766E"/>
                </a:solidFill>
                <a:latin typeface="Microsoft YaHei"/>
              </a:defRPr>
            </a:pPr>
            <a:r>
              <a:t>目标岗位</a:t>
            </a:r>
          </a:p>
        </p:txBody>
      </p:sp>
      <p:sp>
        <p:nvSpPr>
          <p:cNvPr id="10" name="TextBox 9"/>
          <p:cNvSpPr txBox="1"/>
          <p:nvPr/>
        </p:nvSpPr>
        <p:spPr>
          <a:xfrm>
            <a:off x="3977639" y="1901952"/>
            <a:ext cx="2148840" cy="237744"/>
          </a:xfrm>
          <a:prstGeom prst="rect">
            <a:avLst/>
          </a:prstGeom>
          <a:noFill/>
        </p:spPr>
        <p:txBody>
          <a:bodyPr wrap="square">
            <a:normAutofit/>
          </a:bodyPr>
          <a:lstStyle/>
          <a:p>
            <a:pPr>
              <a:defRPr sz="1000" b="1">
                <a:solidFill>
                  <a:srgbClr val="0F766E"/>
                </a:solidFill>
                <a:latin typeface="Microsoft YaHei"/>
              </a:defRPr>
            </a:pPr>
            <a:r>
              <a:t>背景</a:t>
            </a:r>
          </a:p>
        </p:txBody>
      </p:sp>
      <p:sp>
        <p:nvSpPr>
          <p:cNvPr id="11" name="TextBox 10"/>
          <p:cNvSpPr txBox="1"/>
          <p:nvPr/>
        </p:nvSpPr>
        <p:spPr>
          <a:xfrm>
            <a:off x="6400800" y="1901952"/>
            <a:ext cx="502920" cy="237744"/>
          </a:xfrm>
          <a:prstGeom prst="rect">
            <a:avLst/>
          </a:prstGeom>
          <a:noFill/>
        </p:spPr>
        <p:txBody>
          <a:bodyPr wrap="square">
            <a:normAutofit/>
          </a:bodyPr>
          <a:lstStyle/>
          <a:p>
            <a:pPr>
              <a:defRPr sz="1000" b="1">
                <a:solidFill>
                  <a:srgbClr val="0F766E"/>
                </a:solidFill>
                <a:latin typeface="Microsoft YaHei"/>
              </a:defRPr>
            </a:pPr>
            <a:r>
              <a:t>AI</a:t>
            </a:r>
          </a:p>
        </p:txBody>
      </p:sp>
      <p:sp>
        <p:nvSpPr>
          <p:cNvPr id="12" name="TextBox 11"/>
          <p:cNvSpPr txBox="1"/>
          <p:nvPr/>
        </p:nvSpPr>
        <p:spPr>
          <a:xfrm>
            <a:off x="7498079" y="1901952"/>
            <a:ext cx="594360" cy="237744"/>
          </a:xfrm>
          <a:prstGeom prst="rect">
            <a:avLst/>
          </a:prstGeom>
          <a:noFill/>
        </p:spPr>
        <p:txBody>
          <a:bodyPr wrap="square">
            <a:normAutofit/>
          </a:bodyPr>
          <a:lstStyle/>
          <a:p>
            <a:pPr>
              <a:defRPr sz="1000" b="1">
                <a:solidFill>
                  <a:srgbClr val="0F766E"/>
                </a:solidFill>
                <a:latin typeface="Microsoft YaHei"/>
              </a:defRPr>
            </a:pPr>
            <a:r>
              <a:t>人工</a:t>
            </a:r>
          </a:p>
        </p:txBody>
      </p:sp>
      <p:sp>
        <p:nvSpPr>
          <p:cNvPr id="13" name="TextBox 12"/>
          <p:cNvSpPr txBox="1"/>
          <p:nvPr/>
        </p:nvSpPr>
        <p:spPr>
          <a:xfrm>
            <a:off x="8549640" y="1901952"/>
            <a:ext cx="594360" cy="237744"/>
          </a:xfrm>
          <a:prstGeom prst="rect">
            <a:avLst/>
          </a:prstGeom>
          <a:noFill/>
        </p:spPr>
        <p:txBody>
          <a:bodyPr wrap="square">
            <a:normAutofit/>
          </a:bodyPr>
          <a:lstStyle/>
          <a:p>
            <a:pPr>
              <a:defRPr sz="1000" b="1">
                <a:solidFill>
                  <a:srgbClr val="0F766E"/>
                </a:solidFill>
                <a:latin typeface="Microsoft YaHei"/>
              </a:defRPr>
            </a:pPr>
            <a:r>
              <a:t>差值</a:t>
            </a:r>
          </a:p>
        </p:txBody>
      </p:sp>
      <p:sp>
        <p:nvSpPr>
          <p:cNvPr id="14" name="TextBox 13"/>
          <p:cNvSpPr txBox="1"/>
          <p:nvPr/>
        </p:nvSpPr>
        <p:spPr>
          <a:xfrm>
            <a:off x="9555480" y="1901952"/>
            <a:ext cx="1600200" cy="237744"/>
          </a:xfrm>
          <a:prstGeom prst="rect">
            <a:avLst/>
          </a:prstGeom>
          <a:noFill/>
        </p:spPr>
        <p:txBody>
          <a:bodyPr wrap="square">
            <a:normAutofit/>
          </a:bodyPr>
          <a:lstStyle/>
          <a:p>
            <a:pPr>
              <a:defRPr sz="1000" b="1">
                <a:solidFill>
                  <a:srgbClr val="0F766E"/>
                </a:solidFill>
                <a:latin typeface="Microsoft YaHei"/>
              </a:defRPr>
            </a:pPr>
            <a:r>
              <a:t>建议</a:t>
            </a:r>
          </a:p>
        </p:txBody>
      </p:sp>
      <p:sp>
        <p:nvSpPr>
          <p:cNvPr id="15" name="TextBox 14"/>
          <p:cNvSpPr txBox="1"/>
          <p:nvPr/>
        </p:nvSpPr>
        <p:spPr>
          <a:xfrm>
            <a:off x="868680" y="2313432"/>
            <a:ext cx="502920" cy="256032"/>
          </a:xfrm>
          <a:prstGeom prst="rect">
            <a:avLst/>
          </a:prstGeom>
          <a:noFill/>
        </p:spPr>
        <p:txBody>
          <a:bodyPr wrap="square">
            <a:normAutofit/>
          </a:bodyPr>
          <a:lstStyle/>
          <a:p>
            <a:pPr>
              <a:defRPr sz="950" b="0">
                <a:solidFill>
                  <a:srgbClr val="1F2937"/>
                </a:solidFill>
                <a:latin typeface="Microsoft YaHei"/>
              </a:defRPr>
            </a:pPr>
            <a:r>
              <a:t>T1</a:t>
            </a:r>
          </a:p>
        </p:txBody>
      </p:sp>
      <p:sp>
        <p:nvSpPr>
          <p:cNvPr id="16" name="TextBox 15"/>
          <p:cNvSpPr txBox="1"/>
          <p:nvPr/>
        </p:nvSpPr>
        <p:spPr>
          <a:xfrm>
            <a:off x="1508760" y="2313432"/>
            <a:ext cx="2148840" cy="256032"/>
          </a:xfrm>
          <a:prstGeom prst="rect">
            <a:avLst/>
          </a:prstGeom>
          <a:noFill/>
        </p:spPr>
        <p:txBody>
          <a:bodyPr wrap="square">
            <a:normAutofit/>
          </a:bodyPr>
          <a:lstStyle/>
          <a:p>
            <a:pPr>
              <a:defRPr sz="950" b="0">
                <a:solidFill>
                  <a:srgbClr val="1F2937"/>
                </a:solidFill>
                <a:latin typeface="Microsoft YaHei"/>
              </a:defRPr>
            </a:pPr>
            <a:r>
              <a:t>Python后端</a:t>
            </a:r>
          </a:p>
        </p:txBody>
      </p:sp>
      <p:sp>
        <p:nvSpPr>
          <p:cNvPr id="17" name="TextBox 16"/>
          <p:cNvSpPr txBox="1"/>
          <p:nvPr/>
        </p:nvSpPr>
        <p:spPr>
          <a:xfrm>
            <a:off x="3977639" y="2313432"/>
            <a:ext cx="2148840" cy="256032"/>
          </a:xfrm>
          <a:prstGeom prst="rect">
            <a:avLst/>
          </a:prstGeom>
          <a:noFill/>
        </p:spPr>
        <p:txBody>
          <a:bodyPr wrap="square">
            <a:normAutofit/>
          </a:bodyPr>
          <a:lstStyle/>
          <a:p>
            <a:pPr>
              <a:defRPr sz="950" b="0">
                <a:solidFill>
                  <a:srgbClr val="1F2937"/>
                </a:solidFill>
                <a:latin typeface="Microsoft YaHei"/>
              </a:defRPr>
            </a:pPr>
            <a:r>
              <a:t>FastAPI + PostgreSQL 项目</a:t>
            </a:r>
          </a:p>
        </p:txBody>
      </p:sp>
      <p:sp>
        <p:nvSpPr>
          <p:cNvPr id="18" name="TextBox 17"/>
          <p:cNvSpPr txBox="1"/>
          <p:nvPr/>
        </p:nvSpPr>
        <p:spPr>
          <a:xfrm>
            <a:off x="6400800" y="2313432"/>
            <a:ext cx="502920" cy="256032"/>
          </a:xfrm>
          <a:prstGeom prst="rect">
            <a:avLst/>
          </a:prstGeom>
          <a:noFill/>
        </p:spPr>
        <p:txBody>
          <a:bodyPr wrap="square">
            <a:normAutofit/>
          </a:bodyPr>
          <a:lstStyle/>
          <a:p>
            <a:pPr>
              <a:defRPr sz="950" b="0">
                <a:solidFill>
                  <a:srgbClr val="1F2937"/>
                </a:solidFill>
                <a:latin typeface="Microsoft YaHei"/>
              </a:defRPr>
            </a:pPr>
            <a:r>
              <a:t>84</a:t>
            </a:r>
          </a:p>
        </p:txBody>
      </p:sp>
      <p:sp>
        <p:nvSpPr>
          <p:cNvPr id="19" name="TextBox 18"/>
          <p:cNvSpPr txBox="1"/>
          <p:nvPr/>
        </p:nvSpPr>
        <p:spPr>
          <a:xfrm>
            <a:off x="7498079" y="2313432"/>
            <a:ext cx="594360" cy="256032"/>
          </a:xfrm>
          <a:prstGeom prst="rect">
            <a:avLst/>
          </a:prstGeom>
          <a:noFill/>
        </p:spPr>
        <p:txBody>
          <a:bodyPr wrap="square">
            <a:normAutofit/>
          </a:bodyPr>
          <a:lstStyle/>
          <a:p>
            <a:pPr>
              <a:defRPr sz="950" b="0">
                <a:solidFill>
                  <a:srgbClr val="1F2937"/>
                </a:solidFill>
                <a:latin typeface="Microsoft YaHei"/>
              </a:defRPr>
            </a:pPr>
            <a:r>
              <a:t>82</a:t>
            </a:r>
          </a:p>
        </p:txBody>
      </p:sp>
      <p:sp>
        <p:nvSpPr>
          <p:cNvPr id="20" name="TextBox 19"/>
          <p:cNvSpPr txBox="1"/>
          <p:nvPr/>
        </p:nvSpPr>
        <p:spPr>
          <a:xfrm>
            <a:off x="8549640" y="2313432"/>
            <a:ext cx="594360" cy="256032"/>
          </a:xfrm>
          <a:prstGeom prst="rect">
            <a:avLst/>
          </a:prstGeom>
          <a:noFill/>
        </p:spPr>
        <p:txBody>
          <a:bodyPr wrap="square">
            <a:normAutofit/>
          </a:bodyPr>
          <a:lstStyle/>
          <a:p>
            <a:pPr>
              <a:defRPr sz="950" b="0">
                <a:solidFill>
                  <a:srgbClr val="1F2937"/>
                </a:solidFill>
                <a:latin typeface="Microsoft YaHei"/>
              </a:defRPr>
            </a:pPr>
            <a:r>
              <a:t>2</a:t>
            </a:r>
          </a:p>
        </p:txBody>
      </p:sp>
      <p:sp>
        <p:nvSpPr>
          <p:cNvPr id="21" name="TextBox 20"/>
          <p:cNvSpPr txBox="1"/>
          <p:nvPr/>
        </p:nvSpPr>
        <p:spPr>
          <a:xfrm>
            <a:off x="9555480" y="2313432"/>
            <a:ext cx="1600200" cy="256032"/>
          </a:xfrm>
          <a:prstGeom prst="rect">
            <a:avLst/>
          </a:prstGeom>
          <a:noFill/>
        </p:spPr>
        <p:txBody>
          <a:bodyPr wrap="square">
            <a:normAutofit/>
          </a:bodyPr>
          <a:lstStyle/>
          <a:p>
            <a:pPr>
              <a:defRPr sz="950" b="0">
                <a:solidFill>
                  <a:srgbClr val="1F2937"/>
                </a:solidFill>
                <a:latin typeface="Microsoft YaHei"/>
              </a:defRPr>
            </a:pPr>
            <a:r>
              <a:t>补接口吞吐/索引/排障</a:t>
            </a:r>
          </a:p>
        </p:txBody>
      </p:sp>
      <p:sp>
        <p:nvSpPr>
          <p:cNvPr id="22" name="TextBox 21"/>
          <p:cNvSpPr txBox="1"/>
          <p:nvPr/>
        </p:nvSpPr>
        <p:spPr>
          <a:xfrm>
            <a:off x="868680" y="2816352"/>
            <a:ext cx="502920" cy="256032"/>
          </a:xfrm>
          <a:prstGeom prst="rect">
            <a:avLst/>
          </a:prstGeom>
          <a:noFill/>
        </p:spPr>
        <p:txBody>
          <a:bodyPr wrap="square">
            <a:normAutofit/>
          </a:bodyPr>
          <a:lstStyle/>
          <a:p>
            <a:pPr>
              <a:defRPr sz="950" b="0">
                <a:solidFill>
                  <a:srgbClr val="1F2937"/>
                </a:solidFill>
                <a:latin typeface="Microsoft YaHei"/>
              </a:defRPr>
            </a:pPr>
            <a:r>
              <a:t>T2</a:t>
            </a:r>
          </a:p>
        </p:txBody>
      </p:sp>
      <p:sp>
        <p:nvSpPr>
          <p:cNvPr id="23" name="TextBox 22"/>
          <p:cNvSpPr txBox="1"/>
          <p:nvPr/>
        </p:nvSpPr>
        <p:spPr>
          <a:xfrm>
            <a:off x="1508760" y="2816352"/>
            <a:ext cx="2148840" cy="256032"/>
          </a:xfrm>
          <a:prstGeom prst="rect">
            <a:avLst/>
          </a:prstGeom>
          <a:noFill/>
        </p:spPr>
        <p:txBody>
          <a:bodyPr wrap="square">
            <a:normAutofit/>
          </a:bodyPr>
          <a:lstStyle/>
          <a:p>
            <a:pPr>
              <a:defRPr sz="950" b="0">
                <a:solidFill>
                  <a:srgbClr val="1F2937"/>
                </a:solidFill>
                <a:latin typeface="Microsoft YaHei"/>
              </a:defRPr>
            </a:pPr>
            <a:r>
              <a:t>前端开发</a:t>
            </a:r>
          </a:p>
        </p:txBody>
      </p:sp>
      <p:sp>
        <p:nvSpPr>
          <p:cNvPr id="24" name="TextBox 23"/>
          <p:cNvSpPr txBox="1"/>
          <p:nvPr/>
        </p:nvSpPr>
        <p:spPr>
          <a:xfrm>
            <a:off x="3977639" y="2816352"/>
            <a:ext cx="2148840" cy="256032"/>
          </a:xfrm>
          <a:prstGeom prst="rect">
            <a:avLst/>
          </a:prstGeom>
          <a:noFill/>
        </p:spPr>
        <p:txBody>
          <a:bodyPr wrap="square">
            <a:normAutofit/>
          </a:bodyPr>
          <a:lstStyle/>
          <a:p>
            <a:pPr>
              <a:defRPr sz="950" b="0">
                <a:solidFill>
                  <a:srgbClr val="1F2937"/>
                </a:solidFill>
                <a:latin typeface="Microsoft YaHei"/>
              </a:defRPr>
            </a:pPr>
            <a:r>
              <a:t>Vue 项目，工程化不足</a:t>
            </a:r>
          </a:p>
        </p:txBody>
      </p:sp>
      <p:sp>
        <p:nvSpPr>
          <p:cNvPr id="25" name="TextBox 24"/>
          <p:cNvSpPr txBox="1"/>
          <p:nvPr/>
        </p:nvSpPr>
        <p:spPr>
          <a:xfrm>
            <a:off x="6400800" y="2816352"/>
            <a:ext cx="502920" cy="256032"/>
          </a:xfrm>
          <a:prstGeom prst="rect">
            <a:avLst/>
          </a:prstGeom>
          <a:noFill/>
        </p:spPr>
        <p:txBody>
          <a:bodyPr wrap="square">
            <a:normAutofit/>
          </a:bodyPr>
          <a:lstStyle/>
          <a:p>
            <a:pPr>
              <a:defRPr sz="950" b="0">
                <a:solidFill>
                  <a:srgbClr val="1F2937"/>
                </a:solidFill>
                <a:latin typeface="Microsoft YaHei"/>
              </a:defRPr>
            </a:pPr>
            <a:r>
              <a:t>79</a:t>
            </a:r>
          </a:p>
        </p:txBody>
      </p:sp>
      <p:sp>
        <p:nvSpPr>
          <p:cNvPr id="26" name="TextBox 25"/>
          <p:cNvSpPr txBox="1"/>
          <p:nvPr/>
        </p:nvSpPr>
        <p:spPr>
          <a:xfrm>
            <a:off x="7498079" y="2816352"/>
            <a:ext cx="594360" cy="256032"/>
          </a:xfrm>
          <a:prstGeom prst="rect">
            <a:avLst/>
          </a:prstGeom>
          <a:noFill/>
        </p:spPr>
        <p:txBody>
          <a:bodyPr wrap="square">
            <a:normAutofit/>
          </a:bodyPr>
          <a:lstStyle/>
          <a:p>
            <a:pPr>
              <a:defRPr sz="950" b="0">
                <a:solidFill>
                  <a:srgbClr val="1F2937"/>
                </a:solidFill>
                <a:latin typeface="Microsoft YaHei"/>
              </a:defRPr>
            </a:pPr>
            <a:r>
              <a:t>78</a:t>
            </a:r>
          </a:p>
        </p:txBody>
      </p:sp>
      <p:sp>
        <p:nvSpPr>
          <p:cNvPr id="27" name="TextBox 26"/>
          <p:cNvSpPr txBox="1"/>
          <p:nvPr/>
        </p:nvSpPr>
        <p:spPr>
          <a:xfrm>
            <a:off x="8549640" y="2816352"/>
            <a:ext cx="594360" cy="256032"/>
          </a:xfrm>
          <a:prstGeom prst="rect">
            <a:avLst/>
          </a:prstGeom>
          <a:noFill/>
        </p:spPr>
        <p:txBody>
          <a:bodyPr wrap="square">
            <a:normAutofit/>
          </a:bodyPr>
          <a:lstStyle/>
          <a:p>
            <a:pPr>
              <a:defRPr sz="950" b="0">
                <a:solidFill>
                  <a:srgbClr val="1F2937"/>
                </a:solidFill>
                <a:latin typeface="Microsoft YaHei"/>
              </a:defRPr>
            </a:pPr>
            <a:r>
              <a:t>1</a:t>
            </a:r>
          </a:p>
        </p:txBody>
      </p:sp>
      <p:sp>
        <p:nvSpPr>
          <p:cNvPr id="28" name="TextBox 27"/>
          <p:cNvSpPr txBox="1"/>
          <p:nvPr/>
        </p:nvSpPr>
        <p:spPr>
          <a:xfrm>
            <a:off x="9555480" y="2816352"/>
            <a:ext cx="1600200" cy="256032"/>
          </a:xfrm>
          <a:prstGeom prst="rect">
            <a:avLst/>
          </a:prstGeom>
          <a:noFill/>
        </p:spPr>
        <p:txBody>
          <a:bodyPr wrap="square">
            <a:normAutofit/>
          </a:bodyPr>
          <a:lstStyle/>
          <a:p>
            <a:pPr>
              <a:defRPr sz="950" b="0">
                <a:solidFill>
                  <a:srgbClr val="1F2937"/>
                </a:solidFill>
                <a:latin typeface="Microsoft YaHei"/>
              </a:defRPr>
            </a:pPr>
            <a:r>
              <a:t>补组件设计/性能优化</a:t>
            </a:r>
          </a:p>
        </p:txBody>
      </p:sp>
      <p:sp>
        <p:nvSpPr>
          <p:cNvPr id="29" name="TextBox 28"/>
          <p:cNvSpPr txBox="1"/>
          <p:nvPr/>
        </p:nvSpPr>
        <p:spPr>
          <a:xfrm>
            <a:off x="868680" y="3319272"/>
            <a:ext cx="502920" cy="256032"/>
          </a:xfrm>
          <a:prstGeom prst="rect">
            <a:avLst/>
          </a:prstGeom>
          <a:noFill/>
        </p:spPr>
        <p:txBody>
          <a:bodyPr wrap="square">
            <a:normAutofit/>
          </a:bodyPr>
          <a:lstStyle/>
          <a:p>
            <a:pPr>
              <a:defRPr sz="950" b="0">
                <a:solidFill>
                  <a:srgbClr val="1F2937"/>
                </a:solidFill>
                <a:latin typeface="Microsoft YaHei"/>
              </a:defRPr>
            </a:pPr>
            <a:r>
              <a:t>T3</a:t>
            </a:r>
          </a:p>
        </p:txBody>
      </p:sp>
      <p:sp>
        <p:nvSpPr>
          <p:cNvPr id="30" name="TextBox 29"/>
          <p:cNvSpPr txBox="1"/>
          <p:nvPr/>
        </p:nvSpPr>
        <p:spPr>
          <a:xfrm>
            <a:off x="1508760" y="3319272"/>
            <a:ext cx="2148840" cy="256032"/>
          </a:xfrm>
          <a:prstGeom prst="rect">
            <a:avLst/>
          </a:prstGeom>
          <a:noFill/>
        </p:spPr>
        <p:txBody>
          <a:bodyPr wrap="square">
            <a:normAutofit/>
          </a:bodyPr>
          <a:lstStyle/>
          <a:p>
            <a:pPr>
              <a:defRPr sz="950" b="0">
                <a:solidFill>
                  <a:srgbClr val="1F2937"/>
                </a:solidFill>
                <a:latin typeface="Microsoft YaHei"/>
              </a:defRPr>
            </a:pPr>
            <a:r>
              <a:t>测试工程师</a:t>
            </a:r>
          </a:p>
        </p:txBody>
      </p:sp>
      <p:sp>
        <p:nvSpPr>
          <p:cNvPr id="31" name="TextBox 30"/>
          <p:cNvSpPr txBox="1"/>
          <p:nvPr/>
        </p:nvSpPr>
        <p:spPr>
          <a:xfrm>
            <a:off x="3977639" y="3319272"/>
            <a:ext cx="2148840" cy="256032"/>
          </a:xfrm>
          <a:prstGeom prst="rect">
            <a:avLst/>
          </a:prstGeom>
          <a:noFill/>
        </p:spPr>
        <p:txBody>
          <a:bodyPr wrap="square">
            <a:normAutofit/>
          </a:bodyPr>
          <a:lstStyle/>
          <a:p>
            <a:pPr>
              <a:defRPr sz="950" b="0">
                <a:solidFill>
                  <a:srgbClr val="1F2937"/>
                </a:solidFill>
                <a:latin typeface="Microsoft YaHei"/>
              </a:defRPr>
            </a:pPr>
            <a:r>
              <a:t>接口测试与 Pytest 脚本</a:t>
            </a:r>
          </a:p>
        </p:txBody>
      </p:sp>
      <p:sp>
        <p:nvSpPr>
          <p:cNvPr id="32" name="TextBox 31"/>
          <p:cNvSpPr txBox="1"/>
          <p:nvPr/>
        </p:nvSpPr>
        <p:spPr>
          <a:xfrm>
            <a:off x="6400800" y="3319272"/>
            <a:ext cx="502920" cy="256032"/>
          </a:xfrm>
          <a:prstGeom prst="rect">
            <a:avLst/>
          </a:prstGeom>
          <a:noFill/>
        </p:spPr>
        <p:txBody>
          <a:bodyPr wrap="square">
            <a:normAutofit/>
          </a:bodyPr>
          <a:lstStyle/>
          <a:p>
            <a:pPr>
              <a:defRPr sz="950" b="0">
                <a:solidFill>
                  <a:srgbClr val="1F2937"/>
                </a:solidFill>
                <a:latin typeface="Microsoft YaHei"/>
              </a:defRPr>
            </a:pPr>
            <a:r>
              <a:t>76</a:t>
            </a:r>
          </a:p>
        </p:txBody>
      </p:sp>
      <p:sp>
        <p:nvSpPr>
          <p:cNvPr id="33" name="TextBox 32"/>
          <p:cNvSpPr txBox="1"/>
          <p:nvPr/>
        </p:nvSpPr>
        <p:spPr>
          <a:xfrm>
            <a:off x="7498079" y="3319272"/>
            <a:ext cx="594360" cy="256032"/>
          </a:xfrm>
          <a:prstGeom prst="rect">
            <a:avLst/>
          </a:prstGeom>
          <a:noFill/>
        </p:spPr>
        <p:txBody>
          <a:bodyPr wrap="square">
            <a:normAutofit/>
          </a:bodyPr>
          <a:lstStyle/>
          <a:p>
            <a:pPr>
              <a:defRPr sz="950" b="0">
                <a:solidFill>
                  <a:srgbClr val="1F2937"/>
                </a:solidFill>
                <a:latin typeface="Microsoft YaHei"/>
              </a:defRPr>
            </a:pPr>
            <a:r>
              <a:t>74</a:t>
            </a:r>
          </a:p>
        </p:txBody>
      </p:sp>
      <p:sp>
        <p:nvSpPr>
          <p:cNvPr id="34" name="TextBox 33"/>
          <p:cNvSpPr txBox="1"/>
          <p:nvPr/>
        </p:nvSpPr>
        <p:spPr>
          <a:xfrm>
            <a:off x="8549640" y="3319272"/>
            <a:ext cx="594360" cy="256032"/>
          </a:xfrm>
          <a:prstGeom prst="rect">
            <a:avLst/>
          </a:prstGeom>
          <a:noFill/>
        </p:spPr>
        <p:txBody>
          <a:bodyPr wrap="square">
            <a:normAutofit/>
          </a:bodyPr>
          <a:lstStyle/>
          <a:p>
            <a:pPr>
              <a:defRPr sz="950" b="0">
                <a:solidFill>
                  <a:srgbClr val="1F2937"/>
                </a:solidFill>
                <a:latin typeface="Microsoft YaHei"/>
              </a:defRPr>
            </a:pPr>
            <a:r>
              <a:t>2</a:t>
            </a:r>
          </a:p>
        </p:txBody>
      </p:sp>
      <p:sp>
        <p:nvSpPr>
          <p:cNvPr id="35" name="TextBox 34"/>
          <p:cNvSpPr txBox="1"/>
          <p:nvPr/>
        </p:nvSpPr>
        <p:spPr>
          <a:xfrm>
            <a:off x="9555480" y="3319272"/>
            <a:ext cx="1600200" cy="256032"/>
          </a:xfrm>
          <a:prstGeom prst="rect">
            <a:avLst/>
          </a:prstGeom>
          <a:noFill/>
        </p:spPr>
        <p:txBody>
          <a:bodyPr wrap="square">
            <a:normAutofit/>
          </a:bodyPr>
          <a:lstStyle/>
          <a:p>
            <a:pPr>
              <a:defRPr sz="950" b="0">
                <a:solidFill>
                  <a:srgbClr val="1F2937"/>
                </a:solidFill>
                <a:latin typeface="Microsoft YaHei"/>
              </a:defRPr>
            </a:pPr>
            <a:r>
              <a:t>补用例设计/回归策略</a:t>
            </a:r>
          </a:p>
        </p:txBody>
      </p:sp>
      <p:sp>
        <p:nvSpPr>
          <p:cNvPr id="36" name="TextBox 35"/>
          <p:cNvSpPr txBox="1"/>
          <p:nvPr/>
        </p:nvSpPr>
        <p:spPr>
          <a:xfrm>
            <a:off x="868680" y="3822192"/>
            <a:ext cx="502920" cy="256032"/>
          </a:xfrm>
          <a:prstGeom prst="rect">
            <a:avLst/>
          </a:prstGeom>
          <a:noFill/>
        </p:spPr>
        <p:txBody>
          <a:bodyPr wrap="square">
            <a:normAutofit/>
          </a:bodyPr>
          <a:lstStyle/>
          <a:p>
            <a:pPr>
              <a:defRPr sz="950" b="0">
                <a:solidFill>
                  <a:srgbClr val="1F2937"/>
                </a:solidFill>
                <a:latin typeface="Microsoft YaHei"/>
              </a:defRPr>
            </a:pPr>
            <a:r>
              <a:t>B1</a:t>
            </a:r>
          </a:p>
        </p:txBody>
      </p:sp>
      <p:sp>
        <p:nvSpPr>
          <p:cNvPr id="37" name="TextBox 36"/>
          <p:cNvSpPr txBox="1"/>
          <p:nvPr/>
        </p:nvSpPr>
        <p:spPr>
          <a:xfrm>
            <a:off x="1508760" y="3822192"/>
            <a:ext cx="2148840" cy="256032"/>
          </a:xfrm>
          <a:prstGeom prst="rect">
            <a:avLst/>
          </a:prstGeom>
          <a:noFill/>
        </p:spPr>
        <p:txBody>
          <a:bodyPr wrap="square">
            <a:normAutofit/>
          </a:bodyPr>
          <a:lstStyle/>
          <a:p>
            <a:pPr>
              <a:defRPr sz="950" b="0">
                <a:solidFill>
                  <a:srgbClr val="1F2937"/>
                </a:solidFill>
                <a:latin typeface="Microsoft YaHei"/>
              </a:defRPr>
            </a:pPr>
            <a:r>
              <a:t>人力资源专员</a:t>
            </a:r>
          </a:p>
        </p:txBody>
      </p:sp>
      <p:sp>
        <p:nvSpPr>
          <p:cNvPr id="38" name="TextBox 37"/>
          <p:cNvSpPr txBox="1"/>
          <p:nvPr/>
        </p:nvSpPr>
        <p:spPr>
          <a:xfrm>
            <a:off x="3977639" y="3822192"/>
            <a:ext cx="2148840" cy="256032"/>
          </a:xfrm>
          <a:prstGeom prst="rect">
            <a:avLst/>
          </a:prstGeom>
          <a:noFill/>
        </p:spPr>
        <p:txBody>
          <a:bodyPr wrap="square">
            <a:normAutofit/>
          </a:bodyPr>
          <a:lstStyle/>
          <a:p>
            <a:pPr>
              <a:defRPr sz="950" b="0">
                <a:solidFill>
                  <a:srgbClr val="1F2937"/>
                </a:solidFill>
                <a:latin typeface="Microsoft YaHei"/>
              </a:defRPr>
            </a:pPr>
            <a:r>
              <a:t>组织经历和人事助理实习</a:t>
            </a:r>
          </a:p>
        </p:txBody>
      </p:sp>
      <p:sp>
        <p:nvSpPr>
          <p:cNvPr id="39" name="TextBox 38"/>
          <p:cNvSpPr txBox="1"/>
          <p:nvPr/>
        </p:nvSpPr>
        <p:spPr>
          <a:xfrm>
            <a:off x="6400800" y="3822192"/>
            <a:ext cx="502920" cy="256032"/>
          </a:xfrm>
          <a:prstGeom prst="rect">
            <a:avLst/>
          </a:prstGeom>
          <a:noFill/>
        </p:spPr>
        <p:txBody>
          <a:bodyPr wrap="square">
            <a:normAutofit/>
          </a:bodyPr>
          <a:lstStyle/>
          <a:p>
            <a:pPr>
              <a:defRPr sz="950" b="0">
                <a:solidFill>
                  <a:srgbClr val="1F2937"/>
                </a:solidFill>
                <a:latin typeface="Microsoft YaHei"/>
              </a:defRPr>
            </a:pPr>
            <a:r>
              <a:t>82</a:t>
            </a:r>
          </a:p>
        </p:txBody>
      </p:sp>
      <p:sp>
        <p:nvSpPr>
          <p:cNvPr id="40" name="TextBox 39"/>
          <p:cNvSpPr txBox="1"/>
          <p:nvPr/>
        </p:nvSpPr>
        <p:spPr>
          <a:xfrm>
            <a:off x="7498079" y="3822192"/>
            <a:ext cx="594360" cy="256032"/>
          </a:xfrm>
          <a:prstGeom prst="rect">
            <a:avLst/>
          </a:prstGeom>
          <a:noFill/>
        </p:spPr>
        <p:txBody>
          <a:bodyPr wrap="square">
            <a:normAutofit/>
          </a:bodyPr>
          <a:lstStyle/>
          <a:p>
            <a:pPr>
              <a:defRPr sz="950" b="0">
                <a:solidFill>
                  <a:srgbClr val="1F2937"/>
                </a:solidFill>
                <a:latin typeface="Microsoft YaHei"/>
              </a:defRPr>
            </a:pPr>
            <a:r>
              <a:t>80</a:t>
            </a:r>
          </a:p>
        </p:txBody>
      </p:sp>
      <p:sp>
        <p:nvSpPr>
          <p:cNvPr id="41" name="TextBox 40"/>
          <p:cNvSpPr txBox="1"/>
          <p:nvPr/>
        </p:nvSpPr>
        <p:spPr>
          <a:xfrm>
            <a:off x="8549640" y="3822192"/>
            <a:ext cx="594360" cy="256032"/>
          </a:xfrm>
          <a:prstGeom prst="rect">
            <a:avLst/>
          </a:prstGeom>
          <a:noFill/>
        </p:spPr>
        <p:txBody>
          <a:bodyPr wrap="square">
            <a:normAutofit/>
          </a:bodyPr>
          <a:lstStyle/>
          <a:p>
            <a:pPr>
              <a:defRPr sz="950" b="0">
                <a:solidFill>
                  <a:srgbClr val="1F2937"/>
                </a:solidFill>
                <a:latin typeface="Microsoft YaHei"/>
              </a:defRPr>
            </a:pPr>
            <a:r>
              <a:t>2</a:t>
            </a:r>
          </a:p>
        </p:txBody>
      </p:sp>
      <p:sp>
        <p:nvSpPr>
          <p:cNvPr id="42" name="TextBox 41"/>
          <p:cNvSpPr txBox="1"/>
          <p:nvPr/>
        </p:nvSpPr>
        <p:spPr>
          <a:xfrm>
            <a:off x="9555480" y="3822192"/>
            <a:ext cx="1600200" cy="256032"/>
          </a:xfrm>
          <a:prstGeom prst="rect">
            <a:avLst/>
          </a:prstGeom>
          <a:noFill/>
        </p:spPr>
        <p:txBody>
          <a:bodyPr wrap="square">
            <a:normAutofit/>
          </a:bodyPr>
          <a:lstStyle/>
          <a:p>
            <a:pPr>
              <a:defRPr sz="950" b="0">
                <a:solidFill>
                  <a:srgbClr val="1F2937"/>
                </a:solidFill>
                <a:latin typeface="Microsoft YaHei"/>
              </a:defRPr>
            </a:pPr>
            <a:r>
              <a:t>补招聘动作和量化结果</a:t>
            </a:r>
          </a:p>
        </p:txBody>
      </p:sp>
      <p:sp>
        <p:nvSpPr>
          <p:cNvPr id="43" name="TextBox 42"/>
          <p:cNvSpPr txBox="1"/>
          <p:nvPr/>
        </p:nvSpPr>
        <p:spPr>
          <a:xfrm>
            <a:off x="868680" y="4325112"/>
            <a:ext cx="502920" cy="256032"/>
          </a:xfrm>
          <a:prstGeom prst="rect">
            <a:avLst/>
          </a:prstGeom>
          <a:noFill/>
        </p:spPr>
        <p:txBody>
          <a:bodyPr wrap="square">
            <a:normAutofit/>
          </a:bodyPr>
          <a:lstStyle/>
          <a:p>
            <a:pPr>
              <a:defRPr sz="950" b="0">
                <a:solidFill>
                  <a:srgbClr val="1F2937"/>
                </a:solidFill>
                <a:latin typeface="Microsoft YaHei"/>
              </a:defRPr>
            </a:pPr>
            <a:r>
              <a:t>B2</a:t>
            </a:r>
          </a:p>
        </p:txBody>
      </p:sp>
      <p:sp>
        <p:nvSpPr>
          <p:cNvPr id="44" name="TextBox 43"/>
          <p:cNvSpPr txBox="1"/>
          <p:nvPr/>
        </p:nvSpPr>
        <p:spPr>
          <a:xfrm>
            <a:off x="1508760" y="4325112"/>
            <a:ext cx="2148840" cy="256032"/>
          </a:xfrm>
          <a:prstGeom prst="rect">
            <a:avLst/>
          </a:prstGeom>
          <a:noFill/>
        </p:spPr>
        <p:txBody>
          <a:bodyPr wrap="square">
            <a:normAutofit/>
          </a:bodyPr>
          <a:lstStyle/>
          <a:p>
            <a:pPr>
              <a:defRPr sz="950" b="0">
                <a:solidFill>
                  <a:srgbClr val="1F2937"/>
                </a:solidFill>
                <a:latin typeface="Microsoft YaHei"/>
              </a:defRPr>
            </a:pPr>
            <a:r>
              <a:t>运营助理</a:t>
            </a:r>
          </a:p>
        </p:txBody>
      </p:sp>
      <p:sp>
        <p:nvSpPr>
          <p:cNvPr id="45" name="TextBox 44"/>
          <p:cNvSpPr txBox="1"/>
          <p:nvPr/>
        </p:nvSpPr>
        <p:spPr>
          <a:xfrm>
            <a:off x="3977639" y="4325112"/>
            <a:ext cx="2148840" cy="256032"/>
          </a:xfrm>
          <a:prstGeom prst="rect">
            <a:avLst/>
          </a:prstGeom>
          <a:noFill/>
        </p:spPr>
        <p:txBody>
          <a:bodyPr wrap="square">
            <a:normAutofit/>
          </a:bodyPr>
          <a:lstStyle/>
          <a:p>
            <a:pPr>
              <a:defRPr sz="950" b="0">
                <a:solidFill>
                  <a:srgbClr val="1F2937"/>
                </a:solidFill>
                <a:latin typeface="Microsoft YaHei"/>
              </a:defRPr>
            </a:pPr>
            <a:r>
              <a:t>校园活动执行，无正式实习</a:t>
            </a:r>
          </a:p>
        </p:txBody>
      </p:sp>
      <p:sp>
        <p:nvSpPr>
          <p:cNvPr id="46" name="TextBox 45"/>
          <p:cNvSpPr txBox="1"/>
          <p:nvPr/>
        </p:nvSpPr>
        <p:spPr>
          <a:xfrm>
            <a:off x="6400800" y="4325112"/>
            <a:ext cx="502920" cy="256032"/>
          </a:xfrm>
          <a:prstGeom prst="rect">
            <a:avLst/>
          </a:prstGeom>
          <a:noFill/>
        </p:spPr>
        <p:txBody>
          <a:bodyPr wrap="square">
            <a:normAutofit/>
          </a:bodyPr>
          <a:lstStyle/>
          <a:p>
            <a:pPr>
              <a:defRPr sz="950" b="0">
                <a:solidFill>
                  <a:srgbClr val="1F2937"/>
                </a:solidFill>
                <a:latin typeface="Microsoft YaHei"/>
              </a:defRPr>
            </a:pPr>
            <a:r>
              <a:t>73</a:t>
            </a:r>
          </a:p>
        </p:txBody>
      </p:sp>
      <p:sp>
        <p:nvSpPr>
          <p:cNvPr id="47" name="TextBox 46"/>
          <p:cNvSpPr txBox="1"/>
          <p:nvPr/>
        </p:nvSpPr>
        <p:spPr>
          <a:xfrm>
            <a:off x="7498079" y="4325112"/>
            <a:ext cx="594360" cy="256032"/>
          </a:xfrm>
          <a:prstGeom prst="rect">
            <a:avLst/>
          </a:prstGeom>
          <a:noFill/>
        </p:spPr>
        <p:txBody>
          <a:bodyPr wrap="square">
            <a:normAutofit/>
          </a:bodyPr>
          <a:lstStyle/>
          <a:p>
            <a:pPr>
              <a:defRPr sz="950" b="0">
                <a:solidFill>
                  <a:srgbClr val="1F2937"/>
                </a:solidFill>
                <a:latin typeface="Microsoft YaHei"/>
              </a:defRPr>
            </a:pPr>
            <a:r>
              <a:t>75</a:t>
            </a:r>
          </a:p>
        </p:txBody>
      </p:sp>
      <p:sp>
        <p:nvSpPr>
          <p:cNvPr id="48" name="TextBox 47"/>
          <p:cNvSpPr txBox="1"/>
          <p:nvPr/>
        </p:nvSpPr>
        <p:spPr>
          <a:xfrm>
            <a:off x="8549640" y="4325112"/>
            <a:ext cx="594360" cy="256032"/>
          </a:xfrm>
          <a:prstGeom prst="rect">
            <a:avLst/>
          </a:prstGeom>
          <a:noFill/>
        </p:spPr>
        <p:txBody>
          <a:bodyPr wrap="square">
            <a:normAutofit/>
          </a:bodyPr>
          <a:lstStyle/>
          <a:p>
            <a:pPr>
              <a:defRPr sz="950" b="0">
                <a:solidFill>
                  <a:srgbClr val="1F2937"/>
                </a:solidFill>
                <a:latin typeface="Microsoft YaHei"/>
              </a:defRPr>
            </a:pPr>
            <a:r>
              <a:t>-2</a:t>
            </a:r>
          </a:p>
        </p:txBody>
      </p:sp>
      <p:sp>
        <p:nvSpPr>
          <p:cNvPr id="49" name="TextBox 48"/>
          <p:cNvSpPr txBox="1"/>
          <p:nvPr/>
        </p:nvSpPr>
        <p:spPr>
          <a:xfrm>
            <a:off x="9555480" y="4325112"/>
            <a:ext cx="1600200" cy="256032"/>
          </a:xfrm>
          <a:prstGeom prst="rect">
            <a:avLst/>
          </a:prstGeom>
          <a:noFill/>
        </p:spPr>
        <p:txBody>
          <a:bodyPr wrap="square">
            <a:normAutofit/>
          </a:bodyPr>
          <a:lstStyle/>
          <a:p>
            <a:pPr>
              <a:defRPr sz="950" b="0">
                <a:solidFill>
                  <a:srgbClr val="1F2937"/>
                </a:solidFill>
                <a:latin typeface="Microsoft YaHei"/>
              </a:defRPr>
            </a:pPr>
            <a:r>
              <a:t>按 STAR 重写活动经历</a:t>
            </a:r>
          </a:p>
        </p:txBody>
      </p:sp>
      <p:sp>
        <p:nvSpPr>
          <p:cNvPr id="50" name="TextBox 49"/>
          <p:cNvSpPr txBox="1"/>
          <p:nvPr/>
        </p:nvSpPr>
        <p:spPr>
          <a:xfrm>
            <a:off x="914400" y="4983480"/>
            <a:ext cx="9875520" cy="502920"/>
          </a:xfrm>
          <a:prstGeom prst="rect">
            <a:avLst/>
          </a:prstGeom>
          <a:noFill/>
        </p:spPr>
        <p:txBody>
          <a:bodyPr wrap="square">
            <a:normAutofit/>
          </a:bodyPr>
          <a:lstStyle/>
          <a:p>
            <a:pPr>
              <a:defRPr sz="1100" b="0">
                <a:solidFill>
                  <a:srgbClr val="64748B"/>
                </a:solidFill>
                <a:latin typeface="Microsoft YaHei"/>
              </a:defRPr>
            </a:pPr>
            <a:r>
              <a:t>支撑文件：AI评分与人工评分对比_初赛版.xlsx</a:t>
            </a:r>
            <a:br/>
            <a:r>
              <a:t>状态：演示样例，不作为最终实验结论；正式答辩前用真实面试记录和人工标注替换。</a:t>
            </a:r>
          </a:p>
        </p:txBody>
      </p:sp>
      <p:sp>
        <p:nvSpPr>
          <p:cNvPr id="51" name="TextBox 50"/>
          <p:cNvSpPr txBox="1"/>
          <p:nvPr/>
        </p:nvSpPr>
        <p:spPr>
          <a:xfrm>
            <a:off x="9738360" y="6446520"/>
            <a:ext cx="1920240" cy="228600"/>
          </a:xfrm>
          <a:prstGeom prst="rect">
            <a:avLst/>
          </a:prstGeom>
          <a:noFill/>
        </p:spPr>
        <p:txBody>
          <a:bodyPr wrap="square">
            <a:normAutofit/>
          </a:bodyPr>
          <a:lstStyle/>
          <a:p>
            <a:pPr algn="r">
              <a:defRPr sz="900" b="0">
                <a:solidFill>
                  <a:srgbClr val="64748B"/>
                </a:solidFill>
                <a:latin typeface="Microsoft YaHei"/>
              </a:defRPr>
            </a:pPr>
            <a:r>
              <a:t>职启智评 初赛答辩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84048"/>
            <a:ext cx="8961120" cy="530352"/>
          </a:xfrm>
          <a:prstGeom prst="rect">
            <a:avLst/>
          </a:prstGeom>
          <a:noFill/>
        </p:spPr>
        <p:txBody>
          <a:bodyPr wrap="square">
            <a:normAutofit/>
          </a:bodyPr>
          <a:lstStyle/>
          <a:p>
            <a:pPr>
              <a:defRPr sz="2800" b="1">
                <a:solidFill>
                  <a:srgbClr val="0F2A43"/>
                </a:solidFill>
                <a:latin typeface="Microsoft YaHei"/>
              </a:defRPr>
            </a:pPr>
            <a:r>
              <a:t>8. 现场演示顺序</a:t>
            </a:r>
          </a:p>
        </p:txBody>
      </p:sp>
      <p:sp>
        <p:nvSpPr>
          <p:cNvPr id="3" name="TextBox 2"/>
          <p:cNvSpPr txBox="1"/>
          <p:nvPr/>
        </p:nvSpPr>
        <p:spPr>
          <a:xfrm>
            <a:off x="603504" y="941832"/>
            <a:ext cx="9326880" cy="292608"/>
          </a:xfrm>
          <a:prstGeom prst="rect">
            <a:avLst/>
          </a:prstGeom>
          <a:noFill/>
        </p:spPr>
        <p:txBody>
          <a:bodyPr wrap="square">
            <a:normAutofit/>
          </a:bodyPr>
          <a:lstStyle/>
          <a:p>
            <a:pPr>
              <a:defRPr sz="1200" b="0">
                <a:solidFill>
                  <a:srgbClr val="64748B"/>
                </a:solidFill>
                <a:latin typeface="Microsoft YaHei"/>
              </a:defRPr>
            </a:pPr>
            <a:r>
              <a:t>今晚优先保证可讲清、可兜底、不卡在静态演示页</a:t>
            </a:r>
          </a:p>
        </p:txBody>
      </p:sp>
      <p:sp>
        <p:nvSpPr>
          <p:cNvPr id="4" name="Rectangle 3"/>
          <p:cNvSpPr/>
          <p:nvPr/>
        </p:nvSpPr>
        <p:spPr>
          <a:xfrm>
            <a:off x="594360" y="1298448"/>
            <a:ext cx="182880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9808" y="1463040"/>
            <a:ext cx="438912" cy="292608"/>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5" y="1522476"/>
            <a:ext cx="310896" cy="164592"/>
          </a:xfrm>
          <a:prstGeom prst="rect">
            <a:avLst/>
          </a:prstGeom>
          <a:noFill/>
        </p:spPr>
        <p:txBody>
          <a:bodyPr wrap="square">
            <a:normAutofit/>
          </a:bodyPr>
          <a:lstStyle/>
          <a:p>
            <a:pPr algn="ctr">
              <a:defRPr sz="900" b="1">
                <a:solidFill>
                  <a:srgbClr val="FFFFFF"/>
                </a:solidFill>
                <a:latin typeface="Microsoft YaHei"/>
              </a:defRPr>
            </a:pPr>
            <a:r>
              <a:t>01</a:t>
            </a:r>
          </a:p>
        </p:txBody>
      </p:sp>
      <p:sp>
        <p:nvSpPr>
          <p:cNvPr id="7" name="TextBox 6"/>
          <p:cNvSpPr txBox="1"/>
          <p:nvPr/>
        </p:nvSpPr>
        <p:spPr>
          <a:xfrm>
            <a:off x="1389888" y="1417320"/>
            <a:ext cx="2377440" cy="256032"/>
          </a:xfrm>
          <a:prstGeom prst="rect">
            <a:avLst/>
          </a:prstGeom>
          <a:noFill/>
        </p:spPr>
        <p:txBody>
          <a:bodyPr wrap="square">
            <a:normAutofit/>
          </a:bodyPr>
          <a:lstStyle/>
          <a:p>
            <a:pPr>
              <a:defRPr sz="1400" b="1">
                <a:solidFill>
                  <a:srgbClr val="0F2A43"/>
                </a:solidFill>
                <a:latin typeface="Microsoft YaHei"/>
              </a:defRPr>
            </a:pPr>
            <a:r>
              <a:t>后台公共岗位画像库</a:t>
            </a:r>
          </a:p>
        </p:txBody>
      </p:sp>
      <p:sp>
        <p:nvSpPr>
          <p:cNvPr id="8" name="TextBox 7"/>
          <p:cNvSpPr txBox="1"/>
          <p:nvPr/>
        </p:nvSpPr>
        <p:spPr>
          <a:xfrm>
            <a:off x="3703320" y="1417320"/>
            <a:ext cx="7040880" cy="384048"/>
          </a:xfrm>
          <a:prstGeom prst="rect">
            <a:avLst/>
          </a:prstGeom>
          <a:noFill/>
        </p:spPr>
        <p:txBody>
          <a:bodyPr wrap="square">
            <a:normAutofit/>
          </a:bodyPr>
          <a:lstStyle/>
          <a:p>
            <a:pPr>
              <a:defRPr sz="1200" b="0">
                <a:solidFill>
                  <a:srgbClr val="1F2937"/>
                </a:solidFill>
                <a:latin typeface="Microsoft YaHei"/>
              </a:defRPr>
            </a:pPr>
            <a:r>
              <a:t>看总数、启用数、技术/非技术概览，展开查看画像内容和知识切片。</a:t>
            </a:r>
          </a:p>
        </p:txBody>
      </p:sp>
      <p:sp>
        <p:nvSpPr>
          <p:cNvPr id="9" name="Rounded Rectangle 8"/>
          <p:cNvSpPr/>
          <p:nvPr/>
        </p:nvSpPr>
        <p:spPr>
          <a:xfrm>
            <a:off x="749808" y="2395728"/>
            <a:ext cx="438912" cy="292608"/>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5" y="2455164"/>
            <a:ext cx="310896" cy="164592"/>
          </a:xfrm>
          <a:prstGeom prst="rect">
            <a:avLst/>
          </a:prstGeom>
          <a:noFill/>
        </p:spPr>
        <p:txBody>
          <a:bodyPr wrap="square">
            <a:normAutofit/>
          </a:bodyPr>
          <a:lstStyle/>
          <a:p>
            <a:pPr algn="ctr">
              <a:defRPr sz="900" b="1">
                <a:solidFill>
                  <a:srgbClr val="FFFFFF"/>
                </a:solidFill>
                <a:latin typeface="Microsoft YaHei"/>
              </a:defRPr>
            </a:pPr>
            <a:r>
              <a:t>02</a:t>
            </a:r>
          </a:p>
        </p:txBody>
      </p:sp>
      <p:sp>
        <p:nvSpPr>
          <p:cNvPr id="11" name="TextBox 10"/>
          <p:cNvSpPr txBox="1"/>
          <p:nvPr/>
        </p:nvSpPr>
        <p:spPr>
          <a:xfrm>
            <a:off x="1389888" y="2350008"/>
            <a:ext cx="2377440" cy="256032"/>
          </a:xfrm>
          <a:prstGeom prst="rect">
            <a:avLst/>
          </a:prstGeom>
          <a:noFill/>
        </p:spPr>
        <p:txBody>
          <a:bodyPr wrap="square">
            <a:normAutofit/>
          </a:bodyPr>
          <a:lstStyle/>
          <a:p>
            <a:pPr>
              <a:defRPr sz="1400" b="1">
                <a:solidFill>
                  <a:srgbClr val="0F2A43"/>
                </a:solidFill>
                <a:latin typeface="Microsoft YaHei"/>
              </a:defRPr>
            </a:pPr>
            <a:r>
              <a:t>用户端新建面试</a:t>
            </a:r>
          </a:p>
        </p:txBody>
      </p:sp>
      <p:sp>
        <p:nvSpPr>
          <p:cNvPr id="12" name="TextBox 11"/>
          <p:cNvSpPr txBox="1"/>
          <p:nvPr/>
        </p:nvSpPr>
        <p:spPr>
          <a:xfrm>
            <a:off x="3703320" y="2350008"/>
            <a:ext cx="7040880" cy="384048"/>
          </a:xfrm>
          <a:prstGeom prst="rect">
            <a:avLst/>
          </a:prstGeom>
          <a:noFill/>
        </p:spPr>
        <p:txBody>
          <a:bodyPr wrap="square">
            <a:normAutofit/>
          </a:bodyPr>
          <a:lstStyle/>
          <a:p>
            <a:pPr>
              <a:defRPr sz="1200" b="0">
                <a:solidFill>
                  <a:srgbClr val="1F2937"/>
                </a:solidFill>
                <a:latin typeface="Microsoft YaHei"/>
              </a:defRPr>
            </a:pPr>
            <a:r>
              <a:t>上传简历，选择目标岗位和岗位画像，点击开始面试。</a:t>
            </a:r>
          </a:p>
        </p:txBody>
      </p:sp>
      <p:sp>
        <p:nvSpPr>
          <p:cNvPr id="13" name="Rounded Rectangle 12"/>
          <p:cNvSpPr/>
          <p:nvPr/>
        </p:nvSpPr>
        <p:spPr>
          <a:xfrm>
            <a:off x="749808" y="3328415"/>
            <a:ext cx="438912" cy="292608"/>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5" y="3387851"/>
            <a:ext cx="310896" cy="164592"/>
          </a:xfrm>
          <a:prstGeom prst="rect">
            <a:avLst/>
          </a:prstGeom>
          <a:noFill/>
        </p:spPr>
        <p:txBody>
          <a:bodyPr wrap="square">
            <a:normAutofit/>
          </a:bodyPr>
          <a:lstStyle/>
          <a:p>
            <a:pPr algn="ctr">
              <a:defRPr sz="900" b="1">
                <a:solidFill>
                  <a:srgbClr val="FFFFFF"/>
                </a:solidFill>
                <a:latin typeface="Microsoft YaHei"/>
              </a:defRPr>
            </a:pPr>
            <a:r>
              <a:t>03</a:t>
            </a:r>
          </a:p>
        </p:txBody>
      </p:sp>
      <p:sp>
        <p:nvSpPr>
          <p:cNvPr id="15" name="TextBox 14"/>
          <p:cNvSpPr txBox="1"/>
          <p:nvPr/>
        </p:nvSpPr>
        <p:spPr>
          <a:xfrm>
            <a:off x="1389888" y="3282696"/>
            <a:ext cx="2377440" cy="256032"/>
          </a:xfrm>
          <a:prstGeom prst="rect">
            <a:avLst/>
          </a:prstGeom>
          <a:noFill/>
        </p:spPr>
        <p:txBody>
          <a:bodyPr wrap="square">
            <a:normAutofit/>
          </a:bodyPr>
          <a:lstStyle/>
          <a:p>
            <a:pPr>
              <a:defRPr sz="1400" b="1">
                <a:solidFill>
                  <a:srgbClr val="0F2A43"/>
                </a:solidFill>
                <a:latin typeface="Microsoft YaHei"/>
              </a:defRPr>
            </a:pPr>
            <a:r>
              <a:t>面试记录与报告</a:t>
            </a:r>
          </a:p>
        </p:txBody>
      </p:sp>
      <p:sp>
        <p:nvSpPr>
          <p:cNvPr id="16" name="TextBox 15"/>
          <p:cNvSpPr txBox="1"/>
          <p:nvPr/>
        </p:nvSpPr>
        <p:spPr>
          <a:xfrm>
            <a:off x="3703320" y="3282696"/>
            <a:ext cx="7040880" cy="384048"/>
          </a:xfrm>
          <a:prstGeom prst="rect">
            <a:avLst/>
          </a:prstGeom>
          <a:noFill/>
        </p:spPr>
        <p:txBody>
          <a:bodyPr wrap="square">
            <a:normAutofit/>
          </a:bodyPr>
          <a:lstStyle/>
          <a:p>
            <a:pPr>
              <a:defRPr sz="1200" b="0">
                <a:solidFill>
                  <a:srgbClr val="1F2937"/>
                </a:solidFill>
                <a:latin typeface="Microsoft YaHei"/>
              </a:defRPr>
            </a:pPr>
            <a:r>
              <a:t>说明只有开始面试后才生成记录；有数据看列表，无数据看清晰空态。</a:t>
            </a:r>
          </a:p>
        </p:txBody>
      </p:sp>
      <p:sp>
        <p:nvSpPr>
          <p:cNvPr id="17" name="Rounded Rectangle 16"/>
          <p:cNvSpPr/>
          <p:nvPr/>
        </p:nvSpPr>
        <p:spPr>
          <a:xfrm>
            <a:off x="749808" y="4261104"/>
            <a:ext cx="438912" cy="292608"/>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 y="4320540"/>
            <a:ext cx="310896" cy="164592"/>
          </a:xfrm>
          <a:prstGeom prst="rect">
            <a:avLst/>
          </a:prstGeom>
          <a:noFill/>
        </p:spPr>
        <p:txBody>
          <a:bodyPr wrap="square">
            <a:normAutofit/>
          </a:bodyPr>
          <a:lstStyle/>
          <a:p>
            <a:pPr algn="ctr">
              <a:defRPr sz="900" b="1">
                <a:solidFill>
                  <a:srgbClr val="FFFFFF"/>
                </a:solidFill>
                <a:latin typeface="Microsoft YaHei"/>
              </a:defRPr>
            </a:pPr>
            <a:r>
              <a:t>04</a:t>
            </a:r>
          </a:p>
        </p:txBody>
      </p:sp>
      <p:sp>
        <p:nvSpPr>
          <p:cNvPr id="19" name="TextBox 18"/>
          <p:cNvSpPr txBox="1"/>
          <p:nvPr/>
        </p:nvSpPr>
        <p:spPr>
          <a:xfrm>
            <a:off x="1389888" y="4215384"/>
            <a:ext cx="2377440" cy="256032"/>
          </a:xfrm>
          <a:prstGeom prst="rect">
            <a:avLst/>
          </a:prstGeom>
          <a:noFill/>
        </p:spPr>
        <p:txBody>
          <a:bodyPr wrap="square">
            <a:normAutofit/>
          </a:bodyPr>
          <a:lstStyle/>
          <a:p>
            <a:pPr>
              <a:defRPr sz="1400" b="1">
                <a:solidFill>
                  <a:srgbClr val="0F2A43"/>
                </a:solidFill>
                <a:latin typeface="Microsoft YaHei"/>
              </a:defRPr>
            </a:pPr>
            <a:r>
              <a:t>测评样本</a:t>
            </a:r>
          </a:p>
        </p:txBody>
      </p:sp>
      <p:sp>
        <p:nvSpPr>
          <p:cNvPr id="20" name="TextBox 19"/>
          <p:cNvSpPr txBox="1"/>
          <p:nvPr/>
        </p:nvSpPr>
        <p:spPr>
          <a:xfrm>
            <a:off x="3703320" y="4215384"/>
            <a:ext cx="7040880" cy="384048"/>
          </a:xfrm>
          <a:prstGeom prst="rect">
            <a:avLst/>
          </a:prstGeom>
          <a:noFill/>
        </p:spPr>
        <p:txBody>
          <a:bodyPr wrap="square">
            <a:normAutofit/>
          </a:bodyPr>
          <a:lstStyle/>
          <a:p>
            <a:pPr>
              <a:defRPr sz="1200" b="0">
                <a:solidFill>
                  <a:srgbClr val="1F2937"/>
                </a:solidFill>
                <a:latin typeface="Microsoft YaHei"/>
              </a:defRPr>
            </a:pPr>
            <a:r>
              <a:t>无样本时显示“暂无可导出样本”；有样本后导出用于人工评分对比。</a:t>
            </a:r>
          </a:p>
        </p:txBody>
      </p:sp>
      <p:sp>
        <p:nvSpPr>
          <p:cNvPr id="21" name="Rounded Rectangle 20"/>
          <p:cNvSpPr/>
          <p:nvPr/>
        </p:nvSpPr>
        <p:spPr>
          <a:xfrm>
            <a:off x="749808" y="5193792"/>
            <a:ext cx="438912" cy="292608"/>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5" y="5253228"/>
            <a:ext cx="310896" cy="164592"/>
          </a:xfrm>
          <a:prstGeom prst="rect">
            <a:avLst/>
          </a:prstGeom>
          <a:noFill/>
        </p:spPr>
        <p:txBody>
          <a:bodyPr wrap="square">
            <a:normAutofit/>
          </a:bodyPr>
          <a:lstStyle/>
          <a:p>
            <a:pPr algn="ctr">
              <a:defRPr sz="900" b="1">
                <a:solidFill>
                  <a:srgbClr val="FFFFFF"/>
                </a:solidFill>
                <a:latin typeface="Microsoft YaHei"/>
              </a:defRPr>
            </a:pPr>
            <a:r>
              <a:t>05</a:t>
            </a:r>
          </a:p>
        </p:txBody>
      </p:sp>
      <p:sp>
        <p:nvSpPr>
          <p:cNvPr id="23" name="TextBox 22"/>
          <p:cNvSpPr txBox="1"/>
          <p:nvPr/>
        </p:nvSpPr>
        <p:spPr>
          <a:xfrm>
            <a:off x="1389888" y="5148072"/>
            <a:ext cx="2377440" cy="256032"/>
          </a:xfrm>
          <a:prstGeom prst="rect">
            <a:avLst/>
          </a:prstGeom>
          <a:noFill/>
        </p:spPr>
        <p:txBody>
          <a:bodyPr wrap="square">
            <a:normAutofit/>
          </a:bodyPr>
          <a:lstStyle/>
          <a:p>
            <a:pPr>
              <a:defRPr sz="1400" b="1">
                <a:solidFill>
                  <a:srgbClr val="0F2A43"/>
                </a:solidFill>
                <a:latin typeface="Microsoft YaHei"/>
              </a:defRPr>
            </a:pPr>
            <a:r>
              <a:t>答辩边界</a:t>
            </a:r>
          </a:p>
        </p:txBody>
      </p:sp>
      <p:sp>
        <p:nvSpPr>
          <p:cNvPr id="24" name="TextBox 23"/>
          <p:cNvSpPr txBox="1"/>
          <p:nvPr/>
        </p:nvSpPr>
        <p:spPr>
          <a:xfrm>
            <a:off x="3703320" y="5148072"/>
            <a:ext cx="7040880" cy="384048"/>
          </a:xfrm>
          <a:prstGeom prst="rect">
            <a:avLst/>
          </a:prstGeom>
          <a:noFill/>
        </p:spPr>
        <p:txBody>
          <a:bodyPr wrap="square">
            <a:normAutofit/>
          </a:bodyPr>
          <a:lstStyle/>
          <a:p>
            <a:pPr>
              <a:defRPr sz="1200" b="0">
                <a:solidFill>
                  <a:srgbClr val="1F2937"/>
                </a:solidFill>
                <a:latin typeface="Microsoft YaHei"/>
              </a:defRPr>
            </a:pPr>
            <a:r>
              <a:t>说明当前是 LLM API + 轻量匹配 + 人工标注闭环，微调处于数据准备阶段。</a:t>
            </a:r>
          </a:p>
        </p:txBody>
      </p:sp>
      <p:sp>
        <p:nvSpPr>
          <p:cNvPr id="25" name="TextBox 24"/>
          <p:cNvSpPr txBox="1"/>
          <p:nvPr/>
        </p:nvSpPr>
        <p:spPr>
          <a:xfrm>
            <a:off x="9738360" y="6446520"/>
            <a:ext cx="1920240" cy="228600"/>
          </a:xfrm>
          <a:prstGeom prst="rect">
            <a:avLst/>
          </a:prstGeom>
          <a:noFill/>
        </p:spPr>
        <p:txBody>
          <a:bodyPr wrap="square">
            <a:normAutofit/>
          </a:bodyPr>
          <a:lstStyle/>
          <a:p>
            <a:pPr algn="r">
              <a:defRPr sz="900" b="0">
                <a:solidFill>
                  <a:srgbClr val="64748B"/>
                </a:solidFill>
                <a:latin typeface="Microsoft YaHei"/>
              </a:defRPr>
            </a:pPr>
            <a:r>
              <a:t>职启智评 初赛答辩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84048"/>
            <a:ext cx="8961120" cy="530352"/>
          </a:xfrm>
          <a:prstGeom prst="rect">
            <a:avLst/>
          </a:prstGeom>
          <a:noFill/>
        </p:spPr>
        <p:txBody>
          <a:bodyPr wrap="square">
            <a:normAutofit/>
          </a:bodyPr>
          <a:lstStyle/>
          <a:p>
            <a:pPr>
              <a:defRPr sz="2800" b="1">
                <a:solidFill>
                  <a:srgbClr val="0F2A43"/>
                </a:solidFill>
                <a:latin typeface="Microsoft YaHei"/>
              </a:defRPr>
            </a:pPr>
            <a:r>
              <a:t>9. 边界与下一步</a:t>
            </a:r>
          </a:p>
        </p:txBody>
      </p:sp>
      <p:sp>
        <p:nvSpPr>
          <p:cNvPr id="3" name="TextBox 2"/>
          <p:cNvSpPr txBox="1"/>
          <p:nvPr/>
        </p:nvSpPr>
        <p:spPr>
          <a:xfrm>
            <a:off x="603504" y="941832"/>
            <a:ext cx="9326880" cy="292608"/>
          </a:xfrm>
          <a:prstGeom prst="rect">
            <a:avLst/>
          </a:prstGeom>
          <a:noFill/>
        </p:spPr>
        <p:txBody>
          <a:bodyPr wrap="square">
            <a:normAutofit/>
          </a:bodyPr>
          <a:lstStyle/>
          <a:p>
            <a:pPr>
              <a:defRPr sz="1200" b="0">
                <a:solidFill>
                  <a:srgbClr val="64748B"/>
                </a:solidFill>
                <a:latin typeface="Microsoft YaHei"/>
              </a:defRPr>
            </a:pPr>
            <a:r>
              <a:t>真实可落地，避免夸大，后续靠数据把评分做深</a:t>
            </a:r>
          </a:p>
        </p:txBody>
      </p:sp>
      <p:sp>
        <p:nvSpPr>
          <p:cNvPr id="4" name="Rectangle 3"/>
          <p:cNvSpPr/>
          <p:nvPr/>
        </p:nvSpPr>
        <p:spPr>
          <a:xfrm>
            <a:off x="594360" y="1298448"/>
            <a:ext cx="182880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600200"/>
            <a:ext cx="3246120" cy="3337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73152" cy="333756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46504"/>
            <a:ext cx="2953512" cy="292608"/>
          </a:xfrm>
          <a:prstGeom prst="rect">
            <a:avLst/>
          </a:prstGeom>
          <a:noFill/>
        </p:spPr>
        <p:txBody>
          <a:bodyPr wrap="square">
            <a:normAutofit/>
          </a:bodyPr>
          <a:lstStyle/>
          <a:p>
            <a:pPr>
              <a:defRPr sz="1600" b="1">
                <a:solidFill>
                  <a:srgbClr val="0F2A43"/>
                </a:solidFill>
                <a:latin typeface="Microsoft YaHei"/>
              </a:defRPr>
            </a:pPr>
            <a:r>
              <a:t>当前已经能讲</a:t>
            </a:r>
          </a:p>
        </p:txBody>
      </p:sp>
      <p:sp>
        <p:nvSpPr>
          <p:cNvPr id="8" name="TextBox 7"/>
          <p:cNvSpPr txBox="1"/>
          <p:nvPr/>
        </p:nvSpPr>
        <p:spPr>
          <a:xfrm>
            <a:off x="822959" y="2130552"/>
            <a:ext cx="2953512" cy="2697480"/>
          </a:xfrm>
          <a:prstGeom prst="rect">
            <a:avLst/>
          </a:prstGeom>
          <a:noFill/>
        </p:spPr>
        <p:txBody>
          <a:bodyPr wrap="square">
            <a:normAutofit/>
          </a:bodyPr>
          <a:lstStyle/>
          <a:p>
            <a:pPr>
              <a:defRPr sz="1300" b="0">
                <a:solidFill>
                  <a:srgbClr val="1F2937"/>
                </a:solidFill>
                <a:latin typeface="Microsoft YaHei"/>
              </a:defRPr>
            </a:pPr>
            <a:r>
              <a:t>多岗位模拟面试主流程</a:t>
            </a:r>
            <a:br/>
            <a:r>
              <a:t>后台岗位画像维护</a:t>
            </a:r>
            <a:br/>
            <a:r>
              <a:t>知识切片与证据追问</a:t>
            </a:r>
            <a:br/>
            <a:r>
              <a:t>测评样本导出结构</a:t>
            </a:r>
            <a:br/>
            <a:r>
              <a:t>AI/人工评分对比模板</a:t>
            </a:r>
          </a:p>
        </p:txBody>
      </p:sp>
      <p:sp>
        <p:nvSpPr>
          <p:cNvPr id="9" name="Rounded Rectangle 8"/>
          <p:cNvSpPr/>
          <p:nvPr/>
        </p:nvSpPr>
        <p:spPr>
          <a:xfrm>
            <a:off x="4416552" y="1600200"/>
            <a:ext cx="3246120" cy="3337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16552" y="1600200"/>
            <a:ext cx="73152" cy="333756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144" y="1746504"/>
            <a:ext cx="2953512" cy="292608"/>
          </a:xfrm>
          <a:prstGeom prst="rect">
            <a:avLst/>
          </a:prstGeom>
          <a:noFill/>
        </p:spPr>
        <p:txBody>
          <a:bodyPr wrap="square">
            <a:normAutofit/>
          </a:bodyPr>
          <a:lstStyle/>
          <a:p>
            <a:pPr>
              <a:defRPr sz="1600" b="1">
                <a:solidFill>
                  <a:srgbClr val="0F2A43"/>
                </a:solidFill>
                <a:latin typeface="Microsoft YaHei"/>
              </a:defRPr>
            </a:pPr>
            <a:r>
              <a:t>不夸大表述</a:t>
            </a:r>
          </a:p>
        </p:txBody>
      </p:sp>
      <p:sp>
        <p:nvSpPr>
          <p:cNvPr id="12" name="TextBox 11"/>
          <p:cNvSpPr txBox="1"/>
          <p:nvPr/>
        </p:nvSpPr>
        <p:spPr>
          <a:xfrm>
            <a:off x="4581144" y="2130552"/>
            <a:ext cx="2953512" cy="2697480"/>
          </a:xfrm>
          <a:prstGeom prst="rect">
            <a:avLst/>
          </a:prstGeom>
          <a:noFill/>
        </p:spPr>
        <p:txBody>
          <a:bodyPr wrap="square">
            <a:normAutofit/>
          </a:bodyPr>
          <a:lstStyle/>
          <a:p>
            <a:pPr>
              <a:defRPr sz="1300" b="0">
                <a:solidFill>
                  <a:srgbClr val="1F2937"/>
                </a:solidFill>
                <a:latin typeface="Microsoft YaHei"/>
              </a:defRPr>
            </a:pPr>
            <a:r>
              <a:t>不说自研底层大模型</a:t>
            </a:r>
            <a:br/>
            <a:r>
              <a:t>不说真实微调已上线</a:t>
            </a:r>
            <a:br/>
            <a:r>
              <a:t>不说已有企业商业落地</a:t>
            </a:r>
            <a:br/>
            <a:r>
              <a:t>演示样例与真实结果分开</a:t>
            </a:r>
          </a:p>
        </p:txBody>
      </p:sp>
      <p:sp>
        <p:nvSpPr>
          <p:cNvPr id="13" name="Rounded Rectangle 12"/>
          <p:cNvSpPr/>
          <p:nvPr/>
        </p:nvSpPr>
        <p:spPr>
          <a:xfrm>
            <a:off x="8174736" y="1600200"/>
            <a:ext cx="2971800" cy="3337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74736" y="1600200"/>
            <a:ext cx="73152" cy="33375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1746504"/>
            <a:ext cx="2679192" cy="292608"/>
          </a:xfrm>
          <a:prstGeom prst="rect">
            <a:avLst/>
          </a:prstGeom>
          <a:noFill/>
        </p:spPr>
        <p:txBody>
          <a:bodyPr wrap="square">
            <a:normAutofit/>
          </a:bodyPr>
          <a:lstStyle/>
          <a:p>
            <a:pPr>
              <a:defRPr sz="1600" b="1">
                <a:solidFill>
                  <a:srgbClr val="0F2A43"/>
                </a:solidFill>
                <a:latin typeface="Microsoft YaHei"/>
              </a:defRPr>
            </a:pPr>
            <a:r>
              <a:t>下一步升级</a:t>
            </a:r>
          </a:p>
        </p:txBody>
      </p:sp>
      <p:sp>
        <p:nvSpPr>
          <p:cNvPr id="16" name="TextBox 15"/>
          <p:cNvSpPr txBox="1"/>
          <p:nvPr/>
        </p:nvSpPr>
        <p:spPr>
          <a:xfrm>
            <a:off x="8339327" y="2130552"/>
            <a:ext cx="2679192" cy="2697480"/>
          </a:xfrm>
          <a:prstGeom prst="rect">
            <a:avLst/>
          </a:prstGeom>
          <a:noFill/>
        </p:spPr>
        <p:txBody>
          <a:bodyPr wrap="square">
            <a:normAutofit/>
          </a:bodyPr>
          <a:lstStyle/>
          <a:p>
            <a:pPr>
              <a:defRPr sz="1300" b="0">
                <a:solidFill>
                  <a:srgbClr val="1F2937"/>
                </a:solidFill>
                <a:latin typeface="Microsoft YaHei"/>
              </a:defRPr>
            </a:pPr>
            <a:r>
              <a:t>执行岗位画像种子</a:t>
            </a:r>
            <a:br/>
            <a:r>
              <a:t>积累真实面试样本</a:t>
            </a:r>
            <a:br/>
            <a:r>
              <a:t>接入 embedding 可选增强</a:t>
            </a:r>
            <a:br/>
            <a:r>
              <a:t>用人工评分校准规则权重</a:t>
            </a:r>
          </a:p>
        </p:txBody>
      </p:sp>
      <p:sp>
        <p:nvSpPr>
          <p:cNvPr id="17" name="TextBox 16"/>
          <p:cNvSpPr txBox="1"/>
          <p:nvPr/>
        </p:nvSpPr>
        <p:spPr>
          <a:xfrm>
            <a:off x="841248" y="5285232"/>
            <a:ext cx="10058400" cy="438912"/>
          </a:xfrm>
          <a:prstGeom prst="rect">
            <a:avLst/>
          </a:prstGeom>
          <a:noFill/>
        </p:spPr>
        <p:txBody>
          <a:bodyPr wrap="square">
            <a:normAutofit/>
          </a:bodyPr>
          <a:lstStyle/>
          <a:p>
            <a:pPr>
              <a:defRPr sz="1600" b="1">
                <a:solidFill>
                  <a:srgbClr val="0F2A43"/>
                </a:solidFill>
                <a:latin typeface="Microsoft YaHei"/>
              </a:defRPr>
            </a:pPr>
            <a:r>
              <a:t>收束目标：让评委看到一个能运行、能解释、能继续训练数据闭环的 AI 面试系统，而不是一个静态展示页面。</a:t>
            </a:r>
          </a:p>
        </p:txBody>
      </p:sp>
      <p:sp>
        <p:nvSpPr>
          <p:cNvPr id="18" name="TextBox 17"/>
          <p:cNvSpPr txBox="1"/>
          <p:nvPr/>
        </p:nvSpPr>
        <p:spPr>
          <a:xfrm>
            <a:off x="9738360" y="6446520"/>
            <a:ext cx="1920240" cy="228600"/>
          </a:xfrm>
          <a:prstGeom prst="rect">
            <a:avLst/>
          </a:prstGeom>
          <a:noFill/>
        </p:spPr>
        <p:txBody>
          <a:bodyPr wrap="square">
            <a:normAutofit/>
          </a:bodyPr>
          <a:lstStyle/>
          <a:p>
            <a:pPr algn="r">
              <a:defRPr sz="900" b="0">
                <a:solidFill>
                  <a:srgbClr val="64748B"/>
                </a:solidFill>
                <a:latin typeface="Microsoft YaHei"/>
              </a:defRPr>
            </a:pPr>
            <a:r>
              <a:t>职启智评 初赛答辩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