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005840"/>
            <a:ext cx="4572000" cy="822960"/>
          </a:xfrm>
          <a:prstGeom prst="rect">
            <a:avLst/>
          </a:prstGeom>
          <a:noFill/>
        </p:spPr>
        <p:txBody>
          <a:bodyPr wrap="square" lIns="18288" rIns="18288" tIns="18288" bIns="18288">
            <a:spAutoFit/>
          </a:bodyPr>
          <a:lstStyle/>
          <a:p>
            <a:pPr algn="l">
              <a:lnSpc>
                <a:spcPct val="105000"/>
              </a:lnSpc>
            </a:pPr>
            <a:r>
              <a:rPr sz="5000" b="1">
                <a:solidFill>
                  <a:srgbClr val="095248"/>
                </a:solidFill>
                <a:latin typeface="Microsoft YaHei"/>
              </a:rPr>
              <a:t>职启智评</a:t>
            </a:r>
          </a:p>
        </p:txBody>
      </p:sp>
      <p:sp>
        <p:nvSpPr>
          <p:cNvPr id="4" name="TextBox 3"/>
          <p:cNvSpPr txBox="1"/>
          <p:nvPr/>
        </p:nvSpPr>
        <p:spPr>
          <a:xfrm>
            <a:off x="822960" y="1901952"/>
            <a:ext cx="7772400" cy="420624"/>
          </a:xfrm>
          <a:prstGeom prst="rect">
            <a:avLst/>
          </a:prstGeom>
          <a:noFill/>
        </p:spPr>
        <p:txBody>
          <a:bodyPr wrap="square" lIns="18288" rIns="18288" tIns="18288" bIns="18288">
            <a:spAutoFit/>
          </a:bodyPr>
          <a:lstStyle/>
          <a:p>
            <a:pPr algn="l">
              <a:lnSpc>
                <a:spcPct val="105000"/>
              </a:lnSpc>
            </a:pPr>
            <a:r>
              <a:rPr sz="2400" b="1">
                <a:solidFill>
                  <a:srgbClr val="1F2937"/>
                </a:solidFill>
                <a:latin typeface="Microsoft YaHei"/>
              </a:rPr>
              <a:t>让一份简历进入岗位化 AI 模拟面试训练</a:t>
            </a:r>
          </a:p>
        </p:txBody>
      </p:sp>
      <p:sp>
        <p:nvSpPr>
          <p:cNvPr id="5" name="TextBox 4"/>
          <p:cNvSpPr txBox="1"/>
          <p:nvPr/>
        </p:nvSpPr>
        <p:spPr>
          <a:xfrm>
            <a:off x="841248" y="2487168"/>
            <a:ext cx="7223760" cy="658368"/>
          </a:xfrm>
          <a:prstGeom prst="rect">
            <a:avLst/>
          </a:prstGeom>
          <a:noFill/>
        </p:spPr>
        <p:txBody>
          <a:bodyPr wrap="square" lIns="18288" rIns="18288" tIns="18288" bIns="18288">
            <a:spAutoFit/>
          </a:bodyPr>
          <a:lstStyle/>
          <a:p>
            <a:pPr algn="l">
              <a:lnSpc>
                <a:spcPct val="105000"/>
              </a:lnSpc>
            </a:pPr>
            <a:r>
              <a:rPr sz="1800" b="0">
                <a:solidFill>
                  <a:srgbClr val="5C6773"/>
                </a:solidFill>
                <a:latin typeface="Microsoft YaHei"/>
              </a:rPr>
              <a:t>基于大语言模型与岗位画像匹配的大学生求职能力评估及模拟面试系统</a:t>
            </a:r>
          </a:p>
        </p:txBody>
      </p:sp>
      <p:sp>
        <p:nvSpPr>
          <p:cNvPr id="6" name="Rounded Rectangle 5"/>
          <p:cNvSpPr/>
          <p:nvPr/>
        </p:nvSpPr>
        <p:spPr>
          <a:xfrm>
            <a:off x="850392" y="3401568"/>
            <a:ext cx="4023360" cy="329184"/>
          </a:xfrm>
          <a:prstGeom prst="roundRect">
            <a:avLst/>
          </a:prstGeom>
          <a:solidFill>
            <a:srgbClr val="D58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 y="3474720"/>
            <a:ext cx="3877056" cy="164592"/>
          </a:xfrm>
          <a:prstGeom prst="rect">
            <a:avLst/>
          </a:prstGeom>
          <a:noFill/>
        </p:spPr>
        <p:txBody>
          <a:bodyPr wrap="square" lIns="18288" rIns="18288" tIns="18288" bIns="18288">
            <a:spAutoFit/>
          </a:bodyPr>
          <a:lstStyle/>
          <a:p>
            <a:pPr algn="ctr">
              <a:lnSpc>
                <a:spcPct val="105000"/>
              </a:lnSpc>
            </a:pPr>
            <a:r>
              <a:rPr sz="1200" b="1">
                <a:solidFill>
                  <a:srgbClr val="FFFFFF"/>
                </a:solidFill>
                <a:latin typeface="Microsoft YaHei"/>
              </a:rPr>
              <a:t>6 分钟初赛演示 · 真实公开简历案例驱动</a:t>
            </a:r>
          </a:p>
        </p:txBody>
      </p:sp>
      <p:sp>
        <p:nvSpPr>
          <p:cNvPr id="8" name="TextBox 7"/>
          <p:cNvSpPr txBox="1"/>
          <p:nvPr/>
        </p:nvSpPr>
        <p:spPr>
          <a:xfrm>
            <a:off x="859536" y="3977639"/>
            <a:ext cx="6858000" cy="320040"/>
          </a:xfrm>
          <a:prstGeom prst="rect">
            <a:avLst/>
          </a:prstGeom>
          <a:noFill/>
        </p:spPr>
        <p:txBody>
          <a:bodyPr wrap="square" lIns="18288" rIns="18288" tIns="18288" bIns="18288">
            <a:spAutoFit/>
          </a:bodyPr>
          <a:lstStyle/>
          <a:p>
            <a:pPr algn="l">
              <a:lnSpc>
                <a:spcPct val="105000"/>
              </a:lnSpc>
            </a:pPr>
            <a:r>
              <a:rPr sz="1500" b="0">
                <a:solidFill>
                  <a:srgbClr val="1F2937"/>
                </a:solidFill>
                <a:latin typeface="Microsoft YaHei"/>
              </a:rPr>
              <a:t>团队：詹已誉、蔡雨旋、沈昱彤｜中国劳动关系学院 工商管理 2025级</a:t>
            </a:r>
          </a:p>
        </p:txBody>
      </p:sp>
      <p:sp>
        <p:nvSpPr>
          <p:cNvPr id="9" name="Oval 8"/>
          <p:cNvSpPr/>
          <p:nvPr/>
        </p:nvSpPr>
        <p:spPr>
          <a:xfrm>
            <a:off x="9326880" y="1115568"/>
            <a:ext cx="566928" cy="566928"/>
          </a:xfrm>
          <a:prstGeom prst="ellipse">
            <a:avLst/>
          </a:prstGeom>
          <a:solidFill>
            <a:srgbClr val="325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12680" y="1243584"/>
            <a:ext cx="1280160" cy="164592"/>
          </a:xfrm>
          <a:prstGeom prst="rect">
            <a:avLst/>
          </a:prstGeom>
          <a:noFill/>
        </p:spPr>
        <p:txBody>
          <a:bodyPr wrap="square" lIns="18288" rIns="18288" tIns="18288" bIns="18288">
            <a:spAutoFit/>
          </a:bodyPr>
          <a:lstStyle/>
          <a:p>
            <a:pPr algn="l">
              <a:lnSpc>
                <a:spcPct val="105000"/>
              </a:lnSpc>
            </a:pPr>
            <a:r>
              <a:rPr sz="1400" b="1">
                <a:solidFill>
                  <a:srgbClr val="1F2937"/>
                </a:solidFill>
                <a:latin typeface="Microsoft YaHei"/>
              </a:rPr>
              <a:t>简历</a:t>
            </a:r>
          </a:p>
        </p:txBody>
      </p:sp>
      <p:sp>
        <p:nvSpPr>
          <p:cNvPr id="11" name="Rectangle 10"/>
          <p:cNvSpPr/>
          <p:nvPr/>
        </p:nvSpPr>
        <p:spPr>
          <a:xfrm>
            <a:off x="9582912" y="1700784"/>
            <a:ext cx="45720" cy="438912"/>
          </a:xfrm>
          <a:prstGeom prst="rect">
            <a:avLst/>
          </a:prstGeom>
          <a:solidFill>
            <a:srgbClr val="CDD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26880" y="2075688"/>
            <a:ext cx="566928" cy="566928"/>
          </a:xfrm>
          <a:prstGeom prst="ellipse">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12680" y="2203704"/>
            <a:ext cx="1280160" cy="164592"/>
          </a:xfrm>
          <a:prstGeom prst="rect">
            <a:avLst/>
          </a:prstGeom>
          <a:noFill/>
        </p:spPr>
        <p:txBody>
          <a:bodyPr wrap="square" lIns="18288" rIns="18288" tIns="18288" bIns="18288">
            <a:spAutoFit/>
          </a:bodyPr>
          <a:lstStyle/>
          <a:p>
            <a:pPr algn="l">
              <a:lnSpc>
                <a:spcPct val="105000"/>
              </a:lnSpc>
            </a:pPr>
            <a:r>
              <a:rPr sz="1400" b="1">
                <a:solidFill>
                  <a:srgbClr val="1F2937"/>
                </a:solidFill>
                <a:latin typeface="Microsoft YaHei"/>
              </a:rPr>
              <a:t>岗位画像</a:t>
            </a:r>
          </a:p>
        </p:txBody>
      </p:sp>
      <p:sp>
        <p:nvSpPr>
          <p:cNvPr id="14" name="Rectangle 13"/>
          <p:cNvSpPr/>
          <p:nvPr/>
        </p:nvSpPr>
        <p:spPr>
          <a:xfrm>
            <a:off x="9582912" y="2660904"/>
            <a:ext cx="45720" cy="438912"/>
          </a:xfrm>
          <a:prstGeom prst="rect">
            <a:avLst/>
          </a:prstGeom>
          <a:solidFill>
            <a:srgbClr val="CDD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326880" y="3035808"/>
            <a:ext cx="566928" cy="566928"/>
          </a:xfrm>
          <a:prstGeom prst="ellipse">
            <a:avLst/>
          </a:prstGeom>
          <a:solidFill>
            <a:srgbClr val="D58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12680" y="3163824"/>
            <a:ext cx="1280160" cy="164592"/>
          </a:xfrm>
          <a:prstGeom prst="rect">
            <a:avLst/>
          </a:prstGeom>
          <a:noFill/>
        </p:spPr>
        <p:txBody>
          <a:bodyPr wrap="square" lIns="18288" rIns="18288" tIns="18288" bIns="18288">
            <a:spAutoFit/>
          </a:bodyPr>
          <a:lstStyle/>
          <a:p>
            <a:pPr algn="l">
              <a:lnSpc>
                <a:spcPct val="105000"/>
              </a:lnSpc>
            </a:pPr>
            <a:r>
              <a:rPr sz="1400" b="1">
                <a:solidFill>
                  <a:srgbClr val="1F2937"/>
                </a:solidFill>
                <a:latin typeface="Microsoft YaHei"/>
              </a:rPr>
              <a:t>面试追问</a:t>
            </a:r>
          </a:p>
        </p:txBody>
      </p:sp>
      <p:sp>
        <p:nvSpPr>
          <p:cNvPr id="17" name="Rectangle 16"/>
          <p:cNvSpPr/>
          <p:nvPr/>
        </p:nvSpPr>
        <p:spPr>
          <a:xfrm>
            <a:off x="9582912" y="3621024"/>
            <a:ext cx="45720" cy="438912"/>
          </a:xfrm>
          <a:prstGeom prst="rect">
            <a:avLst/>
          </a:prstGeom>
          <a:solidFill>
            <a:srgbClr val="CDD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326880" y="3995928"/>
            <a:ext cx="566928" cy="566928"/>
          </a:xfrm>
          <a:prstGeom prst="ellipse">
            <a:avLst/>
          </a:prstGeom>
          <a:solidFill>
            <a:srgbClr val="BE4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12680" y="4123944"/>
            <a:ext cx="1280160" cy="164592"/>
          </a:xfrm>
          <a:prstGeom prst="rect">
            <a:avLst/>
          </a:prstGeom>
          <a:noFill/>
        </p:spPr>
        <p:txBody>
          <a:bodyPr wrap="square" lIns="18288" rIns="18288" tIns="18288" bIns="18288">
            <a:spAutoFit/>
          </a:bodyPr>
          <a:lstStyle/>
          <a:p>
            <a:pPr algn="l">
              <a:lnSpc>
                <a:spcPct val="105000"/>
              </a:lnSpc>
            </a:pPr>
            <a:r>
              <a:rPr sz="1400" b="1">
                <a:solidFill>
                  <a:srgbClr val="1F2937"/>
                </a:solidFill>
                <a:latin typeface="Microsoft YaHei"/>
              </a:rPr>
              <a:t>报告复核</a:t>
            </a:r>
          </a:p>
        </p:txBody>
      </p:sp>
      <p:sp>
        <p:nvSpPr>
          <p:cNvPr id="20" name="TextBox 19"/>
          <p:cNvSpPr txBox="1"/>
          <p:nvPr/>
        </p:nvSpPr>
        <p:spPr>
          <a:xfrm>
            <a:off x="685800" y="6473952"/>
            <a:ext cx="10881360" cy="201168"/>
          </a:xfrm>
          <a:prstGeom prst="rect">
            <a:avLst/>
          </a:prstGeom>
          <a:noFill/>
        </p:spPr>
        <p:txBody>
          <a:bodyPr wrap="square" lIns="18288" rIns="18288" tIns="18288" bIns="18288">
            <a:spAutoFit/>
          </a:bodyPr>
          <a:lstStyle/>
          <a:p>
            <a:pPr algn="l">
              <a:lnSpc>
                <a:spcPct val="105000"/>
              </a:lnSpc>
            </a:pPr>
            <a:r>
              <a:rPr sz="850" b="0">
                <a:solidFill>
                  <a:srgbClr val="5C6773"/>
                </a:solidFill>
                <a:latin typeface="Microsoft YaHei"/>
              </a:rPr>
              <a:t>案例来源：Harvard Mignone Center for Career Success, Harvard College Resume Example (Tech),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4114800" cy="256032"/>
          </a:xfrm>
          <a:prstGeom prst="rect">
            <a:avLst/>
          </a:prstGeom>
          <a:noFill/>
        </p:spPr>
        <p:txBody>
          <a:bodyPr wrap="square" lIns="18288" rIns="18288" tIns="18288" bIns="18288">
            <a:spAutoFit/>
          </a:bodyPr>
          <a:lstStyle/>
          <a:p>
            <a:pPr algn="l">
              <a:lnSpc>
                <a:spcPct val="105000"/>
              </a:lnSpc>
            </a:pPr>
            <a:r>
              <a:rPr sz="1000" b="1">
                <a:solidFill>
                  <a:srgbClr val="095248"/>
                </a:solidFill>
                <a:latin typeface="Microsoft YaHei"/>
              </a:rPr>
              <a:t>真实案例</a:t>
            </a:r>
          </a:p>
        </p:txBody>
      </p:sp>
      <p:sp>
        <p:nvSpPr>
          <p:cNvPr id="4" name="TextBox 3"/>
          <p:cNvSpPr txBox="1"/>
          <p:nvPr/>
        </p:nvSpPr>
        <p:spPr>
          <a:xfrm>
            <a:off x="658368" y="566928"/>
            <a:ext cx="10789920" cy="566928"/>
          </a:xfrm>
          <a:prstGeom prst="rect">
            <a:avLst/>
          </a:prstGeom>
          <a:noFill/>
        </p:spPr>
        <p:txBody>
          <a:bodyPr wrap="square" lIns="18288" rIns="18288" tIns="18288" bIns="18288">
            <a:spAutoFit/>
          </a:bodyPr>
          <a:lstStyle/>
          <a:p>
            <a:pPr algn="l">
              <a:lnSpc>
                <a:spcPct val="105000"/>
              </a:lnSpc>
            </a:pPr>
            <a:r>
              <a:rPr sz="2800" b="1">
                <a:solidFill>
                  <a:srgbClr val="1F2937"/>
                </a:solidFill>
                <a:latin typeface="Microsoft YaHei"/>
              </a:rPr>
              <a:t>从一份真实公开简历开始</a:t>
            </a:r>
          </a:p>
        </p:txBody>
      </p:sp>
      <p:sp>
        <p:nvSpPr>
          <p:cNvPr id="5" name="Rectangle 4"/>
          <p:cNvSpPr/>
          <p:nvPr/>
        </p:nvSpPr>
        <p:spPr>
          <a:xfrm>
            <a:off x="685800" y="1207008"/>
            <a:ext cx="10835640" cy="18288"/>
          </a:xfrm>
          <a:prstGeom prst="rect">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840" y="320040"/>
            <a:ext cx="320040" cy="182880"/>
          </a:xfrm>
          <a:prstGeom prst="rect">
            <a:avLst/>
          </a:prstGeom>
          <a:noFill/>
        </p:spPr>
        <p:txBody>
          <a:bodyPr wrap="square" lIns="18288" rIns="18288" tIns="18288" bIns="18288">
            <a:spAutoFit/>
          </a:bodyPr>
          <a:lstStyle/>
          <a:p>
            <a:pPr algn="r">
              <a:lnSpc>
                <a:spcPct val="105000"/>
              </a:lnSpc>
            </a:pPr>
            <a:r>
              <a:rPr sz="900" b="0">
                <a:solidFill>
                  <a:srgbClr val="5C6773"/>
                </a:solidFill>
                <a:latin typeface="Microsoft YaHei"/>
              </a:rPr>
              <a:t>02</a:t>
            </a:r>
          </a:p>
        </p:txBody>
      </p:sp>
      <p:sp>
        <p:nvSpPr>
          <p:cNvPr id="7" name="Rounded Rectangle 6"/>
          <p:cNvSpPr/>
          <p:nvPr/>
        </p:nvSpPr>
        <p:spPr>
          <a:xfrm>
            <a:off x="777240" y="1508760"/>
            <a:ext cx="2880360" cy="4434840"/>
          </a:xfrm>
          <a:prstGeom prst="roundRect">
            <a:avLst/>
          </a:prstGeom>
          <a:solidFill>
            <a:srgbClr val="FFFFFF"/>
          </a:solidFill>
          <a:ln w="9525">
            <a:solidFill>
              <a:srgbClr val="CDD2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755648"/>
            <a:ext cx="2286000" cy="274320"/>
          </a:xfrm>
          <a:prstGeom prst="rect">
            <a:avLst/>
          </a:prstGeom>
          <a:noFill/>
        </p:spPr>
        <p:txBody>
          <a:bodyPr wrap="square" lIns="18288" rIns="18288" tIns="18288" bIns="18288">
            <a:spAutoFit/>
          </a:bodyPr>
          <a:lstStyle/>
          <a:p>
            <a:pPr algn="l">
              <a:lnSpc>
                <a:spcPct val="105000"/>
              </a:lnSpc>
            </a:pPr>
            <a:r>
              <a:rPr sz="2200" b="1">
                <a:solidFill>
                  <a:srgbClr val="095248"/>
                </a:solidFill>
                <a:latin typeface="Microsoft YaHei"/>
              </a:rPr>
              <a:t>公开样例简历</a:t>
            </a:r>
          </a:p>
        </p:txBody>
      </p:sp>
      <p:sp>
        <p:nvSpPr>
          <p:cNvPr id="9" name="TextBox 8"/>
          <p:cNvSpPr txBox="1"/>
          <p:nvPr/>
        </p:nvSpPr>
        <p:spPr>
          <a:xfrm>
            <a:off x="987552" y="2212848"/>
            <a:ext cx="2331720" cy="1207008"/>
          </a:xfrm>
          <a:prstGeom prst="rect">
            <a:avLst/>
          </a:prstGeom>
          <a:noFill/>
        </p:spPr>
        <p:txBody>
          <a:bodyPr wrap="square" lIns="18288" rIns="18288" tIns="18288" bIns="18288">
            <a:spAutoFit/>
          </a:bodyPr>
          <a:lstStyle/>
          <a:p>
            <a:pPr algn="l">
              <a:lnSpc>
                <a:spcPct val="100000"/>
              </a:lnSpc>
            </a:pPr>
            <a:r>
              <a:rPr sz="2300" b="1">
                <a:solidFill>
                  <a:srgbClr val="1F2937"/>
                </a:solidFill>
                <a:latin typeface="Microsoft YaHei"/>
              </a:rPr>
              <a:t>Ruby Swift
Harvard CS
Tech Resume</a:t>
            </a:r>
          </a:p>
        </p:txBody>
      </p:sp>
      <p:sp>
        <p:nvSpPr>
          <p:cNvPr id="10" name="TextBox 9"/>
          <p:cNvSpPr txBox="1"/>
          <p:nvPr/>
        </p:nvSpPr>
        <p:spPr>
          <a:xfrm>
            <a:off x="987552" y="3675887"/>
            <a:ext cx="2331720" cy="566928"/>
          </a:xfrm>
          <a:prstGeom prst="rect">
            <a:avLst/>
          </a:prstGeom>
          <a:noFill/>
        </p:spPr>
        <p:txBody>
          <a:bodyPr wrap="square" lIns="18288" rIns="18288" tIns="18288" bIns="18288">
            <a:spAutoFit/>
          </a:bodyPr>
          <a:lstStyle/>
          <a:p>
            <a:pPr algn="l">
              <a:lnSpc>
                <a:spcPct val="105000"/>
              </a:lnSpc>
            </a:pPr>
            <a:r>
              <a:rPr sz="1450" b="1">
                <a:solidFill>
                  <a:srgbClr val="D58A2B"/>
                </a:solidFill>
                <a:latin typeface="Microsoft YaHei"/>
              </a:rPr>
              <a:t>演示目标岗位：
Python后端开发工程师</a:t>
            </a:r>
          </a:p>
        </p:txBody>
      </p:sp>
      <p:sp>
        <p:nvSpPr>
          <p:cNvPr id="11" name="TextBox 10"/>
          <p:cNvSpPr txBox="1"/>
          <p:nvPr/>
        </p:nvSpPr>
        <p:spPr>
          <a:xfrm>
            <a:off x="987552" y="4526280"/>
            <a:ext cx="2331720" cy="658368"/>
          </a:xfrm>
          <a:prstGeom prst="rect">
            <a:avLst/>
          </a:prstGeom>
          <a:noFill/>
        </p:spPr>
        <p:txBody>
          <a:bodyPr wrap="square" lIns="18288" rIns="18288" tIns="18288" bIns="18288">
            <a:spAutoFit/>
          </a:bodyPr>
          <a:lstStyle/>
          <a:p>
            <a:pPr algn="l">
              <a:lnSpc>
                <a:spcPct val="105000"/>
              </a:lnSpc>
            </a:pPr>
            <a:r>
              <a:rPr sz="1200">
                <a:solidFill>
                  <a:srgbClr val="5C6773"/>
                </a:solidFill>
                <a:latin typeface="Microsoft YaHei"/>
              </a:rPr>
              <a:t>用途：证明系统如何把简历信息转成岗位化面试追问。</a:t>
            </a:r>
          </a:p>
        </p:txBody>
      </p:sp>
      <p:sp>
        <p:nvSpPr>
          <p:cNvPr id="12" name="TextBox 11"/>
          <p:cNvSpPr txBox="1"/>
          <p:nvPr/>
        </p:nvSpPr>
        <p:spPr>
          <a:xfrm>
            <a:off x="4160520" y="1536192"/>
            <a:ext cx="3657600" cy="320040"/>
          </a:xfrm>
          <a:prstGeom prst="rect">
            <a:avLst/>
          </a:prstGeom>
          <a:noFill/>
        </p:spPr>
        <p:txBody>
          <a:bodyPr wrap="square" lIns="18288" rIns="18288" tIns="18288" bIns="18288">
            <a:spAutoFit/>
          </a:bodyPr>
          <a:lstStyle/>
          <a:p>
            <a:pPr algn="l">
              <a:lnSpc>
                <a:spcPct val="105000"/>
              </a:lnSpc>
            </a:pPr>
            <a:r>
              <a:rPr sz="2400" b="1">
                <a:solidFill>
                  <a:srgbClr val="1F2937"/>
                </a:solidFill>
                <a:latin typeface="Microsoft YaHei"/>
              </a:rPr>
              <a:t>简历中可用于面试的证据</a:t>
            </a:r>
          </a:p>
        </p:txBody>
      </p:sp>
      <p:sp>
        <p:nvSpPr>
          <p:cNvPr id="13" name="TextBox 12"/>
          <p:cNvSpPr txBox="1"/>
          <p:nvPr/>
        </p:nvSpPr>
        <p:spPr>
          <a:xfrm>
            <a:off x="4160520" y="1965960"/>
            <a:ext cx="6903720" cy="2331720"/>
          </a:xfrm>
          <a:prstGeom prst="rect">
            <a:avLst/>
          </a:prstGeom>
          <a:noFill/>
        </p:spPr>
        <p:txBody>
          <a:bodyPr wrap="square" lIns="45720" rIns="45720" tIns="27432" bIns="27432">
            <a:spAutoFit/>
          </a:bodyPr>
          <a:lstStyle/>
          <a:p>
            <a:pPr>
              <a:lnSpc>
                <a:spcPct val="115000"/>
              </a:lnSpc>
              <a:spcAft>
                <a:spcPts val="500"/>
              </a:spcAft>
            </a:pPr>
            <a:r>
              <a:rPr sz="1520">
                <a:solidFill>
                  <a:srgbClr val="1F2937"/>
                </a:solidFill>
                <a:latin typeface="Microsoft YaHei"/>
              </a:rPr>
              <a:t>• 计算机专业背景，课程覆盖系统编程、数据结构、算法、AI、概率等基础。</a:t>
            </a:r>
          </a:p>
          <a:p>
            <a:pPr>
              <a:lnSpc>
                <a:spcPct val="115000"/>
              </a:lnSpc>
              <a:spcAft>
                <a:spcPts val="500"/>
              </a:spcAft>
            </a:pPr>
            <a:r>
              <a:rPr sz="1520">
                <a:solidFill>
                  <a:srgbClr val="1F2937"/>
                </a:solidFill>
                <a:latin typeface="Microsoft YaHei"/>
              </a:rPr>
              <a:t>• 技能线索包含 Python、SQL、JavaScript、C/C++/C# 等，适合技术岗切入。</a:t>
            </a:r>
          </a:p>
          <a:p>
            <a:pPr>
              <a:lnSpc>
                <a:spcPct val="115000"/>
              </a:lnSpc>
              <a:spcAft>
                <a:spcPts val="500"/>
              </a:spcAft>
            </a:pPr>
            <a:r>
              <a:rPr sz="1520">
                <a:solidFill>
                  <a:srgbClr val="1F2937"/>
                </a:solidFill>
                <a:latin typeface="Microsoft YaHei"/>
              </a:rPr>
              <a:t>• 有 Microsoft 软件工程实习、教学助教、网站后端数据库项目等经历。</a:t>
            </a:r>
          </a:p>
          <a:p>
            <a:pPr>
              <a:lnSpc>
                <a:spcPct val="115000"/>
              </a:lnSpc>
              <a:spcAft>
                <a:spcPts val="500"/>
              </a:spcAft>
            </a:pPr>
            <a:r>
              <a:rPr sz="1520">
                <a:solidFill>
                  <a:srgbClr val="1F2937"/>
                </a:solidFill>
                <a:latin typeface="Microsoft YaHei"/>
              </a:rPr>
              <a:t>• 简历没有直接写 FastAPI、Redis、Celery、Docker，所以这些不能直接判定为已掌握。</a:t>
            </a:r>
          </a:p>
        </p:txBody>
      </p:sp>
      <p:sp>
        <p:nvSpPr>
          <p:cNvPr id="14" name="TextBox 13"/>
          <p:cNvSpPr txBox="1"/>
          <p:nvPr/>
        </p:nvSpPr>
        <p:spPr>
          <a:xfrm>
            <a:off x="4160520" y="4617720"/>
            <a:ext cx="1280160" cy="228600"/>
          </a:xfrm>
          <a:prstGeom prst="rect">
            <a:avLst/>
          </a:prstGeom>
          <a:noFill/>
        </p:spPr>
        <p:txBody>
          <a:bodyPr wrap="square" lIns="18288" rIns="18288" tIns="18288" bIns="18288">
            <a:spAutoFit/>
          </a:bodyPr>
          <a:lstStyle/>
          <a:p>
            <a:pPr algn="l">
              <a:lnSpc>
                <a:spcPct val="105000"/>
              </a:lnSpc>
            </a:pPr>
            <a:r>
              <a:rPr sz="1600" b="1">
                <a:solidFill>
                  <a:srgbClr val="095248"/>
                </a:solidFill>
                <a:latin typeface="Microsoft YaHei"/>
              </a:rPr>
              <a:t>现场讲法</a:t>
            </a:r>
          </a:p>
        </p:txBody>
      </p:sp>
      <p:sp>
        <p:nvSpPr>
          <p:cNvPr id="15" name="TextBox 14"/>
          <p:cNvSpPr txBox="1"/>
          <p:nvPr/>
        </p:nvSpPr>
        <p:spPr>
          <a:xfrm>
            <a:off x="4160520" y="4919472"/>
            <a:ext cx="6812280" cy="713232"/>
          </a:xfrm>
          <a:prstGeom prst="rect">
            <a:avLst/>
          </a:prstGeom>
          <a:noFill/>
        </p:spPr>
        <p:txBody>
          <a:bodyPr wrap="square" lIns="18288" rIns="18288" tIns="18288" bIns="18288">
            <a:spAutoFit/>
          </a:bodyPr>
          <a:lstStyle/>
          <a:p>
            <a:pPr algn="l">
              <a:lnSpc>
                <a:spcPct val="105000"/>
              </a:lnSpc>
            </a:pPr>
            <a:r>
              <a:rPr sz="1650" b="0">
                <a:solidFill>
                  <a:srgbClr val="1F2937"/>
                </a:solidFill>
                <a:latin typeface="Microsoft YaHei"/>
              </a:rPr>
              <a:t>我不会直接说候选人“会 Redis / 会 FastAPI”。系统应该先识别证据，再围绕缺口追问，这正是职启智评和普通聊天机器人的区别。</a:t>
            </a:r>
          </a:p>
        </p:txBody>
      </p:sp>
      <p:sp>
        <p:nvSpPr>
          <p:cNvPr id="16" name="TextBox 15"/>
          <p:cNvSpPr txBox="1"/>
          <p:nvPr/>
        </p:nvSpPr>
        <p:spPr>
          <a:xfrm>
            <a:off x="685800" y="6473952"/>
            <a:ext cx="10881360" cy="201168"/>
          </a:xfrm>
          <a:prstGeom prst="rect">
            <a:avLst/>
          </a:prstGeom>
          <a:noFill/>
        </p:spPr>
        <p:txBody>
          <a:bodyPr wrap="square" lIns="18288" rIns="18288" tIns="18288" bIns="18288">
            <a:spAutoFit/>
          </a:bodyPr>
          <a:lstStyle/>
          <a:p>
            <a:pPr algn="l">
              <a:lnSpc>
                <a:spcPct val="105000"/>
              </a:lnSpc>
            </a:pPr>
            <a:r>
              <a:rPr sz="850" b="0">
                <a:solidFill>
                  <a:srgbClr val="5C6773"/>
                </a:solidFill>
                <a:latin typeface="Microsoft YaHei"/>
              </a:rPr>
              <a:t>来源：https://careerservices.fas.harvard.edu/resources/harvard-college-resume-example-tech/；PDF：https://cdn-careerservices.fas.harvard.edu/wp-content/uploads/sites/161/2025/07/Harvard-College-CS-Resume-Example.pdf；访问日期：2026-05-08。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4114800" cy="256032"/>
          </a:xfrm>
          <a:prstGeom prst="rect">
            <a:avLst/>
          </a:prstGeom>
          <a:noFill/>
        </p:spPr>
        <p:txBody>
          <a:bodyPr wrap="square" lIns="18288" rIns="18288" tIns="18288" bIns="18288">
            <a:spAutoFit/>
          </a:bodyPr>
          <a:lstStyle/>
          <a:p>
            <a:pPr algn="l">
              <a:lnSpc>
                <a:spcPct val="105000"/>
              </a:lnSpc>
            </a:pPr>
            <a:r>
              <a:rPr sz="1000" b="1">
                <a:solidFill>
                  <a:srgbClr val="095248"/>
                </a:solidFill>
                <a:latin typeface="Microsoft YaHei"/>
              </a:rPr>
              <a:t>系统闭环</a:t>
            </a:r>
          </a:p>
        </p:txBody>
      </p:sp>
      <p:sp>
        <p:nvSpPr>
          <p:cNvPr id="4" name="TextBox 3"/>
          <p:cNvSpPr txBox="1"/>
          <p:nvPr/>
        </p:nvSpPr>
        <p:spPr>
          <a:xfrm>
            <a:off x="658368" y="566928"/>
            <a:ext cx="10789920" cy="566928"/>
          </a:xfrm>
          <a:prstGeom prst="rect">
            <a:avLst/>
          </a:prstGeom>
          <a:noFill/>
        </p:spPr>
        <p:txBody>
          <a:bodyPr wrap="square" lIns="18288" rIns="18288" tIns="18288" bIns="18288">
            <a:spAutoFit/>
          </a:bodyPr>
          <a:lstStyle/>
          <a:p>
            <a:pPr algn="l">
              <a:lnSpc>
                <a:spcPct val="105000"/>
              </a:lnSpc>
            </a:pPr>
            <a:r>
              <a:rPr sz="2800" b="1">
                <a:solidFill>
                  <a:srgbClr val="1F2937"/>
                </a:solidFill>
                <a:latin typeface="Microsoft YaHei"/>
              </a:rPr>
              <a:t>系统把简历变成一场岗位化面试</a:t>
            </a:r>
          </a:p>
        </p:txBody>
      </p:sp>
      <p:sp>
        <p:nvSpPr>
          <p:cNvPr id="5" name="Rectangle 4"/>
          <p:cNvSpPr/>
          <p:nvPr/>
        </p:nvSpPr>
        <p:spPr>
          <a:xfrm>
            <a:off x="685800" y="1207008"/>
            <a:ext cx="10835640" cy="18288"/>
          </a:xfrm>
          <a:prstGeom prst="rect">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840" y="320040"/>
            <a:ext cx="320040" cy="182880"/>
          </a:xfrm>
          <a:prstGeom prst="rect">
            <a:avLst/>
          </a:prstGeom>
          <a:noFill/>
        </p:spPr>
        <p:txBody>
          <a:bodyPr wrap="square" lIns="18288" rIns="18288" tIns="18288" bIns="18288">
            <a:spAutoFit/>
          </a:bodyPr>
          <a:lstStyle/>
          <a:p>
            <a:pPr algn="r">
              <a:lnSpc>
                <a:spcPct val="105000"/>
              </a:lnSpc>
            </a:pPr>
            <a:r>
              <a:rPr sz="900" b="0">
                <a:solidFill>
                  <a:srgbClr val="5C6773"/>
                </a:solidFill>
                <a:latin typeface="Microsoft YaHei"/>
              </a:rPr>
              <a:t>03</a:t>
            </a:r>
          </a:p>
        </p:txBody>
      </p:sp>
      <p:sp>
        <p:nvSpPr>
          <p:cNvPr id="7" name="Oval 6"/>
          <p:cNvSpPr/>
          <p:nvPr/>
        </p:nvSpPr>
        <p:spPr>
          <a:xfrm>
            <a:off x="822960" y="1874519"/>
            <a:ext cx="640080" cy="640080"/>
          </a:xfrm>
          <a:prstGeom prst="ellipse">
            <a:avLst/>
          </a:prstGeom>
          <a:solidFill>
            <a:srgbClr val="325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2" y="2057400"/>
            <a:ext cx="201168" cy="109728"/>
          </a:xfrm>
          <a:prstGeom prst="rect">
            <a:avLst/>
          </a:prstGeom>
          <a:noFill/>
        </p:spPr>
        <p:txBody>
          <a:bodyPr wrap="square" lIns="18288" rIns="18288" tIns="18288" bIns="18288">
            <a:spAutoFit/>
          </a:bodyPr>
          <a:lstStyle/>
          <a:p>
            <a:pPr algn="ctr">
              <a:lnSpc>
                <a:spcPct val="105000"/>
              </a:lnSpc>
            </a:pPr>
            <a:r>
              <a:rPr sz="1800" b="1">
                <a:solidFill>
                  <a:srgbClr val="FFFFFF"/>
                </a:solidFill>
                <a:latin typeface="Microsoft YaHei"/>
              </a:rPr>
              <a:t>1</a:t>
            </a:r>
          </a:p>
        </p:txBody>
      </p:sp>
      <p:sp>
        <p:nvSpPr>
          <p:cNvPr id="9" name="TextBox 8"/>
          <p:cNvSpPr txBox="1"/>
          <p:nvPr/>
        </p:nvSpPr>
        <p:spPr>
          <a:xfrm>
            <a:off x="713232" y="2788920"/>
            <a:ext cx="1417320" cy="256032"/>
          </a:xfrm>
          <a:prstGeom prst="rect">
            <a:avLst/>
          </a:prstGeom>
          <a:noFill/>
        </p:spPr>
        <p:txBody>
          <a:bodyPr wrap="square" lIns="18288" rIns="18288" tIns="18288" bIns="18288">
            <a:spAutoFit/>
          </a:bodyPr>
          <a:lstStyle/>
          <a:p>
            <a:pPr algn="ctr">
              <a:lnSpc>
                <a:spcPct val="105000"/>
              </a:lnSpc>
            </a:pPr>
            <a:r>
              <a:rPr sz="2100" b="1">
                <a:solidFill>
                  <a:srgbClr val="1F2937"/>
                </a:solidFill>
                <a:latin typeface="Microsoft YaHei"/>
              </a:rPr>
              <a:t>上传简历</a:t>
            </a:r>
          </a:p>
        </p:txBody>
      </p:sp>
      <p:sp>
        <p:nvSpPr>
          <p:cNvPr id="10" name="TextBox 9"/>
          <p:cNvSpPr txBox="1"/>
          <p:nvPr/>
        </p:nvSpPr>
        <p:spPr>
          <a:xfrm>
            <a:off x="438912" y="3246120"/>
            <a:ext cx="1965960" cy="530352"/>
          </a:xfrm>
          <a:prstGeom prst="rect">
            <a:avLst/>
          </a:prstGeom>
          <a:noFill/>
        </p:spPr>
        <p:txBody>
          <a:bodyPr wrap="square" lIns="18288" rIns="18288" tIns="18288" bIns="18288">
            <a:spAutoFit/>
          </a:bodyPr>
          <a:lstStyle/>
          <a:p>
            <a:pPr algn="ctr">
              <a:lnSpc>
                <a:spcPct val="105000"/>
              </a:lnSpc>
            </a:pPr>
            <a:r>
              <a:rPr sz="1500" b="0">
                <a:solidFill>
                  <a:srgbClr val="5C6773"/>
                </a:solidFill>
                <a:latin typeface="Microsoft YaHei"/>
              </a:rPr>
              <a:t>提取教育、技能、项目、实习</a:t>
            </a:r>
          </a:p>
        </p:txBody>
      </p:sp>
      <p:sp>
        <p:nvSpPr>
          <p:cNvPr id="11" name="Rectangle 10"/>
          <p:cNvSpPr/>
          <p:nvPr/>
        </p:nvSpPr>
        <p:spPr>
          <a:xfrm>
            <a:off x="1536192" y="2176272"/>
            <a:ext cx="1298448" cy="36576"/>
          </a:xfrm>
          <a:prstGeom prst="rect">
            <a:avLst/>
          </a:prstGeom>
          <a:solidFill>
            <a:srgbClr val="CDD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063240" y="1874519"/>
            <a:ext cx="640080" cy="640080"/>
          </a:xfrm>
          <a:prstGeom prst="ellipse">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73552" y="2057400"/>
            <a:ext cx="201168" cy="109728"/>
          </a:xfrm>
          <a:prstGeom prst="rect">
            <a:avLst/>
          </a:prstGeom>
          <a:noFill/>
        </p:spPr>
        <p:txBody>
          <a:bodyPr wrap="square" lIns="18288" rIns="18288" tIns="18288" bIns="18288">
            <a:spAutoFit/>
          </a:bodyPr>
          <a:lstStyle/>
          <a:p>
            <a:pPr algn="ctr">
              <a:lnSpc>
                <a:spcPct val="105000"/>
              </a:lnSpc>
            </a:pPr>
            <a:r>
              <a:rPr sz="1800" b="1">
                <a:solidFill>
                  <a:srgbClr val="FFFFFF"/>
                </a:solidFill>
                <a:latin typeface="Microsoft YaHei"/>
              </a:rPr>
              <a:t>2</a:t>
            </a:r>
          </a:p>
        </p:txBody>
      </p:sp>
      <p:sp>
        <p:nvSpPr>
          <p:cNvPr id="14" name="TextBox 13"/>
          <p:cNvSpPr txBox="1"/>
          <p:nvPr/>
        </p:nvSpPr>
        <p:spPr>
          <a:xfrm>
            <a:off x="2953512" y="2788920"/>
            <a:ext cx="1417320" cy="256032"/>
          </a:xfrm>
          <a:prstGeom prst="rect">
            <a:avLst/>
          </a:prstGeom>
          <a:noFill/>
        </p:spPr>
        <p:txBody>
          <a:bodyPr wrap="square" lIns="18288" rIns="18288" tIns="18288" bIns="18288">
            <a:spAutoFit/>
          </a:bodyPr>
          <a:lstStyle/>
          <a:p>
            <a:pPr algn="ctr">
              <a:lnSpc>
                <a:spcPct val="105000"/>
              </a:lnSpc>
            </a:pPr>
            <a:r>
              <a:rPr sz="2100" b="1">
                <a:solidFill>
                  <a:srgbClr val="1F2937"/>
                </a:solidFill>
                <a:latin typeface="Microsoft YaHei"/>
              </a:rPr>
              <a:t>选择岗位画像</a:t>
            </a:r>
          </a:p>
        </p:txBody>
      </p:sp>
      <p:sp>
        <p:nvSpPr>
          <p:cNvPr id="15" name="TextBox 14"/>
          <p:cNvSpPr txBox="1"/>
          <p:nvPr/>
        </p:nvSpPr>
        <p:spPr>
          <a:xfrm>
            <a:off x="2679192" y="3246120"/>
            <a:ext cx="1965960" cy="530352"/>
          </a:xfrm>
          <a:prstGeom prst="rect">
            <a:avLst/>
          </a:prstGeom>
          <a:noFill/>
        </p:spPr>
        <p:txBody>
          <a:bodyPr wrap="square" lIns="18288" rIns="18288" tIns="18288" bIns="18288">
            <a:spAutoFit/>
          </a:bodyPr>
          <a:lstStyle/>
          <a:p>
            <a:pPr algn="ctr">
              <a:lnSpc>
                <a:spcPct val="105000"/>
              </a:lnSpc>
            </a:pPr>
            <a:r>
              <a:rPr sz="1500" b="0">
                <a:solidFill>
                  <a:srgbClr val="5C6773"/>
                </a:solidFill>
                <a:latin typeface="Microsoft YaHei"/>
              </a:rPr>
              <a:t>调用 Python 后端知识库</a:t>
            </a:r>
          </a:p>
        </p:txBody>
      </p:sp>
      <p:sp>
        <p:nvSpPr>
          <p:cNvPr id="16" name="Rectangle 15"/>
          <p:cNvSpPr/>
          <p:nvPr/>
        </p:nvSpPr>
        <p:spPr>
          <a:xfrm>
            <a:off x="3776472" y="2176272"/>
            <a:ext cx="1298448" cy="36576"/>
          </a:xfrm>
          <a:prstGeom prst="rect">
            <a:avLst/>
          </a:prstGeom>
          <a:solidFill>
            <a:srgbClr val="CDD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303520" y="1874519"/>
            <a:ext cx="640080" cy="640080"/>
          </a:xfrm>
          <a:prstGeom prst="ellipse">
            <a:avLst/>
          </a:prstGeom>
          <a:solidFill>
            <a:srgbClr val="D58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13832" y="2057400"/>
            <a:ext cx="201168" cy="109728"/>
          </a:xfrm>
          <a:prstGeom prst="rect">
            <a:avLst/>
          </a:prstGeom>
          <a:noFill/>
        </p:spPr>
        <p:txBody>
          <a:bodyPr wrap="square" lIns="18288" rIns="18288" tIns="18288" bIns="18288">
            <a:spAutoFit/>
          </a:bodyPr>
          <a:lstStyle/>
          <a:p>
            <a:pPr algn="ctr">
              <a:lnSpc>
                <a:spcPct val="105000"/>
              </a:lnSpc>
            </a:pPr>
            <a:r>
              <a:rPr sz="1800" b="1">
                <a:solidFill>
                  <a:srgbClr val="FFFFFF"/>
                </a:solidFill>
                <a:latin typeface="Microsoft YaHei"/>
              </a:rPr>
              <a:t>3</a:t>
            </a:r>
          </a:p>
        </p:txBody>
      </p:sp>
      <p:sp>
        <p:nvSpPr>
          <p:cNvPr id="19" name="TextBox 18"/>
          <p:cNvSpPr txBox="1"/>
          <p:nvPr/>
        </p:nvSpPr>
        <p:spPr>
          <a:xfrm>
            <a:off x="5193792" y="2788920"/>
            <a:ext cx="1417320" cy="256032"/>
          </a:xfrm>
          <a:prstGeom prst="rect">
            <a:avLst/>
          </a:prstGeom>
          <a:noFill/>
        </p:spPr>
        <p:txBody>
          <a:bodyPr wrap="square" lIns="18288" rIns="18288" tIns="18288" bIns="18288">
            <a:spAutoFit/>
          </a:bodyPr>
          <a:lstStyle/>
          <a:p>
            <a:pPr algn="ctr">
              <a:lnSpc>
                <a:spcPct val="105000"/>
              </a:lnSpc>
            </a:pPr>
            <a:r>
              <a:rPr sz="2100" b="1">
                <a:solidFill>
                  <a:srgbClr val="1F2937"/>
                </a:solidFill>
                <a:latin typeface="Microsoft YaHei"/>
              </a:rPr>
              <a:t>匹配分析</a:t>
            </a:r>
          </a:p>
        </p:txBody>
      </p:sp>
      <p:sp>
        <p:nvSpPr>
          <p:cNvPr id="20" name="TextBox 19"/>
          <p:cNvSpPr txBox="1"/>
          <p:nvPr/>
        </p:nvSpPr>
        <p:spPr>
          <a:xfrm>
            <a:off x="4919472" y="3246120"/>
            <a:ext cx="1965960" cy="530352"/>
          </a:xfrm>
          <a:prstGeom prst="rect">
            <a:avLst/>
          </a:prstGeom>
          <a:noFill/>
        </p:spPr>
        <p:txBody>
          <a:bodyPr wrap="square" lIns="18288" rIns="18288" tIns="18288" bIns="18288">
            <a:spAutoFit/>
          </a:bodyPr>
          <a:lstStyle/>
          <a:p>
            <a:pPr algn="ctr">
              <a:lnSpc>
                <a:spcPct val="105000"/>
              </a:lnSpc>
            </a:pPr>
            <a:r>
              <a:rPr sz="1500" b="0">
                <a:solidFill>
                  <a:srgbClr val="5C6773"/>
                </a:solidFill>
                <a:latin typeface="Microsoft YaHei"/>
              </a:rPr>
              <a:t>识别证据与能力缺口</a:t>
            </a:r>
          </a:p>
        </p:txBody>
      </p:sp>
      <p:sp>
        <p:nvSpPr>
          <p:cNvPr id="21" name="Rectangle 20"/>
          <p:cNvSpPr/>
          <p:nvPr/>
        </p:nvSpPr>
        <p:spPr>
          <a:xfrm>
            <a:off x="6016752" y="2176272"/>
            <a:ext cx="1298448" cy="36576"/>
          </a:xfrm>
          <a:prstGeom prst="rect">
            <a:avLst/>
          </a:prstGeom>
          <a:solidFill>
            <a:srgbClr val="CDD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543800" y="1874519"/>
            <a:ext cx="640080" cy="640080"/>
          </a:xfrm>
          <a:prstGeom prst="ellipse">
            <a:avLst/>
          </a:prstGeom>
          <a:solidFill>
            <a:srgbClr val="BE4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54112" y="2057400"/>
            <a:ext cx="201168" cy="109728"/>
          </a:xfrm>
          <a:prstGeom prst="rect">
            <a:avLst/>
          </a:prstGeom>
          <a:noFill/>
        </p:spPr>
        <p:txBody>
          <a:bodyPr wrap="square" lIns="18288" rIns="18288" tIns="18288" bIns="18288">
            <a:spAutoFit/>
          </a:bodyPr>
          <a:lstStyle/>
          <a:p>
            <a:pPr algn="ctr">
              <a:lnSpc>
                <a:spcPct val="105000"/>
              </a:lnSpc>
            </a:pPr>
            <a:r>
              <a:rPr sz="1800" b="1">
                <a:solidFill>
                  <a:srgbClr val="FFFFFF"/>
                </a:solidFill>
                <a:latin typeface="Microsoft YaHei"/>
              </a:rPr>
              <a:t>4</a:t>
            </a:r>
          </a:p>
        </p:txBody>
      </p:sp>
      <p:sp>
        <p:nvSpPr>
          <p:cNvPr id="24" name="TextBox 23"/>
          <p:cNvSpPr txBox="1"/>
          <p:nvPr/>
        </p:nvSpPr>
        <p:spPr>
          <a:xfrm>
            <a:off x="7434072" y="2788920"/>
            <a:ext cx="1417320" cy="256032"/>
          </a:xfrm>
          <a:prstGeom prst="rect">
            <a:avLst/>
          </a:prstGeom>
          <a:noFill/>
        </p:spPr>
        <p:txBody>
          <a:bodyPr wrap="square" lIns="18288" rIns="18288" tIns="18288" bIns="18288">
            <a:spAutoFit/>
          </a:bodyPr>
          <a:lstStyle/>
          <a:p>
            <a:pPr algn="ctr">
              <a:lnSpc>
                <a:spcPct val="105000"/>
              </a:lnSpc>
            </a:pPr>
            <a:r>
              <a:rPr sz="2100" b="1">
                <a:solidFill>
                  <a:srgbClr val="1F2937"/>
                </a:solidFill>
                <a:latin typeface="Microsoft YaHei"/>
              </a:rPr>
              <a:t>模拟面试</a:t>
            </a:r>
          </a:p>
        </p:txBody>
      </p:sp>
      <p:sp>
        <p:nvSpPr>
          <p:cNvPr id="25" name="TextBox 24"/>
          <p:cNvSpPr txBox="1"/>
          <p:nvPr/>
        </p:nvSpPr>
        <p:spPr>
          <a:xfrm>
            <a:off x="7159752" y="3246120"/>
            <a:ext cx="1965960" cy="530352"/>
          </a:xfrm>
          <a:prstGeom prst="rect">
            <a:avLst/>
          </a:prstGeom>
          <a:noFill/>
        </p:spPr>
        <p:txBody>
          <a:bodyPr wrap="square" lIns="18288" rIns="18288" tIns="18288" bIns="18288">
            <a:spAutoFit/>
          </a:bodyPr>
          <a:lstStyle/>
          <a:p>
            <a:pPr algn="ctr">
              <a:lnSpc>
                <a:spcPct val="105000"/>
              </a:lnSpc>
            </a:pPr>
            <a:r>
              <a:rPr sz="1500" b="0">
                <a:solidFill>
                  <a:srgbClr val="5C6773"/>
                </a:solidFill>
                <a:latin typeface="Microsoft YaHei"/>
              </a:rPr>
              <a:t>按岗位知识点追问</a:t>
            </a:r>
          </a:p>
        </p:txBody>
      </p:sp>
      <p:sp>
        <p:nvSpPr>
          <p:cNvPr id="26" name="Rectangle 25"/>
          <p:cNvSpPr/>
          <p:nvPr/>
        </p:nvSpPr>
        <p:spPr>
          <a:xfrm>
            <a:off x="8257031" y="2176272"/>
            <a:ext cx="1298448" cy="36576"/>
          </a:xfrm>
          <a:prstGeom prst="rect">
            <a:avLst/>
          </a:prstGeom>
          <a:solidFill>
            <a:srgbClr val="CDD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784080" y="1874519"/>
            <a:ext cx="640080" cy="640080"/>
          </a:xfrm>
          <a:prstGeom prst="ellipse">
            <a:avLst/>
          </a:prstGeom>
          <a:solidFill>
            <a:srgbClr val="0952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94392" y="2057400"/>
            <a:ext cx="201168" cy="109728"/>
          </a:xfrm>
          <a:prstGeom prst="rect">
            <a:avLst/>
          </a:prstGeom>
          <a:noFill/>
        </p:spPr>
        <p:txBody>
          <a:bodyPr wrap="square" lIns="18288" rIns="18288" tIns="18288" bIns="18288">
            <a:spAutoFit/>
          </a:bodyPr>
          <a:lstStyle/>
          <a:p>
            <a:pPr algn="ctr">
              <a:lnSpc>
                <a:spcPct val="105000"/>
              </a:lnSpc>
            </a:pPr>
            <a:r>
              <a:rPr sz="1800" b="1">
                <a:solidFill>
                  <a:srgbClr val="FFFFFF"/>
                </a:solidFill>
                <a:latin typeface="Microsoft YaHei"/>
              </a:rPr>
              <a:t>5</a:t>
            </a:r>
          </a:p>
        </p:txBody>
      </p:sp>
      <p:sp>
        <p:nvSpPr>
          <p:cNvPr id="29" name="TextBox 28"/>
          <p:cNvSpPr txBox="1"/>
          <p:nvPr/>
        </p:nvSpPr>
        <p:spPr>
          <a:xfrm>
            <a:off x="9674352" y="2788920"/>
            <a:ext cx="1417320" cy="256032"/>
          </a:xfrm>
          <a:prstGeom prst="rect">
            <a:avLst/>
          </a:prstGeom>
          <a:noFill/>
        </p:spPr>
        <p:txBody>
          <a:bodyPr wrap="square" lIns="18288" rIns="18288" tIns="18288" bIns="18288">
            <a:spAutoFit/>
          </a:bodyPr>
          <a:lstStyle/>
          <a:p>
            <a:pPr algn="ctr">
              <a:lnSpc>
                <a:spcPct val="105000"/>
              </a:lnSpc>
            </a:pPr>
            <a:r>
              <a:rPr sz="2100" b="1">
                <a:solidFill>
                  <a:srgbClr val="1F2937"/>
                </a:solidFill>
                <a:latin typeface="Microsoft YaHei"/>
              </a:rPr>
              <a:t>报告复核</a:t>
            </a:r>
          </a:p>
        </p:txBody>
      </p:sp>
      <p:sp>
        <p:nvSpPr>
          <p:cNvPr id="30" name="TextBox 29"/>
          <p:cNvSpPr txBox="1"/>
          <p:nvPr/>
        </p:nvSpPr>
        <p:spPr>
          <a:xfrm>
            <a:off x="9400032" y="3246120"/>
            <a:ext cx="1965960" cy="530352"/>
          </a:xfrm>
          <a:prstGeom prst="rect">
            <a:avLst/>
          </a:prstGeom>
          <a:noFill/>
        </p:spPr>
        <p:txBody>
          <a:bodyPr wrap="square" lIns="18288" rIns="18288" tIns="18288" bIns="18288">
            <a:spAutoFit/>
          </a:bodyPr>
          <a:lstStyle/>
          <a:p>
            <a:pPr algn="ctr">
              <a:lnSpc>
                <a:spcPct val="105000"/>
              </a:lnSpc>
            </a:pPr>
            <a:r>
              <a:rPr sz="1500" b="0">
                <a:solidFill>
                  <a:srgbClr val="5C6773"/>
                </a:solidFill>
                <a:latin typeface="Microsoft YaHei"/>
              </a:rPr>
              <a:t>输出评分、建议和后台样本</a:t>
            </a:r>
          </a:p>
        </p:txBody>
      </p:sp>
      <p:sp>
        <p:nvSpPr>
          <p:cNvPr id="31" name="TextBox 30"/>
          <p:cNvSpPr txBox="1"/>
          <p:nvPr/>
        </p:nvSpPr>
        <p:spPr>
          <a:xfrm>
            <a:off x="960120" y="5074920"/>
            <a:ext cx="10149840" cy="411480"/>
          </a:xfrm>
          <a:prstGeom prst="rect">
            <a:avLst/>
          </a:prstGeom>
          <a:noFill/>
        </p:spPr>
        <p:txBody>
          <a:bodyPr wrap="square" lIns="18288" rIns="18288" tIns="18288" bIns="18288">
            <a:spAutoFit/>
          </a:bodyPr>
          <a:lstStyle/>
          <a:p>
            <a:pPr algn="ctr">
              <a:lnSpc>
                <a:spcPct val="105000"/>
              </a:lnSpc>
            </a:pPr>
            <a:r>
              <a:rPr sz="2200" b="1">
                <a:solidFill>
                  <a:srgbClr val="095248"/>
                </a:solidFill>
                <a:latin typeface="Microsoft YaHei"/>
              </a:rPr>
              <a:t>关键变化：不是把简历丢给大模型泛泛聊天，而是让“岗位画像、知识切片、评分规则、证据约束”一起参与面试。</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4114800" cy="256032"/>
          </a:xfrm>
          <a:prstGeom prst="rect">
            <a:avLst/>
          </a:prstGeom>
          <a:noFill/>
        </p:spPr>
        <p:txBody>
          <a:bodyPr wrap="square" lIns="18288" rIns="18288" tIns="18288" bIns="18288">
            <a:spAutoFit/>
          </a:bodyPr>
          <a:lstStyle/>
          <a:p>
            <a:pPr algn="l">
              <a:lnSpc>
                <a:spcPct val="105000"/>
              </a:lnSpc>
            </a:pPr>
            <a:r>
              <a:rPr sz="1000" b="1">
                <a:solidFill>
                  <a:srgbClr val="095248"/>
                </a:solidFill>
                <a:latin typeface="Microsoft YaHei"/>
              </a:rPr>
              <a:t>岗位画像库</a:t>
            </a:r>
          </a:p>
        </p:txBody>
      </p:sp>
      <p:sp>
        <p:nvSpPr>
          <p:cNvPr id="4" name="TextBox 3"/>
          <p:cNvSpPr txBox="1"/>
          <p:nvPr/>
        </p:nvSpPr>
        <p:spPr>
          <a:xfrm>
            <a:off x="658368" y="566928"/>
            <a:ext cx="10789920" cy="566928"/>
          </a:xfrm>
          <a:prstGeom prst="rect">
            <a:avLst/>
          </a:prstGeom>
          <a:noFill/>
        </p:spPr>
        <p:txBody>
          <a:bodyPr wrap="square" lIns="18288" rIns="18288" tIns="18288" bIns="18288">
            <a:spAutoFit/>
          </a:bodyPr>
          <a:lstStyle/>
          <a:p>
            <a:pPr algn="l">
              <a:lnSpc>
                <a:spcPct val="105000"/>
              </a:lnSpc>
            </a:pPr>
            <a:r>
              <a:rPr sz="2800" b="1">
                <a:solidFill>
                  <a:srgbClr val="1F2937"/>
                </a:solidFill>
                <a:latin typeface="Microsoft YaHei"/>
              </a:rPr>
              <a:t>为什么这次选 Python 后端岗位画像</a:t>
            </a:r>
          </a:p>
        </p:txBody>
      </p:sp>
      <p:sp>
        <p:nvSpPr>
          <p:cNvPr id="5" name="Rectangle 4"/>
          <p:cNvSpPr/>
          <p:nvPr/>
        </p:nvSpPr>
        <p:spPr>
          <a:xfrm>
            <a:off x="685800" y="1207008"/>
            <a:ext cx="10835640" cy="18288"/>
          </a:xfrm>
          <a:prstGeom prst="rect">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840" y="320040"/>
            <a:ext cx="320040" cy="182880"/>
          </a:xfrm>
          <a:prstGeom prst="rect">
            <a:avLst/>
          </a:prstGeom>
          <a:noFill/>
        </p:spPr>
        <p:txBody>
          <a:bodyPr wrap="square" lIns="18288" rIns="18288" tIns="18288" bIns="18288">
            <a:spAutoFit/>
          </a:bodyPr>
          <a:lstStyle/>
          <a:p>
            <a:pPr algn="r">
              <a:lnSpc>
                <a:spcPct val="105000"/>
              </a:lnSpc>
            </a:pPr>
            <a:r>
              <a:rPr sz="900" b="0">
                <a:solidFill>
                  <a:srgbClr val="5C6773"/>
                </a:solidFill>
                <a:latin typeface="Microsoft YaHei"/>
              </a:rPr>
              <a:t>04</a:t>
            </a:r>
          </a:p>
        </p:txBody>
      </p:sp>
      <p:sp>
        <p:nvSpPr>
          <p:cNvPr id="7" name="TextBox 6"/>
          <p:cNvSpPr txBox="1"/>
          <p:nvPr/>
        </p:nvSpPr>
        <p:spPr>
          <a:xfrm>
            <a:off x="786384" y="1444752"/>
            <a:ext cx="6858000" cy="320040"/>
          </a:xfrm>
          <a:prstGeom prst="rect">
            <a:avLst/>
          </a:prstGeom>
          <a:noFill/>
        </p:spPr>
        <p:txBody>
          <a:bodyPr wrap="square" lIns="18288" rIns="18288" tIns="18288" bIns="18288">
            <a:spAutoFit/>
          </a:bodyPr>
          <a:lstStyle/>
          <a:p>
            <a:pPr algn="l">
              <a:lnSpc>
                <a:spcPct val="105000"/>
              </a:lnSpc>
            </a:pPr>
            <a:r>
              <a:rPr sz="2200" b="1">
                <a:solidFill>
                  <a:srgbClr val="1F2937"/>
                </a:solidFill>
                <a:latin typeface="Microsoft YaHei"/>
              </a:rPr>
              <a:t>当前项目中信息最完整、最适合技术演示的岗位画像</a:t>
            </a:r>
          </a:p>
        </p:txBody>
      </p:sp>
      <p:sp>
        <p:nvSpPr>
          <p:cNvPr id="8" name="Rectangle 7"/>
          <p:cNvSpPr/>
          <p:nvPr/>
        </p:nvSpPr>
        <p:spPr>
          <a:xfrm>
            <a:off x="868680" y="1965960"/>
            <a:ext cx="2834640" cy="45720"/>
          </a:xfrm>
          <a:prstGeom prst="rect">
            <a:avLst/>
          </a:prstGeom>
          <a:solidFill>
            <a:srgbClr val="325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21408"/>
            <a:ext cx="2926080" cy="256032"/>
          </a:xfrm>
          <a:prstGeom prst="rect">
            <a:avLst/>
          </a:prstGeom>
          <a:noFill/>
        </p:spPr>
        <p:txBody>
          <a:bodyPr wrap="square" lIns="18288" rIns="18288" tIns="18288" bIns="18288">
            <a:spAutoFit/>
          </a:bodyPr>
          <a:lstStyle/>
          <a:p>
            <a:pPr algn="l">
              <a:lnSpc>
                <a:spcPct val="105000"/>
              </a:lnSpc>
            </a:pPr>
            <a:r>
              <a:rPr sz="2200" b="1">
                <a:solidFill>
                  <a:srgbClr val="1F2937"/>
                </a:solidFill>
                <a:latin typeface="Microsoft YaHei"/>
              </a:rPr>
              <a:t>核心能力</a:t>
            </a:r>
          </a:p>
        </p:txBody>
      </p:sp>
      <p:sp>
        <p:nvSpPr>
          <p:cNvPr id="10" name="TextBox 9"/>
          <p:cNvSpPr txBox="1"/>
          <p:nvPr/>
        </p:nvSpPr>
        <p:spPr>
          <a:xfrm>
            <a:off x="868680" y="2633472"/>
            <a:ext cx="2926080" cy="1965960"/>
          </a:xfrm>
          <a:prstGeom prst="rect">
            <a:avLst/>
          </a:prstGeom>
          <a:noFill/>
        </p:spPr>
        <p:txBody>
          <a:bodyPr wrap="square" lIns="18288" rIns="18288" tIns="18288" bIns="18288">
            <a:spAutoFit/>
          </a:bodyPr>
          <a:lstStyle/>
          <a:p>
            <a:pPr algn="l">
              <a:lnSpc>
                <a:spcPct val="120000"/>
              </a:lnSpc>
            </a:pPr>
            <a:r>
              <a:rPr sz="2200" b="0">
                <a:solidFill>
                  <a:srgbClr val="5C6773"/>
                </a:solidFill>
                <a:latin typeface="Microsoft YaHei"/>
              </a:rPr>
              <a:t>Python / FastAPI
SQLAlchemy / PostgreSQL
Redis / Docker
异步编程 / Celery</a:t>
            </a:r>
          </a:p>
        </p:txBody>
      </p:sp>
      <p:sp>
        <p:nvSpPr>
          <p:cNvPr id="11" name="Rectangle 10"/>
          <p:cNvSpPr/>
          <p:nvPr/>
        </p:nvSpPr>
        <p:spPr>
          <a:xfrm>
            <a:off x="4617720" y="1965960"/>
            <a:ext cx="2834640" cy="45720"/>
          </a:xfrm>
          <a:prstGeom prst="rect">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121408"/>
            <a:ext cx="2926080" cy="256032"/>
          </a:xfrm>
          <a:prstGeom prst="rect">
            <a:avLst/>
          </a:prstGeom>
          <a:noFill/>
        </p:spPr>
        <p:txBody>
          <a:bodyPr wrap="square" lIns="18288" rIns="18288" tIns="18288" bIns="18288">
            <a:spAutoFit/>
          </a:bodyPr>
          <a:lstStyle/>
          <a:p>
            <a:pPr algn="l">
              <a:lnSpc>
                <a:spcPct val="105000"/>
              </a:lnSpc>
            </a:pPr>
            <a:r>
              <a:rPr sz="2200" b="1">
                <a:solidFill>
                  <a:srgbClr val="1F2937"/>
                </a:solidFill>
                <a:latin typeface="Microsoft YaHei"/>
              </a:rPr>
              <a:t>面试重点</a:t>
            </a:r>
          </a:p>
        </p:txBody>
      </p:sp>
      <p:sp>
        <p:nvSpPr>
          <p:cNvPr id="13" name="TextBox 12"/>
          <p:cNvSpPr txBox="1"/>
          <p:nvPr/>
        </p:nvSpPr>
        <p:spPr>
          <a:xfrm>
            <a:off x="4617720" y="2633472"/>
            <a:ext cx="2926080" cy="1965960"/>
          </a:xfrm>
          <a:prstGeom prst="rect">
            <a:avLst/>
          </a:prstGeom>
          <a:noFill/>
        </p:spPr>
        <p:txBody>
          <a:bodyPr wrap="square" lIns="18288" rIns="18288" tIns="18288" bIns="18288">
            <a:spAutoFit/>
          </a:bodyPr>
          <a:lstStyle/>
          <a:p>
            <a:pPr algn="l">
              <a:lnSpc>
                <a:spcPct val="120000"/>
              </a:lnSpc>
            </a:pPr>
            <a:r>
              <a:rPr sz="2200" b="0">
                <a:solidFill>
                  <a:srgbClr val="5C6773"/>
                </a:solidFill>
                <a:latin typeface="Microsoft YaHei"/>
              </a:rPr>
              <a:t>接口设计
数据库索引与事务
缓存一致性
异步任务与幂等
线上排障</a:t>
            </a:r>
          </a:p>
        </p:txBody>
      </p:sp>
      <p:sp>
        <p:nvSpPr>
          <p:cNvPr id="14" name="Rectangle 13"/>
          <p:cNvSpPr/>
          <p:nvPr/>
        </p:nvSpPr>
        <p:spPr>
          <a:xfrm>
            <a:off x="8366759" y="1965960"/>
            <a:ext cx="2834640" cy="45720"/>
          </a:xfrm>
          <a:prstGeom prst="rect">
            <a:avLst/>
          </a:prstGeom>
          <a:solidFill>
            <a:srgbClr val="D58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59" y="2121408"/>
            <a:ext cx="2926080" cy="256032"/>
          </a:xfrm>
          <a:prstGeom prst="rect">
            <a:avLst/>
          </a:prstGeom>
          <a:noFill/>
        </p:spPr>
        <p:txBody>
          <a:bodyPr wrap="square" lIns="18288" rIns="18288" tIns="18288" bIns="18288">
            <a:spAutoFit/>
          </a:bodyPr>
          <a:lstStyle/>
          <a:p>
            <a:pPr algn="l">
              <a:lnSpc>
                <a:spcPct val="105000"/>
              </a:lnSpc>
            </a:pPr>
            <a:r>
              <a:rPr sz="2200" b="1">
                <a:solidFill>
                  <a:srgbClr val="1F2937"/>
                </a:solidFill>
                <a:latin typeface="Microsoft YaHei"/>
              </a:rPr>
              <a:t>评分关注</a:t>
            </a:r>
          </a:p>
        </p:txBody>
      </p:sp>
      <p:sp>
        <p:nvSpPr>
          <p:cNvPr id="16" name="TextBox 15"/>
          <p:cNvSpPr txBox="1"/>
          <p:nvPr/>
        </p:nvSpPr>
        <p:spPr>
          <a:xfrm>
            <a:off x="8366759" y="2633472"/>
            <a:ext cx="2926080" cy="1965960"/>
          </a:xfrm>
          <a:prstGeom prst="rect">
            <a:avLst/>
          </a:prstGeom>
          <a:noFill/>
        </p:spPr>
        <p:txBody>
          <a:bodyPr wrap="square" lIns="18288" rIns="18288" tIns="18288" bIns="18288">
            <a:spAutoFit/>
          </a:bodyPr>
          <a:lstStyle/>
          <a:p>
            <a:pPr algn="l">
              <a:lnSpc>
                <a:spcPct val="120000"/>
              </a:lnSpc>
            </a:pPr>
            <a:r>
              <a:rPr sz="2200" b="0">
                <a:solidFill>
                  <a:srgbClr val="5C6773"/>
                </a:solidFill>
                <a:latin typeface="Microsoft YaHei"/>
              </a:rPr>
              <a:t>基础是否扎实
项目证据是否真实
能否解释技术取舍
能否定位问题
是否给出改进路径</a:t>
            </a:r>
          </a:p>
        </p:txBody>
      </p:sp>
      <p:sp>
        <p:nvSpPr>
          <p:cNvPr id="17" name="TextBox 16"/>
          <p:cNvSpPr txBox="1"/>
          <p:nvPr/>
        </p:nvSpPr>
        <p:spPr>
          <a:xfrm>
            <a:off x="868680" y="5230368"/>
            <a:ext cx="1371600" cy="201168"/>
          </a:xfrm>
          <a:prstGeom prst="rect">
            <a:avLst/>
          </a:prstGeom>
          <a:noFill/>
        </p:spPr>
        <p:txBody>
          <a:bodyPr wrap="square" lIns="18288" rIns="18288" tIns="18288" bIns="18288">
            <a:spAutoFit/>
          </a:bodyPr>
          <a:lstStyle/>
          <a:p>
            <a:pPr algn="l">
              <a:lnSpc>
                <a:spcPct val="105000"/>
              </a:lnSpc>
            </a:pPr>
            <a:r>
              <a:rPr sz="1800" b="1">
                <a:solidFill>
                  <a:srgbClr val="095248"/>
                </a:solidFill>
                <a:latin typeface="Microsoft YaHei"/>
              </a:rPr>
              <a:t>展示重点</a:t>
            </a:r>
          </a:p>
        </p:txBody>
      </p:sp>
      <p:sp>
        <p:nvSpPr>
          <p:cNvPr id="18" name="TextBox 17"/>
          <p:cNvSpPr txBox="1"/>
          <p:nvPr/>
        </p:nvSpPr>
        <p:spPr>
          <a:xfrm>
            <a:off x="2057400" y="5212080"/>
            <a:ext cx="8778240" cy="320040"/>
          </a:xfrm>
          <a:prstGeom prst="rect">
            <a:avLst/>
          </a:prstGeom>
          <a:noFill/>
        </p:spPr>
        <p:txBody>
          <a:bodyPr wrap="square" lIns="18288" rIns="18288" tIns="18288" bIns="18288">
            <a:spAutoFit/>
          </a:bodyPr>
          <a:lstStyle/>
          <a:p>
            <a:pPr algn="l">
              <a:lnSpc>
                <a:spcPct val="105000"/>
              </a:lnSpc>
            </a:pPr>
            <a:r>
              <a:rPr sz="2000" b="0">
                <a:solidFill>
                  <a:srgbClr val="1F2937"/>
                </a:solidFill>
                <a:latin typeface="Microsoft YaHei"/>
              </a:rPr>
              <a:t>评委看到的不是“写死的题库”，而是一个可维护的岗位画像库：岗位越清楚，面试越像真实招聘。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4114800" cy="256032"/>
          </a:xfrm>
          <a:prstGeom prst="rect">
            <a:avLst/>
          </a:prstGeom>
          <a:noFill/>
        </p:spPr>
        <p:txBody>
          <a:bodyPr wrap="square" lIns="18288" rIns="18288" tIns="18288" bIns="18288">
            <a:spAutoFit/>
          </a:bodyPr>
          <a:lstStyle/>
          <a:p>
            <a:pPr algn="l">
              <a:lnSpc>
                <a:spcPct val="105000"/>
              </a:lnSpc>
            </a:pPr>
            <a:r>
              <a:rPr sz="1000" b="1">
                <a:solidFill>
                  <a:srgbClr val="095248"/>
                </a:solidFill>
                <a:latin typeface="Microsoft YaHei"/>
              </a:rPr>
              <a:t>简历分析</a:t>
            </a:r>
          </a:p>
        </p:txBody>
      </p:sp>
      <p:sp>
        <p:nvSpPr>
          <p:cNvPr id="4" name="TextBox 3"/>
          <p:cNvSpPr txBox="1"/>
          <p:nvPr/>
        </p:nvSpPr>
        <p:spPr>
          <a:xfrm>
            <a:off x="658368" y="566928"/>
            <a:ext cx="10789920" cy="566928"/>
          </a:xfrm>
          <a:prstGeom prst="rect">
            <a:avLst/>
          </a:prstGeom>
          <a:noFill/>
        </p:spPr>
        <p:txBody>
          <a:bodyPr wrap="square" lIns="18288" rIns="18288" tIns="18288" bIns="18288">
            <a:spAutoFit/>
          </a:bodyPr>
          <a:lstStyle/>
          <a:p>
            <a:pPr algn="l">
              <a:lnSpc>
                <a:spcPct val="105000"/>
              </a:lnSpc>
            </a:pPr>
            <a:r>
              <a:rPr sz="2800" b="1">
                <a:solidFill>
                  <a:srgbClr val="1F2937"/>
                </a:solidFill>
                <a:latin typeface="Microsoft YaHei"/>
              </a:rPr>
              <a:t>案例匹配结果：证据够强，也有空白</a:t>
            </a:r>
          </a:p>
        </p:txBody>
      </p:sp>
      <p:sp>
        <p:nvSpPr>
          <p:cNvPr id="5" name="Rectangle 4"/>
          <p:cNvSpPr/>
          <p:nvPr/>
        </p:nvSpPr>
        <p:spPr>
          <a:xfrm>
            <a:off x="685800" y="1207008"/>
            <a:ext cx="10835640" cy="18288"/>
          </a:xfrm>
          <a:prstGeom prst="rect">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840" y="320040"/>
            <a:ext cx="320040" cy="182880"/>
          </a:xfrm>
          <a:prstGeom prst="rect">
            <a:avLst/>
          </a:prstGeom>
          <a:noFill/>
        </p:spPr>
        <p:txBody>
          <a:bodyPr wrap="square" lIns="18288" rIns="18288" tIns="18288" bIns="18288">
            <a:spAutoFit/>
          </a:bodyPr>
          <a:lstStyle/>
          <a:p>
            <a:pPr algn="r">
              <a:lnSpc>
                <a:spcPct val="105000"/>
              </a:lnSpc>
            </a:pPr>
            <a:r>
              <a:rPr sz="900" b="0">
                <a:solidFill>
                  <a:srgbClr val="5C6773"/>
                </a:solidFill>
                <a:latin typeface="Microsoft YaHei"/>
              </a:rPr>
              <a:t>05</a:t>
            </a:r>
          </a:p>
        </p:txBody>
      </p:sp>
      <p:sp>
        <p:nvSpPr>
          <p:cNvPr id="7" name="TextBox 6"/>
          <p:cNvSpPr txBox="1"/>
          <p:nvPr/>
        </p:nvSpPr>
        <p:spPr>
          <a:xfrm>
            <a:off x="822960" y="1463040"/>
            <a:ext cx="3200400" cy="320040"/>
          </a:xfrm>
          <a:prstGeom prst="rect">
            <a:avLst/>
          </a:prstGeom>
          <a:noFill/>
        </p:spPr>
        <p:txBody>
          <a:bodyPr wrap="square" lIns="18288" rIns="18288" tIns="18288" bIns="18288">
            <a:spAutoFit/>
          </a:bodyPr>
          <a:lstStyle/>
          <a:p>
            <a:pPr algn="l">
              <a:lnSpc>
                <a:spcPct val="105000"/>
              </a:lnSpc>
            </a:pPr>
            <a:r>
              <a:rPr sz="2400" b="1">
                <a:solidFill>
                  <a:srgbClr val="095248"/>
                </a:solidFill>
                <a:latin typeface="Microsoft YaHei"/>
              </a:rPr>
              <a:t>命中证据</a:t>
            </a:r>
          </a:p>
        </p:txBody>
      </p:sp>
      <p:sp>
        <p:nvSpPr>
          <p:cNvPr id="8" name="TextBox 7"/>
          <p:cNvSpPr txBox="1"/>
          <p:nvPr/>
        </p:nvSpPr>
        <p:spPr>
          <a:xfrm>
            <a:off x="6355080" y="1463040"/>
            <a:ext cx="3200400" cy="320040"/>
          </a:xfrm>
          <a:prstGeom prst="rect">
            <a:avLst/>
          </a:prstGeom>
          <a:noFill/>
        </p:spPr>
        <p:txBody>
          <a:bodyPr wrap="square" lIns="18288" rIns="18288" tIns="18288" bIns="18288">
            <a:spAutoFit/>
          </a:bodyPr>
          <a:lstStyle/>
          <a:p>
            <a:pPr algn="l">
              <a:lnSpc>
                <a:spcPct val="105000"/>
              </a:lnSpc>
            </a:pPr>
            <a:r>
              <a:rPr sz="2400" b="1">
                <a:solidFill>
                  <a:srgbClr val="D58A2B"/>
                </a:solidFill>
                <a:latin typeface="Microsoft YaHei"/>
              </a:rPr>
              <a:t>需要追问</a:t>
            </a:r>
          </a:p>
        </p:txBody>
      </p:sp>
      <p:sp>
        <p:nvSpPr>
          <p:cNvPr id="9" name="Oval 8"/>
          <p:cNvSpPr/>
          <p:nvPr/>
        </p:nvSpPr>
        <p:spPr>
          <a:xfrm>
            <a:off x="822960" y="2039112"/>
            <a:ext cx="155448" cy="155448"/>
          </a:xfrm>
          <a:prstGeom prst="ellipse">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5568" y="1965960"/>
            <a:ext cx="4754880" cy="347472"/>
          </a:xfrm>
          <a:prstGeom prst="rect">
            <a:avLst/>
          </a:prstGeom>
          <a:noFill/>
        </p:spPr>
        <p:txBody>
          <a:bodyPr wrap="square" lIns="18288" rIns="18288" tIns="18288" bIns="18288">
            <a:spAutoFit/>
          </a:bodyPr>
          <a:lstStyle/>
          <a:p>
            <a:pPr algn="l">
              <a:lnSpc>
                <a:spcPct val="105000"/>
              </a:lnSpc>
            </a:pPr>
            <a:r>
              <a:rPr sz="1700" b="0">
                <a:solidFill>
                  <a:srgbClr val="1F2937"/>
                </a:solidFill>
                <a:latin typeface="Microsoft YaHei"/>
              </a:rPr>
              <a:t>CS 专业与系统课程能支撑后端基础面试。</a:t>
            </a:r>
          </a:p>
        </p:txBody>
      </p:sp>
      <p:sp>
        <p:nvSpPr>
          <p:cNvPr id="11" name="Oval 10"/>
          <p:cNvSpPr/>
          <p:nvPr/>
        </p:nvSpPr>
        <p:spPr>
          <a:xfrm>
            <a:off x="822960" y="2752344"/>
            <a:ext cx="155448" cy="155448"/>
          </a:xfrm>
          <a:prstGeom prst="ellipse">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5568" y="2679191"/>
            <a:ext cx="4754880" cy="347472"/>
          </a:xfrm>
          <a:prstGeom prst="rect">
            <a:avLst/>
          </a:prstGeom>
          <a:noFill/>
        </p:spPr>
        <p:txBody>
          <a:bodyPr wrap="square" lIns="18288" rIns="18288" tIns="18288" bIns="18288">
            <a:spAutoFit/>
          </a:bodyPr>
          <a:lstStyle/>
          <a:p>
            <a:pPr algn="l">
              <a:lnSpc>
                <a:spcPct val="105000"/>
              </a:lnSpc>
            </a:pPr>
            <a:r>
              <a:rPr sz="1700" b="0">
                <a:solidFill>
                  <a:srgbClr val="1F2937"/>
                </a:solidFill>
                <a:latin typeface="Microsoft YaHei"/>
              </a:rPr>
              <a:t>Python、SQL、JavaScript 等技能与后端开发有关。</a:t>
            </a:r>
          </a:p>
        </p:txBody>
      </p:sp>
      <p:sp>
        <p:nvSpPr>
          <p:cNvPr id="13" name="Oval 12"/>
          <p:cNvSpPr/>
          <p:nvPr/>
        </p:nvSpPr>
        <p:spPr>
          <a:xfrm>
            <a:off x="822960" y="3465576"/>
            <a:ext cx="155448" cy="155448"/>
          </a:xfrm>
          <a:prstGeom prst="ellipse">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5568" y="3392424"/>
            <a:ext cx="4754880" cy="347472"/>
          </a:xfrm>
          <a:prstGeom prst="rect">
            <a:avLst/>
          </a:prstGeom>
          <a:noFill/>
        </p:spPr>
        <p:txBody>
          <a:bodyPr wrap="square" lIns="18288" rIns="18288" tIns="18288" bIns="18288">
            <a:spAutoFit/>
          </a:bodyPr>
          <a:lstStyle/>
          <a:p>
            <a:pPr algn="l">
              <a:lnSpc>
                <a:spcPct val="105000"/>
              </a:lnSpc>
            </a:pPr>
            <a:r>
              <a:rPr sz="1700" b="0">
                <a:solidFill>
                  <a:srgbClr val="1F2937"/>
                </a:solidFill>
                <a:latin typeface="Microsoft YaHei"/>
              </a:rPr>
              <a:t>Microsoft 实习和网站后端数据库经历可做项目追问。</a:t>
            </a:r>
          </a:p>
        </p:txBody>
      </p:sp>
      <p:sp>
        <p:nvSpPr>
          <p:cNvPr id="15" name="Oval 14"/>
          <p:cNvSpPr/>
          <p:nvPr/>
        </p:nvSpPr>
        <p:spPr>
          <a:xfrm>
            <a:off x="822960" y="4178808"/>
            <a:ext cx="155448" cy="155448"/>
          </a:xfrm>
          <a:prstGeom prst="ellipse">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15568" y="4105656"/>
            <a:ext cx="4754880" cy="347472"/>
          </a:xfrm>
          <a:prstGeom prst="rect">
            <a:avLst/>
          </a:prstGeom>
          <a:noFill/>
        </p:spPr>
        <p:txBody>
          <a:bodyPr wrap="square" lIns="18288" rIns="18288" tIns="18288" bIns="18288">
            <a:spAutoFit/>
          </a:bodyPr>
          <a:lstStyle/>
          <a:p>
            <a:pPr algn="l">
              <a:lnSpc>
                <a:spcPct val="105000"/>
              </a:lnSpc>
            </a:pPr>
            <a:r>
              <a:rPr sz="1700" b="0">
                <a:solidFill>
                  <a:srgbClr val="1F2937"/>
                </a:solidFill>
                <a:latin typeface="Microsoft YaHei"/>
              </a:rPr>
              <a:t>教学助教经历能补充表达、拆解和沟通能力。</a:t>
            </a:r>
          </a:p>
        </p:txBody>
      </p:sp>
      <p:sp>
        <p:nvSpPr>
          <p:cNvPr id="17" name="Oval 16"/>
          <p:cNvSpPr/>
          <p:nvPr/>
        </p:nvSpPr>
        <p:spPr>
          <a:xfrm>
            <a:off x="6355080" y="2039112"/>
            <a:ext cx="155448" cy="155448"/>
          </a:xfrm>
          <a:prstGeom prst="ellipse">
            <a:avLst/>
          </a:prstGeom>
          <a:solidFill>
            <a:srgbClr val="D58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47688" y="1965960"/>
            <a:ext cx="4754880" cy="347472"/>
          </a:xfrm>
          <a:prstGeom prst="rect">
            <a:avLst/>
          </a:prstGeom>
          <a:noFill/>
        </p:spPr>
        <p:txBody>
          <a:bodyPr wrap="square" lIns="18288" rIns="18288" tIns="18288" bIns="18288">
            <a:spAutoFit/>
          </a:bodyPr>
          <a:lstStyle/>
          <a:p>
            <a:pPr algn="l">
              <a:lnSpc>
                <a:spcPct val="105000"/>
              </a:lnSpc>
            </a:pPr>
            <a:r>
              <a:rPr sz="1700" b="0">
                <a:solidFill>
                  <a:srgbClr val="1F2937"/>
                </a:solidFill>
                <a:latin typeface="Microsoft YaHei"/>
              </a:rPr>
              <a:t>是否真正做过 API 设计、鉴权、异常处理？</a:t>
            </a:r>
          </a:p>
        </p:txBody>
      </p:sp>
      <p:sp>
        <p:nvSpPr>
          <p:cNvPr id="19" name="Oval 18"/>
          <p:cNvSpPr/>
          <p:nvPr/>
        </p:nvSpPr>
        <p:spPr>
          <a:xfrm>
            <a:off x="6355080" y="2752344"/>
            <a:ext cx="155448" cy="155448"/>
          </a:xfrm>
          <a:prstGeom prst="ellipse">
            <a:avLst/>
          </a:prstGeom>
          <a:solidFill>
            <a:srgbClr val="D58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47688" y="2679191"/>
            <a:ext cx="4754880" cy="347472"/>
          </a:xfrm>
          <a:prstGeom prst="rect">
            <a:avLst/>
          </a:prstGeom>
          <a:noFill/>
        </p:spPr>
        <p:txBody>
          <a:bodyPr wrap="square" lIns="18288" rIns="18288" tIns="18288" bIns="18288">
            <a:spAutoFit/>
          </a:bodyPr>
          <a:lstStyle/>
          <a:p>
            <a:pPr algn="l">
              <a:lnSpc>
                <a:spcPct val="105000"/>
              </a:lnSpc>
            </a:pPr>
            <a:r>
              <a:rPr sz="1700" b="0">
                <a:solidFill>
                  <a:srgbClr val="1F2937"/>
                </a:solidFill>
                <a:latin typeface="Microsoft YaHei"/>
              </a:rPr>
              <a:t>数据库表结构、索引、慢查询是否能讲清？</a:t>
            </a:r>
          </a:p>
        </p:txBody>
      </p:sp>
      <p:sp>
        <p:nvSpPr>
          <p:cNvPr id="21" name="Oval 20"/>
          <p:cNvSpPr/>
          <p:nvPr/>
        </p:nvSpPr>
        <p:spPr>
          <a:xfrm>
            <a:off x="6355080" y="3465576"/>
            <a:ext cx="155448" cy="155448"/>
          </a:xfrm>
          <a:prstGeom prst="ellipse">
            <a:avLst/>
          </a:prstGeom>
          <a:solidFill>
            <a:srgbClr val="D58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47688" y="3392424"/>
            <a:ext cx="4754880" cy="347472"/>
          </a:xfrm>
          <a:prstGeom prst="rect">
            <a:avLst/>
          </a:prstGeom>
          <a:noFill/>
        </p:spPr>
        <p:txBody>
          <a:bodyPr wrap="square" lIns="18288" rIns="18288" tIns="18288" bIns="18288">
            <a:spAutoFit/>
          </a:bodyPr>
          <a:lstStyle/>
          <a:p>
            <a:pPr algn="l">
              <a:lnSpc>
                <a:spcPct val="105000"/>
              </a:lnSpc>
            </a:pPr>
            <a:r>
              <a:rPr sz="1700" b="0">
                <a:solidFill>
                  <a:srgbClr val="1F2937"/>
                </a:solidFill>
                <a:latin typeface="Microsoft YaHei"/>
              </a:rPr>
              <a:t>缓存、异步任务、Docker 部署是否只是缺失还是不会？</a:t>
            </a:r>
          </a:p>
        </p:txBody>
      </p:sp>
      <p:sp>
        <p:nvSpPr>
          <p:cNvPr id="23" name="Oval 22"/>
          <p:cNvSpPr/>
          <p:nvPr/>
        </p:nvSpPr>
        <p:spPr>
          <a:xfrm>
            <a:off x="6355080" y="4178808"/>
            <a:ext cx="155448" cy="155448"/>
          </a:xfrm>
          <a:prstGeom prst="ellipse">
            <a:avLst/>
          </a:prstGeom>
          <a:solidFill>
            <a:srgbClr val="D58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47688" y="4105656"/>
            <a:ext cx="4754880" cy="347472"/>
          </a:xfrm>
          <a:prstGeom prst="rect">
            <a:avLst/>
          </a:prstGeom>
          <a:noFill/>
        </p:spPr>
        <p:txBody>
          <a:bodyPr wrap="square" lIns="18288" rIns="18288" tIns="18288" bIns="18288">
            <a:spAutoFit/>
          </a:bodyPr>
          <a:lstStyle/>
          <a:p>
            <a:pPr algn="l">
              <a:lnSpc>
                <a:spcPct val="105000"/>
              </a:lnSpc>
            </a:pPr>
            <a:r>
              <a:rPr sz="1700" b="0">
                <a:solidFill>
                  <a:srgbClr val="1F2937"/>
                </a:solidFill>
                <a:latin typeface="Microsoft YaHei"/>
              </a:rPr>
              <a:t>项目中个人贡献、难点和线上问题是否有证据？</a:t>
            </a:r>
          </a:p>
        </p:txBody>
      </p:sp>
      <p:sp>
        <p:nvSpPr>
          <p:cNvPr id="25" name="TextBox 24"/>
          <p:cNvSpPr txBox="1"/>
          <p:nvPr/>
        </p:nvSpPr>
        <p:spPr>
          <a:xfrm>
            <a:off x="914400" y="5623560"/>
            <a:ext cx="10332720" cy="310896"/>
          </a:xfrm>
          <a:prstGeom prst="rect">
            <a:avLst/>
          </a:prstGeom>
          <a:noFill/>
        </p:spPr>
        <p:txBody>
          <a:bodyPr wrap="square" lIns="18288" rIns="18288" tIns="18288" bIns="18288">
            <a:spAutoFit/>
          </a:bodyPr>
          <a:lstStyle/>
          <a:p>
            <a:pPr algn="ctr">
              <a:lnSpc>
                <a:spcPct val="105000"/>
              </a:lnSpc>
            </a:pPr>
            <a:r>
              <a:rPr sz="1800" b="1">
                <a:solidFill>
                  <a:srgbClr val="BE4637"/>
                </a:solidFill>
                <a:latin typeface="Microsoft YaHei"/>
              </a:rPr>
              <a:t>匹配口径：这页不伪造分数，只展示可追溯证据。真实跑测后再把系统分数填入表格。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4114800" cy="256032"/>
          </a:xfrm>
          <a:prstGeom prst="rect">
            <a:avLst/>
          </a:prstGeom>
          <a:noFill/>
        </p:spPr>
        <p:txBody>
          <a:bodyPr wrap="square" lIns="18288" rIns="18288" tIns="18288" bIns="18288">
            <a:spAutoFit/>
          </a:bodyPr>
          <a:lstStyle/>
          <a:p>
            <a:pPr algn="l">
              <a:lnSpc>
                <a:spcPct val="105000"/>
              </a:lnSpc>
            </a:pPr>
            <a:r>
              <a:rPr sz="1000" b="1">
                <a:solidFill>
                  <a:srgbClr val="095248"/>
                </a:solidFill>
                <a:latin typeface="Microsoft YaHei"/>
              </a:rPr>
              <a:t>模拟面试设计</a:t>
            </a:r>
          </a:p>
        </p:txBody>
      </p:sp>
      <p:sp>
        <p:nvSpPr>
          <p:cNvPr id="4" name="TextBox 3"/>
          <p:cNvSpPr txBox="1"/>
          <p:nvPr/>
        </p:nvSpPr>
        <p:spPr>
          <a:xfrm>
            <a:off x="658368" y="566928"/>
            <a:ext cx="10789920" cy="566928"/>
          </a:xfrm>
          <a:prstGeom prst="rect">
            <a:avLst/>
          </a:prstGeom>
          <a:noFill/>
        </p:spPr>
        <p:txBody>
          <a:bodyPr wrap="square" lIns="18288" rIns="18288" tIns="18288" bIns="18288">
            <a:spAutoFit/>
          </a:bodyPr>
          <a:lstStyle/>
          <a:p>
            <a:pPr algn="l">
              <a:lnSpc>
                <a:spcPct val="105000"/>
              </a:lnSpc>
            </a:pPr>
            <a:r>
              <a:rPr sz="2800" b="1">
                <a:solidFill>
                  <a:srgbClr val="1F2937"/>
                </a:solidFill>
                <a:latin typeface="Microsoft YaHei"/>
              </a:rPr>
              <a:t>面试不是随机出题，是证据追问</a:t>
            </a:r>
          </a:p>
        </p:txBody>
      </p:sp>
      <p:sp>
        <p:nvSpPr>
          <p:cNvPr id="5" name="Rectangle 4"/>
          <p:cNvSpPr/>
          <p:nvPr/>
        </p:nvSpPr>
        <p:spPr>
          <a:xfrm>
            <a:off x="685800" y="1207008"/>
            <a:ext cx="10835640" cy="18288"/>
          </a:xfrm>
          <a:prstGeom prst="rect">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840" y="320040"/>
            <a:ext cx="320040" cy="182880"/>
          </a:xfrm>
          <a:prstGeom prst="rect">
            <a:avLst/>
          </a:prstGeom>
          <a:noFill/>
        </p:spPr>
        <p:txBody>
          <a:bodyPr wrap="square" lIns="18288" rIns="18288" tIns="18288" bIns="18288">
            <a:spAutoFit/>
          </a:bodyPr>
          <a:lstStyle/>
          <a:p>
            <a:pPr algn="r">
              <a:lnSpc>
                <a:spcPct val="105000"/>
              </a:lnSpc>
            </a:pPr>
            <a:r>
              <a:rPr sz="900" b="0">
                <a:solidFill>
                  <a:srgbClr val="5C6773"/>
                </a:solidFill>
                <a:latin typeface="Microsoft YaHei"/>
              </a:rPr>
              <a:t>06</a:t>
            </a:r>
          </a:p>
        </p:txBody>
      </p:sp>
      <p:sp>
        <p:nvSpPr>
          <p:cNvPr id="7" name="Rounded Rectangle 6"/>
          <p:cNvSpPr/>
          <p:nvPr/>
        </p:nvSpPr>
        <p:spPr>
          <a:xfrm>
            <a:off x="868680" y="1536192"/>
            <a:ext cx="1325880" cy="329184"/>
          </a:xfrm>
          <a:prstGeom prst="roundRect">
            <a:avLst/>
          </a:prstGeom>
          <a:solidFill>
            <a:srgbClr val="325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1609344"/>
            <a:ext cx="1179576" cy="164592"/>
          </a:xfrm>
          <a:prstGeom prst="rect">
            <a:avLst/>
          </a:prstGeom>
          <a:noFill/>
        </p:spPr>
        <p:txBody>
          <a:bodyPr wrap="square" lIns="18288" rIns="18288" tIns="18288" bIns="18288">
            <a:spAutoFit/>
          </a:bodyPr>
          <a:lstStyle/>
          <a:p>
            <a:pPr algn="ctr">
              <a:lnSpc>
                <a:spcPct val="105000"/>
              </a:lnSpc>
            </a:pPr>
            <a:r>
              <a:rPr sz="1200" b="1">
                <a:solidFill>
                  <a:srgbClr val="FFFFFF"/>
                </a:solidFill>
                <a:latin typeface="Microsoft YaHei"/>
              </a:rPr>
              <a:t>项目追问</a:t>
            </a:r>
          </a:p>
        </p:txBody>
      </p:sp>
      <p:sp>
        <p:nvSpPr>
          <p:cNvPr id="9" name="TextBox 8"/>
          <p:cNvSpPr txBox="1"/>
          <p:nvPr/>
        </p:nvSpPr>
        <p:spPr>
          <a:xfrm>
            <a:off x="2487168" y="1517904"/>
            <a:ext cx="8138160" cy="594360"/>
          </a:xfrm>
          <a:prstGeom prst="rect">
            <a:avLst/>
          </a:prstGeom>
          <a:noFill/>
        </p:spPr>
        <p:txBody>
          <a:bodyPr wrap="square" lIns="18288" rIns="18288" tIns="18288" bIns="18288">
            <a:spAutoFit/>
          </a:bodyPr>
          <a:lstStyle/>
          <a:p>
            <a:pPr algn="l">
              <a:lnSpc>
                <a:spcPct val="105000"/>
              </a:lnSpc>
            </a:pPr>
            <a:r>
              <a:rPr sz="2100" b="1">
                <a:solidFill>
                  <a:srgbClr val="1F2937"/>
                </a:solidFill>
                <a:latin typeface="Microsoft YaHei"/>
              </a:rPr>
              <a:t>你做过网站后端数据库项目。请讲清数据表如何设计、如何处理用户输入校验和异常返回。</a:t>
            </a:r>
          </a:p>
        </p:txBody>
      </p:sp>
      <p:sp>
        <p:nvSpPr>
          <p:cNvPr id="10" name="TextBox 9"/>
          <p:cNvSpPr txBox="1"/>
          <p:nvPr/>
        </p:nvSpPr>
        <p:spPr>
          <a:xfrm>
            <a:off x="2487168" y="2194560"/>
            <a:ext cx="8046720" cy="237744"/>
          </a:xfrm>
          <a:prstGeom prst="rect">
            <a:avLst/>
          </a:prstGeom>
          <a:noFill/>
        </p:spPr>
        <p:txBody>
          <a:bodyPr wrap="square" lIns="18288" rIns="18288" tIns="18288" bIns="18288">
            <a:spAutoFit/>
          </a:bodyPr>
          <a:lstStyle/>
          <a:p>
            <a:pPr algn="l">
              <a:lnSpc>
                <a:spcPct val="105000"/>
              </a:lnSpc>
            </a:pPr>
            <a:r>
              <a:rPr sz="1500" b="0">
                <a:solidFill>
                  <a:srgbClr val="5C6773"/>
                </a:solidFill>
                <a:latin typeface="Microsoft YaHei"/>
              </a:rPr>
              <a:t>评分关注：回答是否有具体动作、技术取舍、证据边界和下一步改进。</a:t>
            </a:r>
          </a:p>
        </p:txBody>
      </p:sp>
      <p:sp>
        <p:nvSpPr>
          <p:cNvPr id="11" name="Rounded Rectangle 10"/>
          <p:cNvSpPr/>
          <p:nvPr/>
        </p:nvSpPr>
        <p:spPr>
          <a:xfrm>
            <a:off x="868680" y="2862072"/>
            <a:ext cx="1325880" cy="329184"/>
          </a:xfrm>
          <a:prstGeom prst="roundRect">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2935224"/>
            <a:ext cx="1179576" cy="164592"/>
          </a:xfrm>
          <a:prstGeom prst="rect">
            <a:avLst/>
          </a:prstGeom>
          <a:noFill/>
        </p:spPr>
        <p:txBody>
          <a:bodyPr wrap="square" lIns="18288" rIns="18288" tIns="18288" bIns="18288">
            <a:spAutoFit/>
          </a:bodyPr>
          <a:lstStyle/>
          <a:p>
            <a:pPr algn="ctr">
              <a:lnSpc>
                <a:spcPct val="105000"/>
              </a:lnSpc>
            </a:pPr>
            <a:r>
              <a:rPr sz="1200" b="1">
                <a:solidFill>
                  <a:srgbClr val="FFFFFF"/>
                </a:solidFill>
                <a:latin typeface="Microsoft YaHei"/>
              </a:rPr>
              <a:t>数据库追问</a:t>
            </a:r>
          </a:p>
        </p:txBody>
      </p:sp>
      <p:sp>
        <p:nvSpPr>
          <p:cNvPr id="13" name="TextBox 12"/>
          <p:cNvSpPr txBox="1"/>
          <p:nvPr/>
        </p:nvSpPr>
        <p:spPr>
          <a:xfrm>
            <a:off x="2487168" y="2843784"/>
            <a:ext cx="8138160" cy="594360"/>
          </a:xfrm>
          <a:prstGeom prst="rect">
            <a:avLst/>
          </a:prstGeom>
          <a:noFill/>
        </p:spPr>
        <p:txBody>
          <a:bodyPr wrap="square" lIns="18288" rIns="18288" tIns="18288" bIns="18288">
            <a:spAutoFit/>
          </a:bodyPr>
          <a:lstStyle/>
          <a:p>
            <a:pPr algn="l">
              <a:lnSpc>
                <a:spcPct val="105000"/>
              </a:lnSpc>
            </a:pPr>
            <a:r>
              <a:rPr sz="2100" b="1">
                <a:solidFill>
                  <a:srgbClr val="1F2937"/>
                </a:solidFill>
                <a:latin typeface="Microsoft YaHei"/>
              </a:rPr>
              <a:t>如果某个列表接口变慢，你会如何判断是 SQL、索引、网络还是业务逻辑问题？</a:t>
            </a:r>
          </a:p>
        </p:txBody>
      </p:sp>
      <p:sp>
        <p:nvSpPr>
          <p:cNvPr id="14" name="TextBox 13"/>
          <p:cNvSpPr txBox="1"/>
          <p:nvPr/>
        </p:nvSpPr>
        <p:spPr>
          <a:xfrm>
            <a:off x="2487168" y="3520439"/>
            <a:ext cx="8046720" cy="237744"/>
          </a:xfrm>
          <a:prstGeom prst="rect">
            <a:avLst/>
          </a:prstGeom>
          <a:noFill/>
        </p:spPr>
        <p:txBody>
          <a:bodyPr wrap="square" lIns="18288" rIns="18288" tIns="18288" bIns="18288">
            <a:spAutoFit/>
          </a:bodyPr>
          <a:lstStyle/>
          <a:p>
            <a:pPr algn="l">
              <a:lnSpc>
                <a:spcPct val="105000"/>
              </a:lnSpc>
            </a:pPr>
            <a:r>
              <a:rPr sz="1500" b="0">
                <a:solidFill>
                  <a:srgbClr val="5C6773"/>
                </a:solidFill>
                <a:latin typeface="Microsoft YaHei"/>
              </a:rPr>
              <a:t>评分关注：回答是否有具体动作、技术取舍、证据边界和下一步改进。</a:t>
            </a:r>
          </a:p>
        </p:txBody>
      </p:sp>
      <p:sp>
        <p:nvSpPr>
          <p:cNvPr id="15" name="Rounded Rectangle 14"/>
          <p:cNvSpPr/>
          <p:nvPr/>
        </p:nvSpPr>
        <p:spPr>
          <a:xfrm>
            <a:off x="868680" y="4187952"/>
            <a:ext cx="1325880" cy="329184"/>
          </a:xfrm>
          <a:prstGeom prst="roundRect">
            <a:avLst/>
          </a:prstGeom>
          <a:solidFill>
            <a:srgbClr val="D58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4261104"/>
            <a:ext cx="1179576" cy="164592"/>
          </a:xfrm>
          <a:prstGeom prst="rect">
            <a:avLst/>
          </a:prstGeom>
          <a:noFill/>
        </p:spPr>
        <p:txBody>
          <a:bodyPr wrap="square" lIns="18288" rIns="18288" tIns="18288" bIns="18288">
            <a:spAutoFit/>
          </a:bodyPr>
          <a:lstStyle/>
          <a:p>
            <a:pPr algn="ctr">
              <a:lnSpc>
                <a:spcPct val="105000"/>
              </a:lnSpc>
            </a:pPr>
            <a:r>
              <a:rPr sz="1200" b="1">
                <a:solidFill>
                  <a:srgbClr val="FFFFFF"/>
                </a:solidFill>
                <a:latin typeface="Microsoft YaHei"/>
              </a:rPr>
              <a:t>能力缺口追问</a:t>
            </a:r>
          </a:p>
        </p:txBody>
      </p:sp>
      <p:sp>
        <p:nvSpPr>
          <p:cNvPr id="17" name="TextBox 16"/>
          <p:cNvSpPr txBox="1"/>
          <p:nvPr/>
        </p:nvSpPr>
        <p:spPr>
          <a:xfrm>
            <a:off x="2487168" y="4169664"/>
            <a:ext cx="8138160" cy="594360"/>
          </a:xfrm>
          <a:prstGeom prst="rect">
            <a:avLst/>
          </a:prstGeom>
          <a:noFill/>
        </p:spPr>
        <p:txBody>
          <a:bodyPr wrap="square" lIns="18288" rIns="18288" tIns="18288" bIns="18288">
            <a:spAutoFit/>
          </a:bodyPr>
          <a:lstStyle/>
          <a:p>
            <a:pPr algn="l">
              <a:lnSpc>
                <a:spcPct val="105000"/>
              </a:lnSpc>
            </a:pPr>
            <a:r>
              <a:rPr sz="2100" b="1">
                <a:solidFill>
                  <a:srgbClr val="1F2937"/>
                </a:solidFill>
                <a:latin typeface="Microsoft YaHei"/>
              </a:rPr>
              <a:t>简历里没有 Redis、Celery、Docker 证据。如果岗位要求这些能力，你会如何补充学习并落地到项目？</a:t>
            </a:r>
          </a:p>
        </p:txBody>
      </p:sp>
      <p:sp>
        <p:nvSpPr>
          <p:cNvPr id="18" name="TextBox 17"/>
          <p:cNvSpPr txBox="1"/>
          <p:nvPr/>
        </p:nvSpPr>
        <p:spPr>
          <a:xfrm>
            <a:off x="2487168" y="4846320"/>
            <a:ext cx="8046720" cy="237744"/>
          </a:xfrm>
          <a:prstGeom prst="rect">
            <a:avLst/>
          </a:prstGeom>
          <a:noFill/>
        </p:spPr>
        <p:txBody>
          <a:bodyPr wrap="square" lIns="18288" rIns="18288" tIns="18288" bIns="18288">
            <a:spAutoFit/>
          </a:bodyPr>
          <a:lstStyle/>
          <a:p>
            <a:pPr algn="l">
              <a:lnSpc>
                <a:spcPct val="105000"/>
              </a:lnSpc>
            </a:pPr>
            <a:r>
              <a:rPr sz="1500" b="0">
                <a:solidFill>
                  <a:srgbClr val="5C6773"/>
                </a:solidFill>
                <a:latin typeface="Microsoft YaHei"/>
              </a:rPr>
              <a:t>评分关注：回答是否有具体动作、技术取舍、证据边界和下一步改进。</a:t>
            </a:r>
          </a:p>
        </p:txBody>
      </p:sp>
      <p:sp>
        <p:nvSpPr>
          <p:cNvPr id="19" name="TextBox 18"/>
          <p:cNvSpPr txBox="1"/>
          <p:nvPr/>
        </p:nvSpPr>
        <p:spPr>
          <a:xfrm>
            <a:off x="896112" y="5742432"/>
            <a:ext cx="10241280" cy="292608"/>
          </a:xfrm>
          <a:prstGeom prst="rect">
            <a:avLst/>
          </a:prstGeom>
          <a:noFill/>
        </p:spPr>
        <p:txBody>
          <a:bodyPr wrap="square" lIns="18288" rIns="18288" tIns="18288" bIns="18288">
            <a:spAutoFit/>
          </a:bodyPr>
          <a:lstStyle/>
          <a:p>
            <a:pPr algn="ctr">
              <a:lnSpc>
                <a:spcPct val="105000"/>
              </a:lnSpc>
            </a:pPr>
            <a:r>
              <a:rPr sz="1800" b="1">
                <a:solidFill>
                  <a:srgbClr val="095248"/>
                </a:solidFill>
                <a:latin typeface="Microsoft YaHei"/>
              </a:rPr>
              <a:t>现场讲法：如果候选人回答含糊，系统继续追问“你具体负责哪一块、结果如何验证、遇到问题怎么排查”。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4114800" cy="256032"/>
          </a:xfrm>
          <a:prstGeom prst="rect">
            <a:avLst/>
          </a:prstGeom>
          <a:noFill/>
        </p:spPr>
        <p:txBody>
          <a:bodyPr wrap="square" lIns="18288" rIns="18288" tIns="18288" bIns="18288">
            <a:spAutoFit/>
          </a:bodyPr>
          <a:lstStyle/>
          <a:p>
            <a:pPr algn="l">
              <a:lnSpc>
                <a:spcPct val="105000"/>
              </a:lnSpc>
            </a:pPr>
            <a:r>
              <a:rPr sz="1000" b="1">
                <a:solidFill>
                  <a:srgbClr val="095248"/>
                </a:solidFill>
                <a:latin typeface="Microsoft YaHei"/>
              </a:rPr>
              <a:t>可解释报告</a:t>
            </a:r>
          </a:p>
        </p:txBody>
      </p:sp>
      <p:sp>
        <p:nvSpPr>
          <p:cNvPr id="4" name="TextBox 3"/>
          <p:cNvSpPr txBox="1"/>
          <p:nvPr/>
        </p:nvSpPr>
        <p:spPr>
          <a:xfrm>
            <a:off x="658368" y="566928"/>
            <a:ext cx="10789920" cy="566928"/>
          </a:xfrm>
          <a:prstGeom prst="rect">
            <a:avLst/>
          </a:prstGeom>
          <a:noFill/>
        </p:spPr>
        <p:txBody>
          <a:bodyPr wrap="square" lIns="18288" rIns="18288" tIns="18288" bIns="18288">
            <a:spAutoFit/>
          </a:bodyPr>
          <a:lstStyle/>
          <a:p>
            <a:pPr algn="l">
              <a:lnSpc>
                <a:spcPct val="105000"/>
              </a:lnSpc>
            </a:pPr>
            <a:r>
              <a:rPr sz="2800" b="1">
                <a:solidFill>
                  <a:srgbClr val="1F2937"/>
                </a:solidFill>
                <a:latin typeface="Microsoft YaHei"/>
              </a:rPr>
              <a:t>报告输出：能力画像 + 改进路径</a:t>
            </a:r>
          </a:p>
        </p:txBody>
      </p:sp>
      <p:sp>
        <p:nvSpPr>
          <p:cNvPr id="5" name="Rectangle 4"/>
          <p:cNvSpPr/>
          <p:nvPr/>
        </p:nvSpPr>
        <p:spPr>
          <a:xfrm>
            <a:off x="685800" y="1207008"/>
            <a:ext cx="10835640" cy="18288"/>
          </a:xfrm>
          <a:prstGeom prst="rect">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840" y="320040"/>
            <a:ext cx="320040" cy="182880"/>
          </a:xfrm>
          <a:prstGeom prst="rect">
            <a:avLst/>
          </a:prstGeom>
          <a:noFill/>
        </p:spPr>
        <p:txBody>
          <a:bodyPr wrap="square" lIns="18288" rIns="18288" tIns="18288" bIns="18288">
            <a:spAutoFit/>
          </a:bodyPr>
          <a:lstStyle/>
          <a:p>
            <a:pPr algn="r">
              <a:lnSpc>
                <a:spcPct val="105000"/>
              </a:lnSpc>
            </a:pPr>
            <a:r>
              <a:rPr sz="900" b="0">
                <a:solidFill>
                  <a:srgbClr val="5C6773"/>
                </a:solidFill>
                <a:latin typeface="Microsoft YaHei"/>
              </a:rPr>
              <a:t>07</a:t>
            </a:r>
          </a:p>
        </p:txBody>
      </p:sp>
      <p:sp>
        <p:nvSpPr>
          <p:cNvPr id="7" name="TextBox 6"/>
          <p:cNvSpPr txBox="1"/>
          <p:nvPr/>
        </p:nvSpPr>
        <p:spPr>
          <a:xfrm>
            <a:off x="960120" y="1481328"/>
            <a:ext cx="1417320" cy="256032"/>
          </a:xfrm>
          <a:prstGeom prst="rect">
            <a:avLst/>
          </a:prstGeom>
          <a:noFill/>
        </p:spPr>
        <p:txBody>
          <a:bodyPr wrap="square" lIns="18288" rIns="18288" tIns="18288" bIns="18288">
            <a:spAutoFit/>
          </a:bodyPr>
          <a:lstStyle/>
          <a:p>
            <a:pPr algn="l">
              <a:lnSpc>
                <a:spcPct val="105000"/>
              </a:lnSpc>
            </a:pPr>
            <a:r>
              <a:rPr sz="1800" b="1">
                <a:solidFill>
                  <a:srgbClr val="1F2937"/>
                </a:solidFill>
                <a:latin typeface="Microsoft YaHei"/>
              </a:rPr>
              <a:t>岗位匹配</a:t>
            </a:r>
          </a:p>
        </p:txBody>
      </p:sp>
      <p:sp>
        <p:nvSpPr>
          <p:cNvPr id="8" name="Rounded Rectangle 7"/>
          <p:cNvSpPr/>
          <p:nvPr/>
        </p:nvSpPr>
        <p:spPr>
          <a:xfrm>
            <a:off x="2606040" y="1463040"/>
            <a:ext cx="685800" cy="329184"/>
          </a:xfrm>
          <a:prstGeom prst="roundRect">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79192" y="1536192"/>
            <a:ext cx="539496" cy="164592"/>
          </a:xfrm>
          <a:prstGeom prst="rect">
            <a:avLst/>
          </a:prstGeom>
          <a:noFill/>
        </p:spPr>
        <p:txBody>
          <a:bodyPr wrap="square" lIns="18288" rIns="18288" tIns="18288" bIns="18288">
            <a:spAutoFit/>
          </a:bodyPr>
          <a:lstStyle/>
          <a:p>
            <a:pPr algn="ctr">
              <a:lnSpc>
                <a:spcPct val="105000"/>
              </a:lnSpc>
            </a:pPr>
            <a:r>
              <a:rPr sz="1100" b="1">
                <a:solidFill>
                  <a:srgbClr val="FFFFFF"/>
                </a:solidFill>
                <a:latin typeface="Microsoft YaHei"/>
              </a:rPr>
              <a:t>强</a:t>
            </a:r>
          </a:p>
        </p:txBody>
      </p:sp>
      <p:sp>
        <p:nvSpPr>
          <p:cNvPr id="10" name="TextBox 9"/>
          <p:cNvSpPr txBox="1"/>
          <p:nvPr/>
        </p:nvSpPr>
        <p:spPr>
          <a:xfrm>
            <a:off x="3547872" y="1481328"/>
            <a:ext cx="7040880" cy="274320"/>
          </a:xfrm>
          <a:prstGeom prst="rect">
            <a:avLst/>
          </a:prstGeom>
          <a:noFill/>
        </p:spPr>
        <p:txBody>
          <a:bodyPr wrap="square" lIns="18288" rIns="18288" tIns="18288" bIns="18288">
            <a:spAutoFit/>
          </a:bodyPr>
          <a:lstStyle/>
          <a:p>
            <a:pPr algn="l">
              <a:lnSpc>
                <a:spcPct val="105000"/>
              </a:lnSpc>
            </a:pPr>
            <a:r>
              <a:rPr sz="1700" b="0">
                <a:solidFill>
                  <a:srgbClr val="5C6773"/>
                </a:solidFill>
                <a:latin typeface="Microsoft YaHei"/>
              </a:rPr>
              <a:t>专业、课程、技能和软件实习与技术岗相关</a:t>
            </a:r>
          </a:p>
        </p:txBody>
      </p:sp>
      <p:sp>
        <p:nvSpPr>
          <p:cNvPr id="11" name="TextBox 10"/>
          <p:cNvSpPr txBox="1"/>
          <p:nvPr/>
        </p:nvSpPr>
        <p:spPr>
          <a:xfrm>
            <a:off x="960120" y="2194560"/>
            <a:ext cx="1417320" cy="256032"/>
          </a:xfrm>
          <a:prstGeom prst="rect">
            <a:avLst/>
          </a:prstGeom>
          <a:noFill/>
        </p:spPr>
        <p:txBody>
          <a:bodyPr wrap="square" lIns="18288" rIns="18288" tIns="18288" bIns="18288">
            <a:spAutoFit/>
          </a:bodyPr>
          <a:lstStyle/>
          <a:p>
            <a:pPr algn="l">
              <a:lnSpc>
                <a:spcPct val="105000"/>
              </a:lnSpc>
            </a:pPr>
            <a:r>
              <a:rPr sz="1800" b="1">
                <a:solidFill>
                  <a:srgbClr val="1F2937"/>
                </a:solidFill>
                <a:latin typeface="Microsoft YaHei"/>
              </a:rPr>
              <a:t>项目证据</a:t>
            </a:r>
          </a:p>
        </p:txBody>
      </p:sp>
      <p:sp>
        <p:nvSpPr>
          <p:cNvPr id="12" name="Rounded Rectangle 11"/>
          <p:cNvSpPr/>
          <p:nvPr/>
        </p:nvSpPr>
        <p:spPr>
          <a:xfrm>
            <a:off x="2606040" y="2176272"/>
            <a:ext cx="685800" cy="329184"/>
          </a:xfrm>
          <a:prstGeom prst="roundRect">
            <a:avLst/>
          </a:prstGeom>
          <a:solidFill>
            <a:srgbClr val="D58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79192" y="2249424"/>
            <a:ext cx="539496" cy="164592"/>
          </a:xfrm>
          <a:prstGeom prst="rect">
            <a:avLst/>
          </a:prstGeom>
          <a:noFill/>
        </p:spPr>
        <p:txBody>
          <a:bodyPr wrap="square" lIns="18288" rIns="18288" tIns="18288" bIns="18288">
            <a:spAutoFit/>
          </a:bodyPr>
          <a:lstStyle/>
          <a:p>
            <a:pPr algn="ctr">
              <a:lnSpc>
                <a:spcPct val="105000"/>
              </a:lnSpc>
            </a:pPr>
            <a:r>
              <a:rPr sz="1100" b="1">
                <a:solidFill>
                  <a:srgbClr val="FFFFFF"/>
                </a:solidFill>
                <a:latin typeface="Microsoft YaHei"/>
              </a:rPr>
              <a:t>中</a:t>
            </a:r>
          </a:p>
        </p:txBody>
      </p:sp>
      <p:sp>
        <p:nvSpPr>
          <p:cNvPr id="14" name="TextBox 13"/>
          <p:cNvSpPr txBox="1"/>
          <p:nvPr/>
        </p:nvSpPr>
        <p:spPr>
          <a:xfrm>
            <a:off x="3547872" y="2194560"/>
            <a:ext cx="7040880" cy="274320"/>
          </a:xfrm>
          <a:prstGeom prst="rect">
            <a:avLst/>
          </a:prstGeom>
          <a:noFill/>
        </p:spPr>
        <p:txBody>
          <a:bodyPr wrap="square" lIns="18288" rIns="18288" tIns="18288" bIns="18288">
            <a:spAutoFit/>
          </a:bodyPr>
          <a:lstStyle/>
          <a:p>
            <a:pPr algn="l">
              <a:lnSpc>
                <a:spcPct val="105000"/>
              </a:lnSpc>
            </a:pPr>
            <a:r>
              <a:rPr sz="1700" b="0">
                <a:solidFill>
                  <a:srgbClr val="5C6773"/>
                </a:solidFill>
                <a:latin typeface="Microsoft YaHei"/>
              </a:rPr>
              <a:t>有项目和实习，但后端框架与部署细节需要追问</a:t>
            </a:r>
          </a:p>
        </p:txBody>
      </p:sp>
      <p:sp>
        <p:nvSpPr>
          <p:cNvPr id="15" name="TextBox 14"/>
          <p:cNvSpPr txBox="1"/>
          <p:nvPr/>
        </p:nvSpPr>
        <p:spPr>
          <a:xfrm>
            <a:off x="960120" y="2907792"/>
            <a:ext cx="1417320" cy="256032"/>
          </a:xfrm>
          <a:prstGeom prst="rect">
            <a:avLst/>
          </a:prstGeom>
          <a:noFill/>
        </p:spPr>
        <p:txBody>
          <a:bodyPr wrap="square" lIns="18288" rIns="18288" tIns="18288" bIns="18288">
            <a:spAutoFit/>
          </a:bodyPr>
          <a:lstStyle/>
          <a:p>
            <a:pPr algn="l">
              <a:lnSpc>
                <a:spcPct val="105000"/>
              </a:lnSpc>
            </a:pPr>
            <a:r>
              <a:rPr sz="1800" b="1">
                <a:solidFill>
                  <a:srgbClr val="1F2937"/>
                </a:solidFill>
                <a:latin typeface="Microsoft YaHei"/>
              </a:rPr>
              <a:t>技术深度</a:t>
            </a:r>
          </a:p>
        </p:txBody>
      </p:sp>
      <p:sp>
        <p:nvSpPr>
          <p:cNvPr id="16" name="Rounded Rectangle 15"/>
          <p:cNvSpPr/>
          <p:nvPr/>
        </p:nvSpPr>
        <p:spPr>
          <a:xfrm>
            <a:off x="2606040" y="2889504"/>
            <a:ext cx="685800" cy="329184"/>
          </a:xfrm>
          <a:prstGeom prst="roundRect">
            <a:avLst/>
          </a:prstGeom>
          <a:solidFill>
            <a:srgbClr val="D58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79192" y="2962656"/>
            <a:ext cx="539496" cy="164592"/>
          </a:xfrm>
          <a:prstGeom prst="rect">
            <a:avLst/>
          </a:prstGeom>
          <a:noFill/>
        </p:spPr>
        <p:txBody>
          <a:bodyPr wrap="square" lIns="18288" rIns="18288" tIns="18288" bIns="18288">
            <a:spAutoFit/>
          </a:bodyPr>
          <a:lstStyle/>
          <a:p>
            <a:pPr algn="ctr">
              <a:lnSpc>
                <a:spcPct val="105000"/>
              </a:lnSpc>
            </a:pPr>
            <a:r>
              <a:rPr sz="1100" b="1">
                <a:solidFill>
                  <a:srgbClr val="FFFFFF"/>
                </a:solidFill>
                <a:latin typeface="Microsoft YaHei"/>
              </a:rPr>
              <a:t>中</a:t>
            </a:r>
          </a:p>
        </p:txBody>
      </p:sp>
      <p:sp>
        <p:nvSpPr>
          <p:cNvPr id="18" name="TextBox 17"/>
          <p:cNvSpPr txBox="1"/>
          <p:nvPr/>
        </p:nvSpPr>
        <p:spPr>
          <a:xfrm>
            <a:off x="3547872" y="2907792"/>
            <a:ext cx="7040880" cy="274320"/>
          </a:xfrm>
          <a:prstGeom prst="rect">
            <a:avLst/>
          </a:prstGeom>
          <a:noFill/>
        </p:spPr>
        <p:txBody>
          <a:bodyPr wrap="square" lIns="18288" rIns="18288" tIns="18288" bIns="18288">
            <a:spAutoFit/>
          </a:bodyPr>
          <a:lstStyle/>
          <a:p>
            <a:pPr algn="l">
              <a:lnSpc>
                <a:spcPct val="105000"/>
              </a:lnSpc>
            </a:pPr>
            <a:r>
              <a:rPr sz="1700" b="0">
                <a:solidFill>
                  <a:srgbClr val="5C6773"/>
                </a:solidFill>
                <a:latin typeface="Microsoft YaHei"/>
              </a:rPr>
              <a:t>数据库、网络、缓存、异步任务需通过问答验证</a:t>
            </a:r>
          </a:p>
        </p:txBody>
      </p:sp>
      <p:sp>
        <p:nvSpPr>
          <p:cNvPr id="19" name="TextBox 18"/>
          <p:cNvSpPr txBox="1"/>
          <p:nvPr/>
        </p:nvSpPr>
        <p:spPr>
          <a:xfrm>
            <a:off x="960120" y="3621024"/>
            <a:ext cx="1417320" cy="256032"/>
          </a:xfrm>
          <a:prstGeom prst="rect">
            <a:avLst/>
          </a:prstGeom>
          <a:noFill/>
        </p:spPr>
        <p:txBody>
          <a:bodyPr wrap="square" lIns="18288" rIns="18288" tIns="18288" bIns="18288">
            <a:spAutoFit/>
          </a:bodyPr>
          <a:lstStyle/>
          <a:p>
            <a:pPr algn="l">
              <a:lnSpc>
                <a:spcPct val="105000"/>
              </a:lnSpc>
            </a:pPr>
            <a:r>
              <a:rPr sz="1800" b="1">
                <a:solidFill>
                  <a:srgbClr val="1F2937"/>
                </a:solidFill>
                <a:latin typeface="Microsoft YaHei"/>
              </a:rPr>
              <a:t>表达逻辑</a:t>
            </a:r>
          </a:p>
        </p:txBody>
      </p:sp>
      <p:sp>
        <p:nvSpPr>
          <p:cNvPr id="20" name="Rounded Rectangle 19"/>
          <p:cNvSpPr/>
          <p:nvPr/>
        </p:nvSpPr>
        <p:spPr>
          <a:xfrm>
            <a:off x="2606040" y="3602736"/>
            <a:ext cx="685800" cy="329184"/>
          </a:xfrm>
          <a:prstGeom prst="roundRect">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79192" y="3675887"/>
            <a:ext cx="539496" cy="164592"/>
          </a:xfrm>
          <a:prstGeom prst="rect">
            <a:avLst/>
          </a:prstGeom>
          <a:noFill/>
        </p:spPr>
        <p:txBody>
          <a:bodyPr wrap="square" lIns="18288" rIns="18288" tIns="18288" bIns="18288">
            <a:spAutoFit/>
          </a:bodyPr>
          <a:lstStyle/>
          <a:p>
            <a:pPr algn="ctr">
              <a:lnSpc>
                <a:spcPct val="105000"/>
              </a:lnSpc>
            </a:pPr>
            <a:r>
              <a:rPr sz="1100" b="1">
                <a:solidFill>
                  <a:srgbClr val="FFFFFF"/>
                </a:solidFill>
                <a:latin typeface="Microsoft YaHei"/>
              </a:rPr>
              <a:t>强</a:t>
            </a:r>
          </a:p>
        </p:txBody>
      </p:sp>
      <p:sp>
        <p:nvSpPr>
          <p:cNvPr id="22" name="TextBox 21"/>
          <p:cNvSpPr txBox="1"/>
          <p:nvPr/>
        </p:nvSpPr>
        <p:spPr>
          <a:xfrm>
            <a:off x="3547872" y="3621024"/>
            <a:ext cx="7040880" cy="274320"/>
          </a:xfrm>
          <a:prstGeom prst="rect">
            <a:avLst/>
          </a:prstGeom>
          <a:noFill/>
        </p:spPr>
        <p:txBody>
          <a:bodyPr wrap="square" lIns="18288" rIns="18288" tIns="18288" bIns="18288">
            <a:spAutoFit/>
          </a:bodyPr>
          <a:lstStyle/>
          <a:p>
            <a:pPr algn="l">
              <a:lnSpc>
                <a:spcPct val="105000"/>
              </a:lnSpc>
            </a:pPr>
            <a:r>
              <a:rPr sz="1700" b="0">
                <a:solidFill>
                  <a:srgbClr val="5C6773"/>
                </a:solidFill>
                <a:latin typeface="Microsoft YaHei"/>
              </a:rPr>
              <a:t>助教和团队活动有助于结构化表达</a:t>
            </a:r>
          </a:p>
        </p:txBody>
      </p:sp>
      <p:sp>
        <p:nvSpPr>
          <p:cNvPr id="23" name="TextBox 22"/>
          <p:cNvSpPr txBox="1"/>
          <p:nvPr/>
        </p:nvSpPr>
        <p:spPr>
          <a:xfrm>
            <a:off x="960120" y="4334256"/>
            <a:ext cx="1417320" cy="256032"/>
          </a:xfrm>
          <a:prstGeom prst="rect">
            <a:avLst/>
          </a:prstGeom>
          <a:noFill/>
        </p:spPr>
        <p:txBody>
          <a:bodyPr wrap="square" lIns="18288" rIns="18288" tIns="18288" bIns="18288">
            <a:spAutoFit/>
          </a:bodyPr>
          <a:lstStyle/>
          <a:p>
            <a:pPr algn="l">
              <a:lnSpc>
                <a:spcPct val="105000"/>
              </a:lnSpc>
            </a:pPr>
            <a:r>
              <a:rPr sz="1800" b="1">
                <a:solidFill>
                  <a:srgbClr val="1F2937"/>
                </a:solidFill>
                <a:latin typeface="Microsoft YaHei"/>
              </a:rPr>
              <a:t>补强方向</a:t>
            </a:r>
          </a:p>
        </p:txBody>
      </p:sp>
      <p:sp>
        <p:nvSpPr>
          <p:cNvPr id="24" name="Rounded Rectangle 23"/>
          <p:cNvSpPr/>
          <p:nvPr/>
        </p:nvSpPr>
        <p:spPr>
          <a:xfrm>
            <a:off x="2606040" y="4315968"/>
            <a:ext cx="685800" cy="329184"/>
          </a:xfrm>
          <a:prstGeom prst="roundRect">
            <a:avLst/>
          </a:prstGeom>
          <a:solidFill>
            <a:srgbClr val="325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79192" y="4389120"/>
            <a:ext cx="539496" cy="164592"/>
          </a:xfrm>
          <a:prstGeom prst="rect">
            <a:avLst/>
          </a:prstGeom>
          <a:noFill/>
        </p:spPr>
        <p:txBody>
          <a:bodyPr wrap="square" lIns="18288" rIns="18288" tIns="18288" bIns="18288">
            <a:spAutoFit/>
          </a:bodyPr>
          <a:lstStyle/>
          <a:p>
            <a:pPr algn="ctr">
              <a:lnSpc>
                <a:spcPct val="105000"/>
              </a:lnSpc>
            </a:pPr>
            <a:r>
              <a:rPr sz="1100" b="1">
                <a:solidFill>
                  <a:srgbClr val="FFFFFF"/>
                </a:solidFill>
                <a:latin typeface="Microsoft YaHei"/>
              </a:rPr>
              <a:t>明确</a:t>
            </a:r>
          </a:p>
        </p:txBody>
      </p:sp>
      <p:sp>
        <p:nvSpPr>
          <p:cNvPr id="26" name="TextBox 25"/>
          <p:cNvSpPr txBox="1"/>
          <p:nvPr/>
        </p:nvSpPr>
        <p:spPr>
          <a:xfrm>
            <a:off x="3547872" y="4334256"/>
            <a:ext cx="7040880" cy="274320"/>
          </a:xfrm>
          <a:prstGeom prst="rect">
            <a:avLst/>
          </a:prstGeom>
          <a:noFill/>
        </p:spPr>
        <p:txBody>
          <a:bodyPr wrap="square" lIns="18288" rIns="18288" tIns="18288" bIns="18288">
            <a:spAutoFit/>
          </a:bodyPr>
          <a:lstStyle/>
          <a:p>
            <a:pPr algn="l">
              <a:lnSpc>
                <a:spcPct val="105000"/>
              </a:lnSpc>
            </a:pPr>
            <a:r>
              <a:rPr sz="1700" b="0">
                <a:solidFill>
                  <a:srgbClr val="5C6773"/>
                </a:solidFill>
                <a:latin typeface="Microsoft YaHei"/>
              </a:rPr>
              <a:t>FastAPI/Redis/Celery/Docker 可作为短期项目补强</a:t>
            </a:r>
          </a:p>
        </p:txBody>
      </p:sp>
      <p:sp>
        <p:nvSpPr>
          <p:cNvPr id="27" name="Rounded Rectangle 26"/>
          <p:cNvSpPr/>
          <p:nvPr/>
        </p:nvSpPr>
        <p:spPr>
          <a:xfrm>
            <a:off x="868680" y="5230368"/>
            <a:ext cx="10515600" cy="658368"/>
          </a:xfrm>
          <a:prstGeom prst="roundRect">
            <a:avLst/>
          </a:prstGeom>
          <a:solidFill>
            <a:srgbClr val="FFFFFF"/>
          </a:solidFill>
          <a:ln w="9525">
            <a:solidFill>
              <a:srgbClr val="CDD2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5440680"/>
            <a:ext cx="9921240" cy="256032"/>
          </a:xfrm>
          <a:prstGeom prst="rect">
            <a:avLst/>
          </a:prstGeom>
          <a:noFill/>
        </p:spPr>
        <p:txBody>
          <a:bodyPr wrap="square" lIns="18288" rIns="18288" tIns="18288" bIns="18288">
            <a:spAutoFit/>
          </a:bodyPr>
          <a:lstStyle/>
          <a:p>
            <a:pPr algn="ctr">
              <a:lnSpc>
                <a:spcPct val="105000"/>
              </a:lnSpc>
            </a:pPr>
            <a:r>
              <a:rPr sz="1800" b="1">
                <a:solidFill>
                  <a:srgbClr val="095248"/>
                </a:solidFill>
                <a:latin typeface="Microsoft YaHei"/>
              </a:rPr>
              <a:t>报告验收标准：结论必须能回到简历证据、岗位画像或面试回答；证据不足时只给追问建议，不替候选人编经历。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4114800" cy="256032"/>
          </a:xfrm>
          <a:prstGeom prst="rect">
            <a:avLst/>
          </a:prstGeom>
          <a:noFill/>
        </p:spPr>
        <p:txBody>
          <a:bodyPr wrap="square" lIns="18288" rIns="18288" tIns="18288" bIns="18288">
            <a:spAutoFit/>
          </a:bodyPr>
          <a:lstStyle/>
          <a:p>
            <a:pPr algn="l">
              <a:lnSpc>
                <a:spcPct val="105000"/>
              </a:lnSpc>
            </a:pPr>
            <a:r>
              <a:rPr sz="1000" b="1">
                <a:solidFill>
                  <a:srgbClr val="095248"/>
                </a:solidFill>
                <a:latin typeface="Microsoft YaHei"/>
              </a:rPr>
              <a:t>管理端能力</a:t>
            </a:r>
          </a:p>
        </p:txBody>
      </p:sp>
      <p:sp>
        <p:nvSpPr>
          <p:cNvPr id="4" name="TextBox 3"/>
          <p:cNvSpPr txBox="1"/>
          <p:nvPr/>
        </p:nvSpPr>
        <p:spPr>
          <a:xfrm>
            <a:off x="658368" y="566928"/>
            <a:ext cx="10789920" cy="566928"/>
          </a:xfrm>
          <a:prstGeom prst="rect">
            <a:avLst/>
          </a:prstGeom>
          <a:noFill/>
        </p:spPr>
        <p:txBody>
          <a:bodyPr wrap="square" lIns="18288" rIns="18288" tIns="18288" bIns="18288">
            <a:spAutoFit/>
          </a:bodyPr>
          <a:lstStyle/>
          <a:p>
            <a:pPr algn="l">
              <a:lnSpc>
                <a:spcPct val="105000"/>
              </a:lnSpc>
            </a:pPr>
            <a:r>
              <a:rPr sz="2800" b="1">
                <a:solidFill>
                  <a:srgbClr val="1F2937"/>
                </a:solidFill>
                <a:latin typeface="Microsoft YaHei"/>
              </a:rPr>
              <a:t>后台展示：让评委看到系统可维护</a:t>
            </a:r>
          </a:p>
        </p:txBody>
      </p:sp>
      <p:sp>
        <p:nvSpPr>
          <p:cNvPr id="5" name="Rectangle 4"/>
          <p:cNvSpPr/>
          <p:nvPr/>
        </p:nvSpPr>
        <p:spPr>
          <a:xfrm>
            <a:off x="685800" y="1207008"/>
            <a:ext cx="10835640" cy="18288"/>
          </a:xfrm>
          <a:prstGeom prst="rect">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840" y="320040"/>
            <a:ext cx="320040" cy="182880"/>
          </a:xfrm>
          <a:prstGeom prst="rect">
            <a:avLst/>
          </a:prstGeom>
          <a:noFill/>
        </p:spPr>
        <p:txBody>
          <a:bodyPr wrap="square" lIns="18288" rIns="18288" tIns="18288" bIns="18288">
            <a:spAutoFit/>
          </a:bodyPr>
          <a:lstStyle/>
          <a:p>
            <a:pPr algn="r">
              <a:lnSpc>
                <a:spcPct val="105000"/>
              </a:lnSpc>
            </a:pPr>
            <a:r>
              <a:rPr sz="900" b="0">
                <a:solidFill>
                  <a:srgbClr val="5C6773"/>
                </a:solidFill>
                <a:latin typeface="Microsoft YaHei"/>
              </a:rPr>
              <a:t>08</a:t>
            </a:r>
          </a:p>
        </p:txBody>
      </p:sp>
      <p:sp>
        <p:nvSpPr>
          <p:cNvPr id="7" name="TextBox 6"/>
          <p:cNvSpPr txBox="1"/>
          <p:nvPr/>
        </p:nvSpPr>
        <p:spPr>
          <a:xfrm>
            <a:off x="868680" y="1572768"/>
            <a:ext cx="1920240" cy="274320"/>
          </a:xfrm>
          <a:prstGeom prst="rect">
            <a:avLst/>
          </a:prstGeom>
          <a:noFill/>
        </p:spPr>
        <p:txBody>
          <a:bodyPr wrap="square" lIns="18288" rIns="18288" tIns="18288" bIns="18288">
            <a:spAutoFit/>
          </a:bodyPr>
          <a:lstStyle/>
          <a:p>
            <a:pPr algn="l">
              <a:lnSpc>
                <a:spcPct val="105000"/>
              </a:lnSpc>
            </a:pPr>
            <a:r>
              <a:rPr sz="2300" b="1">
                <a:solidFill>
                  <a:srgbClr val="095248"/>
                </a:solidFill>
                <a:latin typeface="Microsoft YaHei"/>
              </a:rPr>
              <a:t>岗位画像库</a:t>
            </a:r>
          </a:p>
        </p:txBody>
      </p:sp>
      <p:sp>
        <p:nvSpPr>
          <p:cNvPr id="8" name="TextBox 7"/>
          <p:cNvSpPr txBox="1"/>
          <p:nvPr/>
        </p:nvSpPr>
        <p:spPr>
          <a:xfrm>
            <a:off x="868680" y="2011680"/>
            <a:ext cx="4526280" cy="594360"/>
          </a:xfrm>
          <a:prstGeom prst="rect">
            <a:avLst/>
          </a:prstGeom>
          <a:noFill/>
        </p:spPr>
        <p:txBody>
          <a:bodyPr wrap="square" lIns="18288" rIns="18288" tIns="18288" bIns="18288">
            <a:spAutoFit/>
          </a:bodyPr>
          <a:lstStyle/>
          <a:p>
            <a:pPr algn="l">
              <a:lnSpc>
                <a:spcPct val="105000"/>
              </a:lnSpc>
            </a:pPr>
            <a:r>
              <a:rPr sz="1800" b="0">
                <a:solidFill>
                  <a:srgbClr val="1F2937"/>
                </a:solidFill>
                <a:latin typeface="Microsoft YaHei"/>
              </a:rPr>
              <a:t>显示岗位总数、启用数、技术岗/非技术岗、知识切片，支持编辑与重建。</a:t>
            </a:r>
          </a:p>
        </p:txBody>
      </p:sp>
      <p:sp>
        <p:nvSpPr>
          <p:cNvPr id="9" name="TextBox 8"/>
          <p:cNvSpPr txBox="1"/>
          <p:nvPr/>
        </p:nvSpPr>
        <p:spPr>
          <a:xfrm>
            <a:off x="6400800" y="1572768"/>
            <a:ext cx="1920240" cy="274320"/>
          </a:xfrm>
          <a:prstGeom prst="rect">
            <a:avLst/>
          </a:prstGeom>
          <a:noFill/>
        </p:spPr>
        <p:txBody>
          <a:bodyPr wrap="square" lIns="18288" rIns="18288" tIns="18288" bIns="18288">
            <a:spAutoFit/>
          </a:bodyPr>
          <a:lstStyle/>
          <a:p>
            <a:pPr algn="l">
              <a:lnSpc>
                <a:spcPct val="105000"/>
              </a:lnSpc>
            </a:pPr>
            <a:r>
              <a:rPr sz="2300" b="1">
                <a:solidFill>
                  <a:srgbClr val="325C96"/>
                </a:solidFill>
                <a:latin typeface="Microsoft YaHei"/>
              </a:rPr>
              <a:t>面试记录</a:t>
            </a:r>
          </a:p>
        </p:txBody>
      </p:sp>
      <p:sp>
        <p:nvSpPr>
          <p:cNvPr id="10" name="TextBox 9"/>
          <p:cNvSpPr txBox="1"/>
          <p:nvPr/>
        </p:nvSpPr>
        <p:spPr>
          <a:xfrm>
            <a:off x="6400800" y="2011680"/>
            <a:ext cx="4526280" cy="594360"/>
          </a:xfrm>
          <a:prstGeom prst="rect">
            <a:avLst/>
          </a:prstGeom>
          <a:noFill/>
        </p:spPr>
        <p:txBody>
          <a:bodyPr wrap="square" lIns="18288" rIns="18288" tIns="18288" bIns="18288">
            <a:spAutoFit/>
          </a:bodyPr>
          <a:lstStyle/>
          <a:p>
            <a:pPr algn="l">
              <a:lnSpc>
                <a:spcPct val="105000"/>
              </a:lnSpc>
            </a:pPr>
            <a:r>
              <a:rPr sz="1800" b="0">
                <a:solidFill>
                  <a:srgbClr val="1F2937"/>
                </a:solidFill>
                <a:latin typeface="Microsoft YaHei"/>
              </a:rPr>
              <a:t>能看到用户从“开始面试”产生的真实记录；空状态说明原因。</a:t>
            </a:r>
          </a:p>
        </p:txBody>
      </p:sp>
      <p:sp>
        <p:nvSpPr>
          <p:cNvPr id="11" name="TextBox 10"/>
          <p:cNvSpPr txBox="1"/>
          <p:nvPr/>
        </p:nvSpPr>
        <p:spPr>
          <a:xfrm>
            <a:off x="868680" y="3310128"/>
            <a:ext cx="1920240" cy="274320"/>
          </a:xfrm>
          <a:prstGeom prst="rect">
            <a:avLst/>
          </a:prstGeom>
          <a:noFill/>
        </p:spPr>
        <p:txBody>
          <a:bodyPr wrap="square" lIns="18288" rIns="18288" tIns="18288" bIns="18288">
            <a:spAutoFit/>
          </a:bodyPr>
          <a:lstStyle/>
          <a:p>
            <a:pPr algn="l">
              <a:lnSpc>
                <a:spcPct val="105000"/>
              </a:lnSpc>
            </a:pPr>
            <a:r>
              <a:rPr sz="2300" b="1">
                <a:solidFill>
                  <a:srgbClr val="D58A2B"/>
                </a:solidFill>
                <a:latin typeface="Microsoft YaHei"/>
              </a:rPr>
              <a:t>测评样本</a:t>
            </a:r>
          </a:p>
        </p:txBody>
      </p:sp>
      <p:sp>
        <p:nvSpPr>
          <p:cNvPr id="12" name="TextBox 11"/>
          <p:cNvSpPr txBox="1"/>
          <p:nvPr/>
        </p:nvSpPr>
        <p:spPr>
          <a:xfrm>
            <a:off x="868680" y="3749039"/>
            <a:ext cx="4526280" cy="594360"/>
          </a:xfrm>
          <a:prstGeom prst="rect">
            <a:avLst/>
          </a:prstGeom>
          <a:noFill/>
        </p:spPr>
        <p:txBody>
          <a:bodyPr wrap="square" lIns="18288" rIns="18288" tIns="18288" bIns="18288">
            <a:spAutoFit/>
          </a:bodyPr>
          <a:lstStyle/>
          <a:p>
            <a:pPr algn="l">
              <a:lnSpc>
                <a:spcPct val="105000"/>
              </a:lnSpc>
            </a:pPr>
            <a:r>
              <a:rPr sz="1800" b="0">
                <a:solidFill>
                  <a:srgbClr val="1F2937"/>
                </a:solidFill>
                <a:latin typeface="Microsoft YaHei"/>
              </a:rPr>
              <a:t>无样本时不报服务器错误；有样本后可进入人工评分对比。</a:t>
            </a:r>
          </a:p>
        </p:txBody>
      </p:sp>
      <p:sp>
        <p:nvSpPr>
          <p:cNvPr id="13" name="TextBox 12"/>
          <p:cNvSpPr txBox="1"/>
          <p:nvPr/>
        </p:nvSpPr>
        <p:spPr>
          <a:xfrm>
            <a:off x="6400800" y="3310128"/>
            <a:ext cx="1920240" cy="274320"/>
          </a:xfrm>
          <a:prstGeom prst="rect">
            <a:avLst/>
          </a:prstGeom>
          <a:noFill/>
        </p:spPr>
        <p:txBody>
          <a:bodyPr wrap="square" lIns="18288" rIns="18288" tIns="18288" bIns="18288">
            <a:spAutoFit/>
          </a:bodyPr>
          <a:lstStyle/>
          <a:p>
            <a:pPr algn="l">
              <a:lnSpc>
                <a:spcPct val="105000"/>
              </a:lnSpc>
            </a:pPr>
            <a:r>
              <a:rPr sz="2300" b="1">
                <a:solidFill>
                  <a:srgbClr val="BE4637"/>
                </a:solidFill>
                <a:latin typeface="Microsoft YaHei"/>
              </a:rPr>
              <a:t>验证数据</a:t>
            </a:r>
          </a:p>
        </p:txBody>
      </p:sp>
      <p:sp>
        <p:nvSpPr>
          <p:cNvPr id="14" name="TextBox 13"/>
          <p:cNvSpPr txBox="1"/>
          <p:nvPr/>
        </p:nvSpPr>
        <p:spPr>
          <a:xfrm>
            <a:off x="6400800" y="3749039"/>
            <a:ext cx="4526280" cy="594360"/>
          </a:xfrm>
          <a:prstGeom prst="rect">
            <a:avLst/>
          </a:prstGeom>
          <a:noFill/>
        </p:spPr>
        <p:txBody>
          <a:bodyPr wrap="square" lIns="18288" rIns="18288" tIns="18288" bIns="18288">
            <a:spAutoFit/>
          </a:bodyPr>
          <a:lstStyle/>
          <a:p>
            <a:pPr algn="l">
              <a:lnSpc>
                <a:spcPct val="105000"/>
              </a:lnSpc>
            </a:pPr>
            <a:r>
              <a:rPr sz="1800" b="0">
                <a:solidFill>
                  <a:srgbClr val="1F2937"/>
                </a:solidFill>
                <a:latin typeface="Microsoft YaHei"/>
              </a:rPr>
              <a:t>真实案例表记录来源、匹配依据、追问题和现场跑测结果。</a:t>
            </a:r>
          </a:p>
        </p:txBody>
      </p:sp>
      <p:sp>
        <p:nvSpPr>
          <p:cNvPr id="15" name="TextBox 14"/>
          <p:cNvSpPr txBox="1"/>
          <p:nvPr/>
        </p:nvSpPr>
        <p:spPr>
          <a:xfrm>
            <a:off x="960120" y="5623560"/>
            <a:ext cx="9875520" cy="320040"/>
          </a:xfrm>
          <a:prstGeom prst="rect">
            <a:avLst/>
          </a:prstGeom>
          <a:noFill/>
        </p:spPr>
        <p:txBody>
          <a:bodyPr wrap="square" lIns="18288" rIns="18288" tIns="18288" bIns="18288">
            <a:spAutoFit/>
          </a:bodyPr>
          <a:lstStyle/>
          <a:p>
            <a:pPr algn="ctr">
              <a:lnSpc>
                <a:spcPct val="105000"/>
              </a:lnSpc>
            </a:pPr>
            <a:r>
              <a:rPr sz="2200" b="1">
                <a:solidFill>
                  <a:srgbClr val="095248"/>
                </a:solidFill>
                <a:latin typeface="Microsoft YaHei"/>
              </a:rPr>
              <a:t>参赛展示主场从用户端固定演示页转移到后台真实数据维护页面。</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0040"/>
            <a:ext cx="4114800" cy="256032"/>
          </a:xfrm>
          <a:prstGeom prst="rect">
            <a:avLst/>
          </a:prstGeom>
          <a:noFill/>
        </p:spPr>
        <p:txBody>
          <a:bodyPr wrap="square" lIns="18288" rIns="18288" tIns="18288" bIns="18288">
            <a:spAutoFit/>
          </a:bodyPr>
          <a:lstStyle/>
          <a:p>
            <a:pPr algn="l">
              <a:lnSpc>
                <a:spcPct val="105000"/>
              </a:lnSpc>
            </a:pPr>
            <a:r>
              <a:rPr sz="1000" b="1">
                <a:solidFill>
                  <a:srgbClr val="095248"/>
                </a:solidFill>
                <a:latin typeface="Microsoft YaHei"/>
              </a:rPr>
              <a:t>现场路线</a:t>
            </a:r>
          </a:p>
        </p:txBody>
      </p:sp>
      <p:sp>
        <p:nvSpPr>
          <p:cNvPr id="4" name="TextBox 3"/>
          <p:cNvSpPr txBox="1"/>
          <p:nvPr/>
        </p:nvSpPr>
        <p:spPr>
          <a:xfrm>
            <a:off x="658368" y="566928"/>
            <a:ext cx="10789920" cy="566928"/>
          </a:xfrm>
          <a:prstGeom prst="rect">
            <a:avLst/>
          </a:prstGeom>
          <a:noFill/>
        </p:spPr>
        <p:txBody>
          <a:bodyPr wrap="square" lIns="18288" rIns="18288" tIns="18288" bIns="18288">
            <a:spAutoFit/>
          </a:bodyPr>
          <a:lstStyle/>
          <a:p>
            <a:pPr algn="l">
              <a:lnSpc>
                <a:spcPct val="105000"/>
              </a:lnSpc>
            </a:pPr>
            <a:r>
              <a:rPr sz="2800" b="1">
                <a:solidFill>
                  <a:srgbClr val="1F2937"/>
                </a:solidFill>
                <a:latin typeface="Microsoft YaHei"/>
              </a:rPr>
              <a:t>今晚 6 分钟怎么演示</a:t>
            </a:r>
          </a:p>
        </p:txBody>
      </p:sp>
      <p:sp>
        <p:nvSpPr>
          <p:cNvPr id="5" name="Rectangle 4"/>
          <p:cNvSpPr/>
          <p:nvPr/>
        </p:nvSpPr>
        <p:spPr>
          <a:xfrm>
            <a:off x="685800" y="1207008"/>
            <a:ext cx="10835640" cy="18288"/>
          </a:xfrm>
          <a:prstGeom prst="rect">
            <a:avLst/>
          </a:prstGeom>
          <a:solidFill>
            <a:srgbClr val="12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92840" y="320040"/>
            <a:ext cx="320040" cy="182880"/>
          </a:xfrm>
          <a:prstGeom prst="rect">
            <a:avLst/>
          </a:prstGeom>
          <a:noFill/>
        </p:spPr>
        <p:txBody>
          <a:bodyPr wrap="square" lIns="18288" rIns="18288" tIns="18288" bIns="18288">
            <a:spAutoFit/>
          </a:bodyPr>
          <a:lstStyle/>
          <a:p>
            <a:pPr algn="r">
              <a:lnSpc>
                <a:spcPct val="105000"/>
              </a:lnSpc>
            </a:pPr>
            <a:r>
              <a:rPr sz="900" b="0">
                <a:solidFill>
                  <a:srgbClr val="5C6773"/>
                </a:solidFill>
                <a:latin typeface="Microsoft YaHei"/>
              </a:rPr>
              <a:t>09</a:t>
            </a:r>
          </a:p>
        </p:txBody>
      </p:sp>
      <p:sp>
        <p:nvSpPr>
          <p:cNvPr id="7" name="TextBox 6"/>
          <p:cNvSpPr txBox="1"/>
          <p:nvPr/>
        </p:nvSpPr>
        <p:spPr>
          <a:xfrm>
            <a:off x="868680" y="1417320"/>
            <a:ext cx="1325880" cy="219456"/>
          </a:xfrm>
          <a:prstGeom prst="rect">
            <a:avLst/>
          </a:prstGeom>
          <a:noFill/>
        </p:spPr>
        <p:txBody>
          <a:bodyPr wrap="square" lIns="18288" rIns="18288" tIns="18288" bIns="18288">
            <a:spAutoFit/>
          </a:bodyPr>
          <a:lstStyle/>
          <a:p>
            <a:pPr algn="l">
              <a:lnSpc>
                <a:spcPct val="105000"/>
              </a:lnSpc>
            </a:pPr>
            <a:r>
              <a:rPr sz="1600" b="1">
                <a:solidFill>
                  <a:srgbClr val="D58A2B"/>
                </a:solidFill>
                <a:latin typeface="Microsoft YaHei"/>
              </a:rPr>
              <a:t>0:00-0:40</a:t>
            </a:r>
          </a:p>
        </p:txBody>
      </p:sp>
      <p:sp>
        <p:nvSpPr>
          <p:cNvPr id="8" name="TextBox 7"/>
          <p:cNvSpPr txBox="1"/>
          <p:nvPr/>
        </p:nvSpPr>
        <p:spPr>
          <a:xfrm>
            <a:off x="2423160" y="1417320"/>
            <a:ext cx="2011680" cy="228600"/>
          </a:xfrm>
          <a:prstGeom prst="rect">
            <a:avLst/>
          </a:prstGeom>
          <a:noFill/>
        </p:spPr>
        <p:txBody>
          <a:bodyPr wrap="square" lIns="18288" rIns="18288" tIns="18288" bIns="18288">
            <a:spAutoFit/>
          </a:bodyPr>
          <a:lstStyle/>
          <a:p>
            <a:pPr algn="l">
              <a:lnSpc>
                <a:spcPct val="105000"/>
              </a:lnSpc>
            </a:pPr>
            <a:r>
              <a:rPr sz="1900" b="1">
                <a:solidFill>
                  <a:srgbClr val="1F2937"/>
                </a:solidFill>
                <a:latin typeface="Microsoft YaHei"/>
              </a:rPr>
              <a:t>一句话定位</a:t>
            </a:r>
          </a:p>
        </p:txBody>
      </p:sp>
      <p:sp>
        <p:nvSpPr>
          <p:cNvPr id="9" name="TextBox 8"/>
          <p:cNvSpPr txBox="1"/>
          <p:nvPr/>
        </p:nvSpPr>
        <p:spPr>
          <a:xfrm>
            <a:off x="4251960" y="1417320"/>
            <a:ext cx="6629400" cy="292608"/>
          </a:xfrm>
          <a:prstGeom prst="rect">
            <a:avLst/>
          </a:prstGeom>
          <a:noFill/>
        </p:spPr>
        <p:txBody>
          <a:bodyPr wrap="square" lIns="18288" rIns="18288" tIns="18288" bIns="18288">
            <a:spAutoFit/>
          </a:bodyPr>
          <a:lstStyle/>
          <a:p>
            <a:pPr algn="l">
              <a:lnSpc>
                <a:spcPct val="105000"/>
              </a:lnSpc>
            </a:pPr>
            <a:r>
              <a:rPr sz="1600" b="0">
                <a:solidFill>
                  <a:srgbClr val="5C6773"/>
                </a:solidFill>
                <a:latin typeface="Microsoft YaHei"/>
              </a:rPr>
              <a:t>这是一个多岗位 AI 面试训练系统，本次用真实公开技术简历演示。</a:t>
            </a:r>
          </a:p>
        </p:txBody>
      </p:sp>
      <p:sp>
        <p:nvSpPr>
          <p:cNvPr id="10" name="TextBox 9"/>
          <p:cNvSpPr txBox="1"/>
          <p:nvPr/>
        </p:nvSpPr>
        <p:spPr>
          <a:xfrm>
            <a:off x="868680" y="2258568"/>
            <a:ext cx="1325880" cy="219456"/>
          </a:xfrm>
          <a:prstGeom prst="rect">
            <a:avLst/>
          </a:prstGeom>
          <a:noFill/>
        </p:spPr>
        <p:txBody>
          <a:bodyPr wrap="square" lIns="18288" rIns="18288" tIns="18288" bIns="18288">
            <a:spAutoFit/>
          </a:bodyPr>
          <a:lstStyle/>
          <a:p>
            <a:pPr algn="l">
              <a:lnSpc>
                <a:spcPct val="105000"/>
              </a:lnSpc>
            </a:pPr>
            <a:r>
              <a:rPr sz="1600" b="1">
                <a:solidFill>
                  <a:srgbClr val="D58A2B"/>
                </a:solidFill>
                <a:latin typeface="Microsoft YaHei"/>
              </a:rPr>
              <a:t>0:40-1:40</a:t>
            </a:r>
          </a:p>
        </p:txBody>
      </p:sp>
      <p:sp>
        <p:nvSpPr>
          <p:cNvPr id="11" name="TextBox 10"/>
          <p:cNvSpPr txBox="1"/>
          <p:nvPr/>
        </p:nvSpPr>
        <p:spPr>
          <a:xfrm>
            <a:off x="2423160" y="2258568"/>
            <a:ext cx="2011680" cy="228600"/>
          </a:xfrm>
          <a:prstGeom prst="rect">
            <a:avLst/>
          </a:prstGeom>
          <a:noFill/>
        </p:spPr>
        <p:txBody>
          <a:bodyPr wrap="square" lIns="18288" rIns="18288" tIns="18288" bIns="18288">
            <a:spAutoFit/>
          </a:bodyPr>
          <a:lstStyle/>
          <a:p>
            <a:pPr algn="l">
              <a:lnSpc>
                <a:spcPct val="105000"/>
              </a:lnSpc>
            </a:pPr>
            <a:r>
              <a:rPr sz="1900" b="1">
                <a:solidFill>
                  <a:srgbClr val="1F2937"/>
                </a:solidFill>
                <a:latin typeface="Microsoft YaHei"/>
              </a:rPr>
              <a:t>打开岗位画像</a:t>
            </a:r>
          </a:p>
        </p:txBody>
      </p:sp>
      <p:sp>
        <p:nvSpPr>
          <p:cNvPr id="12" name="TextBox 11"/>
          <p:cNvSpPr txBox="1"/>
          <p:nvPr/>
        </p:nvSpPr>
        <p:spPr>
          <a:xfrm>
            <a:off x="4251960" y="2258568"/>
            <a:ext cx="6629400" cy="292608"/>
          </a:xfrm>
          <a:prstGeom prst="rect">
            <a:avLst/>
          </a:prstGeom>
          <a:noFill/>
        </p:spPr>
        <p:txBody>
          <a:bodyPr wrap="square" lIns="18288" rIns="18288" tIns="18288" bIns="18288">
            <a:spAutoFit/>
          </a:bodyPr>
          <a:lstStyle/>
          <a:p>
            <a:pPr algn="l">
              <a:lnSpc>
                <a:spcPct val="105000"/>
              </a:lnSpc>
            </a:pPr>
            <a:r>
              <a:rPr sz="1600" b="0">
                <a:solidFill>
                  <a:srgbClr val="5C6773"/>
                </a:solidFill>
                <a:latin typeface="Microsoft YaHei"/>
              </a:rPr>
              <a:t>先看 Python 后端画像：技能、知识点、面试重点、切片。</a:t>
            </a:r>
          </a:p>
        </p:txBody>
      </p:sp>
      <p:sp>
        <p:nvSpPr>
          <p:cNvPr id="13" name="TextBox 12"/>
          <p:cNvSpPr txBox="1"/>
          <p:nvPr/>
        </p:nvSpPr>
        <p:spPr>
          <a:xfrm>
            <a:off x="868680" y="3099816"/>
            <a:ext cx="1325880" cy="219456"/>
          </a:xfrm>
          <a:prstGeom prst="rect">
            <a:avLst/>
          </a:prstGeom>
          <a:noFill/>
        </p:spPr>
        <p:txBody>
          <a:bodyPr wrap="square" lIns="18288" rIns="18288" tIns="18288" bIns="18288">
            <a:spAutoFit/>
          </a:bodyPr>
          <a:lstStyle/>
          <a:p>
            <a:pPr algn="l">
              <a:lnSpc>
                <a:spcPct val="105000"/>
              </a:lnSpc>
            </a:pPr>
            <a:r>
              <a:rPr sz="1600" b="1">
                <a:solidFill>
                  <a:srgbClr val="D58A2B"/>
                </a:solidFill>
                <a:latin typeface="Microsoft YaHei"/>
              </a:rPr>
              <a:t>1:40-3:20</a:t>
            </a:r>
          </a:p>
        </p:txBody>
      </p:sp>
      <p:sp>
        <p:nvSpPr>
          <p:cNvPr id="14" name="TextBox 13"/>
          <p:cNvSpPr txBox="1"/>
          <p:nvPr/>
        </p:nvSpPr>
        <p:spPr>
          <a:xfrm>
            <a:off x="2423160" y="3099816"/>
            <a:ext cx="2011680" cy="228600"/>
          </a:xfrm>
          <a:prstGeom prst="rect">
            <a:avLst/>
          </a:prstGeom>
          <a:noFill/>
        </p:spPr>
        <p:txBody>
          <a:bodyPr wrap="square" lIns="18288" rIns="18288" tIns="18288" bIns="18288">
            <a:spAutoFit/>
          </a:bodyPr>
          <a:lstStyle/>
          <a:p>
            <a:pPr algn="l">
              <a:lnSpc>
                <a:spcPct val="105000"/>
              </a:lnSpc>
            </a:pPr>
            <a:r>
              <a:rPr sz="1900" b="1">
                <a:solidFill>
                  <a:srgbClr val="1F2937"/>
                </a:solidFill>
                <a:latin typeface="Microsoft YaHei"/>
              </a:rPr>
              <a:t>讲真实案例</a:t>
            </a:r>
          </a:p>
        </p:txBody>
      </p:sp>
      <p:sp>
        <p:nvSpPr>
          <p:cNvPr id="15" name="TextBox 14"/>
          <p:cNvSpPr txBox="1"/>
          <p:nvPr/>
        </p:nvSpPr>
        <p:spPr>
          <a:xfrm>
            <a:off x="4251960" y="3099816"/>
            <a:ext cx="6629400" cy="292608"/>
          </a:xfrm>
          <a:prstGeom prst="rect">
            <a:avLst/>
          </a:prstGeom>
          <a:noFill/>
        </p:spPr>
        <p:txBody>
          <a:bodyPr wrap="square" lIns="18288" rIns="18288" tIns="18288" bIns="18288">
            <a:spAutoFit/>
          </a:bodyPr>
          <a:lstStyle/>
          <a:p>
            <a:pPr algn="l">
              <a:lnSpc>
                <a:spcPct val="105000"/>
              </a:lnSpc>
            </a:pPr>
            <a:r>
              <a:rPr sz="1600" b="0">
                <a:solidFill>
                  <a:srgbClr val="5C6773"/>
                </a:solidFill>
                <a:latin typeface="Microsoft YaHei"/>
              </a:rPr>
              <a:t>展示简历证据如何匹配岗位，哪些能力要追问。</a:t>
            </a:r>
          </a:p>
        </p:txBody>
      </p:sp>
      <p:sp>
        <p:nvSpPr>
          <p:cNvPr id="16" name="TextBox 15"/>
          <p:cNvSpPr txBox="1"/>
          <p:nvPr/>
        </p:nvSpPr>
        <p:spPr>
          <a:xfrm>
            <a:off x="868680" y="3941064"/>
            <a:ext cx="1325880" cy="219456"/>
          </a:xfrm>
          <a:prstGeom prst="rect">
            <a:avLst/>
          </a:prstGeom>
          <a:noFill/>
        </p:spPr>
        <p:txBody>
          <a:bodyPr wrap="square" lIns="18288" rIns="18288" tIns="18288" bIns="18288">
            <a:spAutoFit/>
          </a:bodyPr>
          <a:lstStyle/>
          <a:p>
            <a:pPr algn="l">
              <a:lnSpc>
                <a:spcPct val="105000"/>
              </a:lnSpc>
            </a:pPr>
            <a:r>
              <a:rPr sz="1600" b="1">
                <a:solidFill>
                  <a:srgbClr val="D58A2B"/>
                </a:solidFill>
                <a:latin typeface="Microsoft YaHei"/>
              </a:rPr>
              <a:t>3:20-4:50</a:t>
            </a:r>
          </a:p>
        </p:txBody>
      </p:sp>
      <p:sp>
        <p:nvSpPr>
          <p:cNvPr id="17" name="TextBox 16"/>
          <p:cNvSpPr txBox="1"/>
          <p:nvPr/>
        </p:nvSpPr>
        <p:spPr>
          <a:xfrm>
            <a:off x="2423160" y="3941064"/>
            <a:ext cx="2011680" cy="228600"/>
          </a:xfrm>
          <a:prstGeom prst="rect">
            <a:avLst/>
          </a:prstGeom>
          <a:noFill/>
        </p:spPr>
        <p:txBody>
          <a:bodyPr wrap="square" lIns="18288" rIns="18288" tIns="18288" bIns="18288">
            <a:spAutoFit/>
          </a:bodyPr>
          <a:lstStyle/>
          <a:p>
            <a:pPr algn="l">
              <a:lnSpc>
                <a:spcPct val="105000"/>
              </a:lnSpc>
            </a:pPr>
            <a:r>
              <a:rPr sz="1900" b="1">
                <a:solidFill>
                  <a:srgbClr val="1F2937"/>
                </a:solidFill>
                <a:latin typeface="Microsoft YaHei"/>
              </a:rPr>
              <a:t>演示面试追问</a:t>
            </a:r>
          </a:p>
        </p:txBody>
      </p:sp>
      <p:sp>
        <p:nvSpPr>
          <p:cNvPr id="18" name="TextBox 17"/>
          <p:cNvSpPr txBox="1"/>
          <p:nvPr/>
        </p:nvSpPr>
        <p:spPr>
          <a:xfrm>
            <a:off x="4251960" y="3941064"/>
            <a:ext cx="6629400" cy="292608"/>
          </a:xfrm>
          <a:prstGeom prst="rect">
            <a:avLst/>
          </a:prstGeom>
          <a:noFill/>
        </p:spPr>
        <p:txBody>
          <a:bodyPr wrap="square" lIns="18288" rIns="18288" tIns="18288" bIns="18288">
            <a:spAutoFit/>
          </a:bodyPr>
          <a:lstStyle/>
          <a:p>
            <a:pPr algn="l">
              <a:lnSpc>
                <a:spcPct val="105000"/>
              </a:lnSpc>
            </a:pPr>
            <a:r>
              <a:rPr sz="1600" b="0">
                <a:solidFill>
                  <a:srgbClr val="5C6773"/>
                </a:solidFill>
                <a:latin typeface="Microsoft YaHei"/>
              </a:rPr>
              <a:t>用 2-3 个问题说明系统围绕证据追问。</a:t>
            </a:r>
          </a:p>
        </p:txBody>
      </p:sp>
      <p:sp>
        <p:nvSpPr>
          <p:cNvPr id="19" name="TextBox 18"/>
          <p:cNvSpPr txBox="1"/>
          <p:nvPr/>
        </p:nvSpPr>
        <p:spPr>
          <a:xfrm>
            <a:off x="868680" y="4782312"/>
            <a:ext cx="1325880" cy="219456"/>
          </a:xfrm>
          <a:prstGeom prst="rect">
            <a:avLst/>
          </a:prstGeom>
          <a:noFill/>
        </p:spPr>
        <p:txBody>
          <a:bodyPr wrap="square" lIns="18288" rIns="18288" tIns="18288" bIns="18288">
            <a:spAutoFit/>
          </a:bodyPr>
          <a:lstStyle/>
          <a:p>
            <a:pPr algn="l">
              <a:lnSpc>
                <a:spcPct val="105000"/>
              </a:lnSpc>
            </a:pPr>
            <a:r>
              <a:rPr sz="1600" b="1">
                <a:solidFill>
                  <a:srgbClr val="D58A2B"/>
                </a:solidFill>
                <a:latin typeface="Microsoft YaHei"/>
              </a:rPr>
              <a:t>4:50-6:00</a:t>
            </a:r>
          </a:p>
        </p:txBody>
      </p:sp>
      <p:sp>
        <p:nvSpPr>
          <p:cNvPr id="20" name="TextBox 19"/>
          <p:cNvSpPr txBox="1"/>
          <p:nvPr/>
        </p:nvSpPr>
        <p:spPr>
          <a:xfrm>
            <a:off x="2423160" y="4782312"/>
            <a:ext cx="2011680" cy="228600"/>
          </a:xfrm>
          <a:prstGeom prst="rect">
            <a:avLst/>
          </a:prstGeom>
          <a:noFill/>
        </p:spPr>
        <p:txBody>
          <a:bodyPr wrap="square" lIns="18288" rIns="18288" tIns="18288" bIns="18288">
            <a:spAutoFit/>
          </a:bodyPr>
          <a:lstStyle/>
          <a:p>
            <a:pPr algn="l">
              <a:lnSpc>
                <a:spcPct val="105000"/>
              </a:lnSpc>
            </a:pPr>
            <a:r>
              <a:rPr sz="1900" b="1">
                <a:solidFill>
                  <a:srgbClr val="1F2937"/>
                </a:solidFill>
                <a:latin typeface="Microsoft YaHei"/>
              </a:rPr>
              <a:t>展示报告和后台</a:t>
            </a:r>
          </a:p>
        </p:txBody>
      </p:sp>
      <p:sp>
        <p:nvSpPr>
          <p:cNvPr id="21" name="TextBox 20"/>
          <p:cNvSpPr txBox="1"/>
          <p:nvPr/>
        </p:nvSpPr>
        <p:spPr>
          <a:xfrm>
            <a:off x="4251960" y="4782312"/>
            <a:ext cx="6629400" cy="292608"/>
          </a:xfrm>
          <a:prstGeom prst="rect">
            <a:avLst/>
          </a:prstGeom>
          <a:noFill/>
        </p:spPr>
        <p:txBody>
          <a:bodyPr wrap="square" lIns="18288" rIns="18288" tIns="18288" bIns="18288">
            <a:spAutoFit/>
          </a:bodyPr>
          <a:lstStyle/>
          <a:p>
            <a:pPr algn="l">
              <a:lnSpc>
                <a:spcPct val="105000"/>
              </a:lnSpc>
            </a:pPr>
            <a:r>
              <a:rPr sz="1600" b="0">
                <a:solidFill>
                  <a:srgbClr val="5C6773"/>
                </a:solidFill>
                <a:latin typeface="Microsoft YaHei"/>
              </a:rPr>
              <a:t>报告给改进建议，后台保留样本和人工复核入口。</a:t>
            </a:r>
          </a:p>
        </p:txBody>
      </p:sp>
      <p:sp>
        <p:nvSpPr>
          <p:cNvPr id="22" name="TextBox 21"/>
          <p:cNvSpPr txBox="1"/>
          <p:nvPr/>
        </p:nvSpPr>
        <p:spPr>
          <a:xfrm>
            <a:off x="960120" y="5806440"/>
            <a:ext cx="10149840" cy="310896"/>
          </a:xfrm>
          <a:prstGeom prst="rect">
            <a:avLst/>
          </a:prstGeom>
          <a:noFill/>
        </p:spPr>
        <p:txBody>
          <a:bodyPr wrap="square" lIns="18288" rIns="18288" tIns="18288" bIns="18288">
            <a:spAutoFit/>
          </a:bodyPr>
          <a:lstStyle/>
          <a:p>
            <a:pPr algn="ctr">
              <a:lnSpc>
                <a:spcPct val="105000"/>
              </a:lnSpc>
            </a:pPr>
            <a:r>
              <a:rPr sz="2000" b="1">
                <a:solidFill>
                  <a:srgbClr val="095248"/>
                </a:solidFill>
                <a:latin typeface="Microsoft YaHei"/>
              </a:rPr>
              <a:t>过关效果：评委能看懂“真实简历案例如何驱动岗位画像匹配、面试问题和改进报告”。</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