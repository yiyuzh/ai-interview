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686800" y="1005840"/>
            <a:ext cx="146304" cy="146304"/>
          </a:xfrm>
          <a:prstGeom prst="ellipse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149840" y="1417320"/>
            <a:ext cx="109728" cy="109728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2560320"/>
            <a:ext cx="128016" cy="128016"/>
          </a:xfrm>
          <a:prstGeom prst="ellipse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0" y="3474720"/>
            <a:ext cx="100584" cy="100584"/>
          </a:xfrm>
          <a:prstGeom prst="ellipse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424160" y="4572000"/>
            <a:ext cx="146304" cy="146304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418320" y="5486400"/>
            <a:ext cx="91440" cy="91440"/>
          </a:xfrm>
          <a:prstGeom prst="ellipse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8759952" y="1078992"/>
            <a:ext cx="1444752" cy="393192"/>
          </a:xfrm>
          <a:prstGeom prst="line">
            <a:avLst/>
          </a:prstGeom>
          <a:ln w="127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204704" y="1472184"/>
            <a:ext cx="832104" cy="1152144"/>
          </a:xfrm>
          <a:prstGeom prst="line">
            <a:avLst/>
          </a:prstGeom>
          <a:ln w="127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281160" y="2624328"/>
            <a:ext cx="1755648" cy="905256"/>
          </a:xfrm>
          <a:prstGeom prst="line">
            <a:avLst/>
          </a:prstGeom>
          <a:ln w="127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9281160" y="3529584"/>
            <a:ext cx="1216152" cy="1115568"/>
          </a:xfrm>
          <a:prstGeom prst="line">
            <a:avLst/>
          </a:prstGeom>
          <a:ln w="127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9464040" y="4645152"/>
            <a:ext cx="1033272" cy="886968"/>
          </a:xfrm>
          <a:prstGeom prst="line">
            <a:avLst/>
          </a:prstGeom>
          <a:ln w="12700">
            <a:solidFill>
              <a:srgbClr val="34D3D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914400"/>
            <a:ext cx="2743200" cy="3657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500" b="1">
                <a:solidFill>
                  <a:srgbClr val="1FD1C5"/>
                </a:solidFill>
                <a:latin typeface="Microsoft YaHei"/>
              </a:defRPr>
            </a:pPr>
            <a:r>
              <a:t>职启智评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1572768"/>
            <a:ext cx="6583680" cy="6400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  <a:latin typeface="Aptos"/>
              </a:defRPr>
            </a:pPr>
            <a:r>
              <a:t>Career-AgentOS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404872"/>
            <a:ext cx="594360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Microsoft YaHei"/>
              </a:defRPr>
            </a:pPr>
            <a:r>
              <a:t>多 Agent 就业能力诊断与训练平台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" y="2926080"/>
            <a:ext cx="6492240" cy="29260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0">
                <a:solidFill>
                  <a:srgbClr val="A3B9D1"/>
                </a:solidFill>
                <a:latin typeface="Microsoft YaHei"/>
              </a:defRPr>
            </a:pPr>
            <a:r>
              <a:t>从简历证据到岗位画像，从模拟面试到 Eval/SFT-ready 数据闭环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13232" y="3767328"/>
            <a:ext cx="1874519" cy="310896"/>
          </a:xfrm>
          <a:prstGeom prst="roundRect">
            <a:avLst/>
          </a:prstGeom>
          <a:solidFill>
            <a:srgbClr val="3884FF"/>
          </a:solidFill>
          <a:ln w="1016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人工智能创新赛答辩版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88920" y="3767328"/>
            <a:ext cx="1508760" cy="310896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Preview 清晰标注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767328"/>
            <a:ext cx="1737360" cy="310896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不夸大真实微调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" y="5897880"/>
            <a:ext cx="53035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A3B9D1"/>
                </a:solidFill>
                <a:latin typeface="Microsoft YaHei"/>
              </a:defRPr>
            </a:pPr>
            <a:r>
              <a:t>2026.05.17 · 阶段 159-164 代码级收口后版本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A3B9D1"/>
                </a:solidFill>
                <a:latin typeface="Microsoft YaHei"/>
              </a:defRPr>
            </a:pPr>
            <a:r>
              <a:t>边界：展示 Career-AgentOS Preview 与 SFT-ready 门禁；不宣称真实 OpenAI SFT 已完成。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背景痛点：求职准备缺的不是题库，而是闭环反馈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学生、就业指导老师和训练系统之间缺少同一套证据口径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01 痛点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60020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86968" y="1847088"/>
            <a:ext cx="1280160" cy="310896"/>
          </a:xfrm>
          <a:prstGeom prst="roundRect">
            <a:avLst/>
          </a:prstGeom>
          <a:solidFill>
            <a:srgbClr val="3884FF"/>
          </a:solidFill>
          <a:ln w="1016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岗位画像缺失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395728"/>
            <a:ext cx="27432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岗位认知弱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971800"/>
            <a:ext cx="265176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• 不了解目标岗位真实能力要求，训练问题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• 容易泛泛而谈。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27832" y="4425696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600" b="1">
                <a:solidFill>
                  <a:srgbClr val="3884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0" y="160020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81728" y="1847088"/>
            <a:ext cx="1280160" cy="310896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证据链断裂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60" y="2395728"/>
            <a:ext cx="27432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简历证据弱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971800"/>
            <a:ext cx="265176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• “熟悉/参与”很多，缺少可验证的职责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• 、行动和结果。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22592" y="4425696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600" b="1">
                <a:solidFill>
                  <a:srgbClr val="F59E0B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75320" y="1600200"/>
            <a:ext cx="3246120" cy="361188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76488" y="1847088"/>
            <a:ext cx="1280160" cy="310896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闭环缺失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395728"/>
            <a:ext cx="2743200" cy="310896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200" b="1">
                <a:solidFill>
                  <a:srgbClr val="0F172A"/>
                </a:solidFill>
                <a:latin typeface="Microsoft YaHei"/>
              </a:defRPr>
            </a:pPr>
            <a:r>
              <a:t>训练反馈弱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31352" y="2971800"/>
            <a:ext cx="265176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• 面试后缺少学习任务、复盘和人工评分沉</a:t>
            </a:r>
          </a:p>
          <a:p>
            <a:pPr>
              <a:spcAft>
                <a:spcPts val="600"/>
              </a:spcAft>
              <a:defRPr sz="1400">
                <a:solidFill>
                  <a:srgbClr val="64748B"/>
                </a:solidFill>
                <a:latin typeface="Microsoft YaHei"/>
              </a:defRPr>
            </a:pPr>
            <a:r>
              <a:t>• 淀。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817352" y="4425696"/>
            <a:ext cx="3200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600" b="1">
                <a:solidFill>
                  <a:srgbClr val="22C55E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5806440"/>
            <a:ext cx="100584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答辩主张：把岗位要求、简历证据、训练追问、报告复盘和数据沉淀串成一条可评估链路。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项目定位：从 AI 面试官升级为就业能力诊断闭环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同一份简历，不只生成问题，还要解释证据、定位缺口、驱动训练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02 定位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29260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200" b="1">
                <a:solidFill>
                  <a:srgbClr val="64748B"/>
                </a:solidFill>
                <a:latin typeface="Microsoft YaHei"/>
              </a:defRPr>
            </a:pPr>
            <a:r>
              <a:t>普通 AI 面试官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79" y="1508760"/>
            <a:ext cx="31089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700" b="1">
                <a:solidFill>
                  <a:srgbClr val="3884FF"/>
                </a:solidFill>
                <a:latin typeface="Aptos"/>
              </a:defRPr>
            </a:pPr>
            <a:r>
              <a:t>Career-AgentOS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根据简历问几题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1965960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简历证据链 + 岗位画像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03520" y="2084831"/>
            <a:ext cx="1463040" cy="0"/>
          </a:xfrm>
          <a:prstGeom prst="line">
            <a:avLst/>
          </a:prstGeom>
          <a:ln w="1397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05840" y="2587752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难解释为什么追问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60920" y="2587752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每个追问绑定能力缺口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303520" y="2706624"/>
            <a:ext cx="1463040" cy="0"/>
          </a:xfrm>
          <a:prstGeom prst="line">
            <a:avLst/>
          </a:prstGeom>
          <a:ln w="1397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005840" y="3209544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容易把岗位要求当经历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3209544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RAG 只做岗位参考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303520" y="3328415"/>
            <a:ext cx="1463040" cy="0"/>
          </a:xfrm>
          <a:prstGeom prst="line">
            <a:avLst/>
          </a:prstGeom>
          <a:ln w="1397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831335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面试后缺少任务沉淀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831335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报告、学习任务、复盘闭环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0" y="3950208"/>
            <a:ext cx="1463040" cy="0"/>
          </a:xfrm>
          <a:prstGeom prst="line">
            <a:avLst/>
          </a:prstGeom>
          <a:ln w="1397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005840" y="4453128"/>
            <a:ext cx="32461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0">
                <a:solidFill>
                  <a:srgbClr val="64748B"/>
                </a:solidFill>
                <a:latin typeface="Microsoft YaHei"/>
              </a:defRPr>
            </a:pPr>
            <a:r>
              <a:t>无法形成训练数据准入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4453128"/>
            <a:ext cx="384048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授权、复核、PII 门禁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303520" y="4572000"/>
            <a:ext cx="1463040" cy="0"/>
          </a:xfrm>
          <a:prstGeom prst="line">
            <a:avLst/>
          </a:prstGeom>
          <a:ln w="1397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611880" y="5760720"/>
            <a:ext cx="5074920" cy="411480"/>
          </a:xfrm>
          <a:prstGeom prst="round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核心差异：可追溯、可约束、可复盘、可补实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产品闭环：从简历到后训练数据的可追溯链路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一条链路覆盖学生训练、老师复核和模型后续优化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03 闭环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648" y="17373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简历解析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97864" y="1161288"/>
            <a:ext cx="347472" cy="347472"/>
          </a:xfrm>
          <a:prstGeom prst="roundRect">
            <a:avLst/>
          </a:prstGeom>
          <a:solidFill>
            <a:srgbClr val="3884FF"/>
          </a:solidFill>
          <a:ln w="1016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40280" y="1883664"/>
            <a:ext cx="53035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70632" y="15544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岗位画像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65576" y="1161288"/>
            <a:ext cx="347472" cy="347472"/>
          </a:xfrm>
          <a:prstGeom prst="roundRect">
            <a:avLst/>
          </a:prstGeom>
          <a:solidFill>
            <a:srgbClr val="1FD1C5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07992" y="1883664"/>
            <a:ext cx="53035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038344" y="15544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8072" y="17373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证据评分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33288" y="1161288"/>
            <a:ext cx="347472" cy="347472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775704" y="1883664"/>
            <a:ext cx="530351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306055" y="15544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15783" y="17373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能力差距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01000" y="1161288"/>
            <a:ext cx="347472" cy="347472"/>
          </a:xfrm>
          <a:prstGeom prst="roundRect">
            <a:avLst/>
          </a:prstGeom>
          <a:solidFill>
            <a:srgbClr val="F59E0B"/>
          </a:solidFill>
          <a:ln w="1016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043415" y="1883664"/>
            <a:ext cx="530353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573768" y="15544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83496" y="17373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简历润色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68712" y="1161288"/>
            <a:ext cx="347472" cy="347472"/>
          </a:xfrm>
          <a:prstGeom prst="roundRect">
            <a:avLst/>
          </a:prstGeom>
          <a:solidFill>
            <a:srgbClr val="A855F7"/>
          </a:solidFill>
          <a:ln w="1016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371600" y="2212848"/>
            <a:ext cx="9070848" cy="1170432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502920" y="33832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" y="35661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面试追问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97864" y="2990088"/>
            <a:ext cx="347472" cy="347472"/>
          </a:xfrm>
          <a:prstGeom prst="roundRect">
            <a:avLst/>
          </a:prstGeom>
          <a:solidFill>
            <a:srgbClr val="3884FF"/>
          </a:solidFill>
          <a:ln w="10160">
            <a:solidFill>
              <a:srgbClr val="38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240280" y="3712464"/>
            <a:ext cx="53035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770632" y="33832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880360" y="35661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报告复盘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65576" y="2990088"/>
            <a:ext cx="347472" cy="347472"/>
          </a:xfrm>
          <a:prstGeom prst="roundRect">
            <a:avLst/>
          </a:prstGeom>
          <a:solidFill>
            <a:srgbClr val="1FD1C5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07992" y="3712464"/>
            <a:ext cx="530352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038344" y="33832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48072" y="35661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学习任务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33288" y="2990088"/>
            <a:ext cx="347472" cy="347472"/>
          </a:xfrm>
          <a:prstGeom prst="roundRect">
            <a:avLst/>
          </a:prstGeom>
          <a:solidFill>
            <a:srgbClr val="22C55E"/>
          </a:solidFill>
          <a:ln w="1016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775704" y="3712464"/>
            <a:ext cx="530351" cy="0"/>
          </a:xfrm>
          <a:prstGeom prst="line">
            <a:avLst/>
          </a:prstGeom>
          <a:ln w="1270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306055" y="3383280"/>
            <a:ext cx="1737360" cy="65836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15783" y="3566160"/>
            <a:ext cx="1517904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0F172A"/>
                </a:solidFill>
                <a:latin typeface="Microsoft YaHei"/>
              </a:defRPr>
            </a:pPr>
            <a:r>
              <a:t>数据治理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01000" y="2990088"/>
            <a:ext cx="347472" cy="347472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440680"/>
            <a:ext cx="104241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Microsoft YaHei"/>
              </a:defRPr>
            </a:pPr>
            <a:r>
              <a:t>统一口径：resume_evaluation_snapshot 贯穿诊断、润色、学习计划、面试、报告与复盘；岗位知识库只做岗位要求和追问参考。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Career-AgentOS：OPC 总控 + 13 个专业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A3B9D1"/>
                </a:solidFill>
                <a:latin typeface="Microsoft YaHei"/>
              </a:defRPr>
            </a:pPr>
            <a:r>
              <a:t>把就业诊断拆成可解释、可追踪、可评估的协作步骤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1FD1C5"/>
                </a:solidFill>
                <a:latin typeface="Microsoft YaHei"/>
              </a:defRPr>
            </a:pPr>
            <a:r>
              <a:t>04 架构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892040" y="2304288"/>
            <a:ext cx="2331720" cy="987552"/>
          </a:xfrm>
          <a:prstGeom prst="ellipse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66360" y="2487168"/>
            <a:ext cx="173736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000" b="1">
                <a:solidFill>
                  <a:srgbClr val="06162D"/>
                </a:solidFill>
                <a:latin typeface="Microsoft YaHei"/>
              </a:defRPr>
            </a:pPr>
            <a:r>
              <a:t>OPC</a:t>
            </a:r>
            <a:br/>
            <a:r>
              <a:t>总控编排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6062472" y="868679"/>
            <a:ext cx="18288" cy="1929385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5577840" y="704087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41848" y="781811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比赛叙事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6062472" y="1088631"/>
            <a:ext cx="1973025" cy="1709433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532577" y="924039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96585" y="1001763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简历证据</a:t>
            </a:r>
          </a:p>
        </p:txBody>
      </p:sp>
      <p:cxnSp>
        <p:nvCxnSpPr>
          <p:cNvPr id="15" name="Connector 14"/>
          <p:cNvCxnSpPr/>
          <p:nvPr/>
        </p:nvCxnSpPr>
        <p:spPr>
          <a:xfrm flipV="1">
            <a:off x="6062472" y="1698099"/>
            <a:ext cx="3479955" cy="1099965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039507" y="1533507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3515" y="1611231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岗位画像</a:t>
            </a:r>
          </a:p>
        </p:txBody>
      </p:sp>
      <p:cxnSp>
        <p:nvCxnSpPr>
          <p:cNvPr id="18" name="Connector 17"/>
          <p:cNvCxnSpPr/>
          <p:nvPr/>
        </p:nvCxnSpPr>
        <p:spPr>
          <a:xfrm flipV="1">
            <a:off x="6062472" y="2557460"/>
            <a:ext cx="4193859" cy="240604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53411" y="2392868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17419" y="2470592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能力差距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62472" y="2798064"/>
            <a:ext cx="3951190" cy="671782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510742" y="3305254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74750" y="3382978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1">
                <a:solidFill>
                  <a:srgbClr val="FFFFFF"/>
                </a:solidFill>
                <a:latin typeface="Microsoft YaHei"/>
              </a:defRPr>
            </a:pPr>
            <a:r>
              <a:t>简历润色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062472" y="2798064"/>
            <a:ext cx="2807541" cy="1428176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8367093" y="4061648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1101" y="4139372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面试追问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6062472" y="2798064"/>
            <a:ext cx="1024907" cy="1855297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584459" y="4488769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48467" y="4566493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报告生成</a:t>
            </a:r>
          </a:p>
        </p:txBody>
      </p:sp>
      <p:cxnSp>
        <p:nvCxnSpPr>
          <p:cNvPr id="30" name="Connector 29"/>
          <p:cNvCxnSpPr/>
          <p:nvPr/>
        </p:nvCxnSpPr>
        <p:spPr>
          <a:xfrm flipH="1">
            <a:off x="5074140" y="2798064"/>
            <a:ext cx="988332" cy="1855297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4571220" y="4488769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35228" y="4566493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学习任务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3291506" y="2798064"/>
            <a:ext cx="2770966" cy="1428176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2788586" y="4061648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852594" y="4139372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数据治理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2147857" y="2798064"/>
            <a:ext cx="3914615" cy="671782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1644937" y="3305254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708945" y="3382978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Eval Judge</a:t>
            </a:r>
          </a:p>
        </p:txBody>
      </p:sp>
      <p:cxnSp>
        <p:nvCxnSpPr>
          <p:cNvPr id="39" name="Connector 38"/>
          <p:cNvCxnSpPr/>
          <p:nvPr/>
        </p:nvCxnSpPr>
        <p:spPr>
          <a:xfrm flipH="1" flipV="1">
            <a:off x="1905188" y="2557460"/>
            <a:ext cx="4157284" cy="240604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1402268" y="2392868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466276" y="2470592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SFT Preview</a:t>
            </a:r>
          </a:p>
        </p:txBody>
      </p:sp>
      <p:cxnSp>
        <p:nvCxnSpPr>
          <p:cNvPr id="42" name="Connector 41"/>
          <p:cNvCxnSpPr/>
          <p:nvPr/>
        </p:nvCxnSpPr>
        <p:spPr>
          <a:xfrm flipH="1" flipV="1">
            <a:off x="2619092" y="1698099"/>
            <a:ext cx="3443380" cy="1099965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116172" y="1533507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180180" y="1611231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后训练路线</a:t>
            </a:r>
          </a:p>
        </p:txBody>
      </p:sp>
      <p:cxnSp>
        <p:nvCxnSpPr>
          <p:cNvPr id="45" name="Connector 44"/>
          <p:cNvCxnSpPr/>
          <p:nvPr/>
        </p:nvCxnSpPr>
        <p:spPr>
          <a:xfrm flipH="1" flipV="1">
            <a:off x="4126022" y="1088631"/>
            <a:ext cx="1936450" cy="1709433"/>
          </a:xfrm>
          <a:prstGeom prst="line">
            <a:avLst/>
          </a:prstGeom>
          <a:ln w="8255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623102" y="924039"/>
            <a:ext cx="1005840" cy="329184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2B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687110" y="1001763"/>
            <a:ext cx="8778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760" b="0">
                <a:solidFill>
                  <a:srgbClr val="FFFFFF"/>
                </a:solidFill>
                <a:latin typeface="Microsoft YaHei"/>
              </a:defRPr>
            </a:pPr>
            <a:r>
              <a:t>评委拷问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重点：简历润色 Agent 独立成角色，职责是“岗位化表达 + 证据约束 + 风险提示”，不能编造经历。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作品演示视频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预留系统操作录屏：先展示 Career-AgentOS Trace，再展示 Eval/SFT Preview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05 演示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207008" y="1298448"/>
            <a:ext cx="9756648" cy="5230368"/>
          </a:xfrm>
          <a:prstGeom prst="roundRect">
            <a:avLst/>
          </a:prstGeom>
          <a:solidFill>
            <a:srgbClr val="0A172A"/>
          </a:solidFill>
          <a:ln w="2540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1207008" y="2788920"/>
            <a:ext cx="9756648" cy="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07008" y="4160520"/>
            <a:ext cx="9756648" cy="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207008" y="5532120"/>
            <a:ext cx="9756648" cy="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833116" y="1417320"/>
            <a:ext cx="0" cy="548640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4459224" y="1417320"/>
            <a:ext cx="0" cy="548640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85332" y="1417320"/>
            <a:ext cx="0" cy="548640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711440" y="1417320"/>
            <a:ext cx="0" cy="548640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337548" y="1417320"/>
            <a:ext cx="0" cy="5486400"/>
          </a:xfrm>
          <a:prstGeom prst="line">
            <a:avLst/>
          </a:prstGeom>
          <a:ln w="5080">
            <a:solidFill>
              <a:srgbClr val="1E3A5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Isosceles Triangle 15"/>
          <p:cNvSpPr/>
          <p:nvPr/>
        </p:nvSpPr>
        <p:spPr>
          <a:xfrm rot="5400000">
            <a:off x="5532120" y="3072384"/>
            <a:ext cx="777240" cy="777240"/>
          </a:xfrm>
          <a:prstGeom prst="triangle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60520" y="4069080"/>
            <a:ext cx="379476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作品演示视频占位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4681728"/>
            <a:ext cx="754380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00" b="0">
                <a:solidFill>
                  <a:srgbClr val="A3B9D1"/>
                </a:solidFill>
                <a:latin typeface="Microsoft YaHei"/>
              </a:defRPr>
            </a:pPr>
            <a:r>
              <a:t>建议录屏 3-5 分钟：/competition/agent-trace → Python 后端 → Agent Trace → Eval Preview → SFT Preview → 产品/HR 快速切换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当前仓库未发现可直接嵌入的视频文件；此页保留 16:9 区域，后续可直接替换为作品演示视频。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简历证据链：能力不是“写了就算”，而是分级验证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用 direct / indirect / claimed_only / missing 区分可信度和追问方向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06 证据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444752"/>
            <a:ext cx="1234440" cy="566928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627632"/>
            <a:ext cx="108813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能力项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1737360" y="1444752"/>
            <a:ext cx="2880360" cy="566928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810512" y="1627632"/>
            <a:ext cx="273405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简历证据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44752"/>
            <a:ext cx="1143000" cy="566928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90872" y="1627632"/>
            <a:ext cx="99669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状态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0" y="1444752"/>
            <a:ext cx="2331720" cy="566928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33872" y="1627632"/>
            <a:ext cx="2185415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风险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44752"/>
            <a:ext cx="2971800" cy="566928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65592" y="1627632"/>
            <a:ext cx="2825496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50" b="1">
                <a:solidFill>
                  <a:srgbClr val="FFFFFF"/>
                </a:solidFill>
                <a:latin typeface="Microsoft YaHei"/>
              </a:defRPr>
            </a:pPr>
            <a:r>
              <a:t>追问方向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011680"/>
            <a:ext cx="12344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2121408"/>
            <a:ext cx="110642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1">
                <a:solidFill>
                  <a:srgbClr val="0F172A"/>
                </a:solidFill>
                <a:latin typeface="Microsoft YaHei"/>
              </a:defRPr>
            </a:pPr>
            <a:r>
              <a:t>REST 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737360" y="2011680"/>
            <a:ext cx="2880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01368" y="2121408"/>
            <a:ext cx="275234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项目描述出现 Flask 接口、商品/订单/用户模块和联调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17720" y="2011680"/>
            <a:ext cx="11430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81728" y="2121408"/>
            <a:ext cx="1014983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9" b="1">
                <a:solidFill>
                  <a:srgbClr val="22C55E"/>
                </a:solidFill>
                <a:latin typeface="Microsoft YaHei"/>
              </a:defRPr>
            </a:pPr>
            <a:r>
              <a:t>direct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2011680"/>
            <a:ext cx="2331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4728" y="2121408"/>
            <a:ext cx="2203703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需要验证个人负责边界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92440" y="2011680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56448" y="2121408"/>
            <a:ext cx="284378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接口职责、异常返回、参数校验、权限处理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2578608"/>
            <a:ext cx="1234440" cy="566928"/>
          </a:xfrm>
          <a:prstGeom prst="rect">
            <a:avLst/>
          </a:prstGeom>
          <a:solidFill>
            <a:srgbClr val="F7FAFC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66928" y="2688336"/>
            <a:ext cx="110642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1">
                <a:solidFill>
                  <a:srgbClr val="0F172A"/>
                </a:solidFill>
                <a:latin typeface="Microsoft YaHei"/>
              </a:defRPr>
            </a:pPr>
            <a:r>
              <a:t>SQL 与索引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2578608"/>
            <a:ext cx="2880360" cy="566928"/>
          </a:xfrm>
          <a:prstGeom prst="rect">
            <a:avLst/>
          </a:prstGeom>
          <a:solidFill>
            <a:srgbClr val="F7FAFC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01368" y="2688336"/>
            <a:ext cx="275234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出现 PostgreSQL 和表结构设计，但没有慢查询或索引优化案例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17720" y="2578608"/>
            <a:ext cx="1143000" cy="566928"/>
          </a:xfrm>
          <a:prstGeom prst="rect">
            <a:avLst/>
          </a:prstGeom>
          <a:solidFill>
            <a:srgbClr val="F7FAFC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81728" y="2688336"/>
            <a:ext cx="1014983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9" b="1">
                <a:solidFill>
                  <a:srgbClr val="3884FF"/>
                </a:solidFill>
                <a:latin typeface="Microsoft YaHei"/>
              </a:defRPr>
            </a:pPr>
            <a:r>
              <a:t>indirect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2578608"/>
            <a:ext cx="2331720" cy="566928"/>
          </a:xfrm>
          <a:prstGeom prst="rect">
            <a:avLst/>
          </a:prstGeom>
          <a:solidFill>
            <a:srgbClr val="F7FAFC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824728" y="2688336"/>
            <a:ext cx="2203703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数据库能力可能停留在建表和简单查询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92440" y="2578608"/>
            <a:ext cx="2971800" cy="566928"/>
          </a:xfrm>
          <a:prstGeom prst="rect">
            <a:avLst/>
          </a:prstGeom>
          <a:solidFill>
            <a:srgbClr val="F7FAFC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56448" y="2688336"/>
            <a:ext cx="284378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索引设计、事务、慢查询定位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145536"/>
            <a:ext cx="123444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3255264"/>
            <a:ext cx="110642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1">
                <a:solidFill>
                  <a:srgbClr val="0F172A"/>
                </a:solidFill>
                <a:latin typeface="Microsoft YaHei"/>
              </a:defRPr>
            </a:pPr>
            <a:r>
              <a:t>Redis 缓存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737360" y="3145536"/>
            <a:ext cx="288036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01368" y="3255264"/>
            <a:ext cx="275234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简历未出现 Redis、缓存或性能优化相关经历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3145536"/>
            <a:ext cx="11430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8" y="3255264"/>
            <a:ext cx="1014983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9" b="1">
                <a:solidFill>
                  <a:srgbClr val="EF4444"/>
                </a:solidFill>
                <a:latin typeface="Microsoft YaHei"/>
              </a:defRPr>
            </a:pPr>
            <a:r>
              <a:t>missing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760720" y="3145536"/>
            <a:ext cx="233172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824728" y="3255264"/>
            <a:ext cx="2203703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目标岗位高频考察缓存能力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092440" y="3145536"/>
            <a:ext cx="2971800" cy="566928"/>
          </a:xfrm>
          <a:prstGeom prst="rect">
            <a:avLst/>
          </a:prstGeom>
          <a:solidFill>
            <a:srgbClr val="FFFFFF"/>
          </a:solidFill>
          <a:ln w="10160">
            <a:solidFill>
              <a:srgbClr val="DBE5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156448" y="3255264"/>
            <a:ext cx="2843784" cy="32918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69" b="0">
                <a:solidFill>
                  <a:srgbClr val="0F172A"/>
                </a:solidFill>
                <a:latin typeface="Microsoft YaHei"/>
              </a:defRPr>
            </a:pPr>
            <a:r>
              <a:t>缓存穿透、击穿、一致性、性能指标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77240" y="5413248"/>
            <a:ext cx="10652760" cy="411480"/>
          </a:xfrm>
          <a:prstGeom prst="roundRect">
            <a:avLst/>
          </a:prstGeom>
          <a:solidFill>
            <a:srgbClr val="0F766E"/>
          </a:solidFill>
          <a:ln w="10160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Microsoft YaHei"/>
              </a:defRPr>
            </a:pPr>
            <a:r>
              <a:t>示例：Python 后端岗位中，Redis 缓存是 missing，只能追问或补证据，不能写成候选人真实经历。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简历润色 Agent：可改，但不造假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润色目标是岗位化表达；证据不足处只能提示补证据或使用占位表达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07 润色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417320"/>
            <a:ext cx="18288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800" b="1">
                <a:solidFill>
                  <a:srgbClr val="EF4444"/>
                </a:solidFill>
                <a:latin typeface="Microsoft YaHei"/>
              </a:defRPr>
            </a:pPr>
            <a:r>
              <a:t>错误做法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20840" y="1417320"/>
            <a:ext cx="23774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  <a:latin typeface="Microsoft YaHei"/>
              </a:defRPr>
            </a:pPr>
            <a:r>
              <a:t>证据约束做法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901952"/>
            <a:ext cx="4526280" cy="2331720"/>
          </a:xfrm>
          <a:prstGeom prst="roundRect">
            <a:avLst/>
          </a:prstGeom>
          <a:solidFill>
            <a:srgbClr val="FEF2F2"/>
          </a:solidFill>
          <a:ln w="1016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3977639" cy="1371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• 把未出现 Redis 的简历改成：“负责 Redis 缓存优化，提升接口性能 40%”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• 问题：新增技术栈、指标和成果，无法验证。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1901952"/>
            <a:ext cx="4663440" cy="2331720"/>
          </a:xfrm>
          <a:prstGeom prst="roundRect">
            <a:avLst/>
          </a:prstGeom>
          <a:solidFill>
            <a:srgbClr val="F0FDF4"/>
          </a:solidFill>
          <a:ln w="10160">
            <a:solidFill>
              <a:srgbClr val="86EFA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11696" y="2286000"/>
            <a:ext cx="4069080" cy="1371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• 保留真实 Flask/PostgreSQL 项目，强化接口开发、表结构设计、联调事实。</a:t>
            </a:r>
          </a:p>
          <a:p>
            <a:pPr>
              <a:spcAft>
                <a:spcPts val="600"/>
              </a:spcAft>
              <a:defRPr sz="1400">
                <a:solidFill>
                  <a:srgbClr val="0F172A"/>
                </a:solidFill>
                <a:latin typeface="Microsoft YaHei"/>
              </a:defRPr>
            </a:pPr>
            <a:r>
              <a:t>• Redis 缺口只提示：准备缓存场景、方案、结果证据。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440680" y="3063240"/>
            <a:ext cx="795528" cy="0"/>
          </a:xfrm>
          <a:prstGeom prst="line">
            <a:avLst/>
          </a:prstGeom>
          <a:ln w="2540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68680" y="5074920"/>
            <a:ext cx="10241280" cy="4572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500" b="1">
                <a:solidFill>
                  <a:srgbClr val="0F172A"/>
                </a:solidFill>
                <a:latin typeface="Microsoft YaHei"/>
              </a:defRPr>
            </a:pPr>
            <a:r>
              <a:t>ResumePolishAgent 边界：不新增公司、时间、项目、证书、百分比、技术栈或指标；缺少证据时只给补证据建议。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证据状态来自简历解析和面试回答；岗位知识库只能作为岗位要求和表达参考。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证据追问型面试：问题围绕能力缺口，而不是泛泛聊天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同一岗位下，追问必须绑定候选人证据状态和目标岗位要求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08 面试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417320"/>
            <a:ext cx="137160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800" b="1">
                <a:solidFill>
                  <a:srgbClr val="64748B"/>
                </a:solidFill>
                <a:latin typeface="Microsoft YaHei"/>
              </a:defRPr>
            </a:pPr>
            <a:r>
              <a:t>通用 AI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828800"/>
            <a:ext cx="4800600" cy="2880360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2331720"/>
            <a:ext cx="4041648" cy="59436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“请介绍一下你的后端项目。”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3749039"/>
            <a:ext cx="4069080" cy="38404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缺少岗位缺口、证据状态和验证目标，容易得到流水账回答。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20840" y="1417320"/>
            <a:ext cx="16459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800" b="1">
                <a:solidFill>
                  <a:srgbClr val="3884FF"/>
                </a:solidFill>
                <a:latin typeface="Microsoft YaHei"/>
              </a:defRPr>
            </a:pPr>
            <a:r>
              <a:t>职启智评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828800"/>
            <a:ext cx="5440680" cy="2880360"/>
          </a:xfrm>
          <a:prstGeom prst="roundRect">
            <a:avLst/>
          </a:prstGeom>
          <a:solidFill>
            <a:srgbClr val="EFF6FF"/>
          </a:solidFill>
          <a:ln w="1016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2212848"/>
            <a:ext cx="4846320" cy="12344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“你目标岗位需要 Redis 缓存能力，但简历证据状态是 missing。请结合一个真实项目说明场景、职责、行动、结果；如果没有实际经历，也说明如何补齐证据。”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886200"/>
            <a:ext cx="4800600" cy="34747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80" b="1">
                <a:solidFill>
                  <a:srgbClr val="3884FF"/>
                </a:solidFill>
                <a:latin typeface="Microsoft YaHei"/>
              </a:defRPr>
            </a:pPr>
            <a:r>
              <a:t>追问绑定：目标能力 + 证据缺口 + 具体场景 + 行动结果 + 补证据计划。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5577840"/>
            <a:ext cx="841248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600" b="1">
                <a:solidFill>
                  <a:srgbClr val="0F172A"/>
                </a:solidFill>
                <a:latin typeface="Microsoft YaHei"/>
              </a:defRPr>
            </a:pPr>
            <a:r>
              <a:t>这也是后续 SFT 任务的核心：让模型学会“证据约束追问”。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Agent Trace：每一步都有输入、输出和边界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A3B9D1"/>
                </a:solidFill>
                <a:latin typeface="Microsoft YaHei"/>
              </a:defRPr>
            </a:pPr>
            <a:r>
              <a:t>三岗位沙盘展示的是可追溯链路，不是伪装成真实用户数据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1FD1C5"/>
                </a:solidFill>
                <a:latin typeface="Microsoft YaHei"/>
              </a:defRPr>
            </a:pPr>
            <a:r>
              <a:t>09 Trace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1645920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简历证据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161288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32888" y="1801368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926080" y="1417320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54096" y="1645920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岗位画像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9000" y="1161288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2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773168" y="1801368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166360" y="1417320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94376" y="1645920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能力差距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1161288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3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013448" y="1801368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406640" y="1417320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34656" y="1645920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简历润色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1161288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4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253728" y="1801368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646920" y="1417320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774936" y="1645920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面试追问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9840" y="1161288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5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1609344" y="2194560"/>
            <a:ext cx="8961120" cy="1097279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85800" y="3291839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3816" y="3520439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报告摘要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88720" y="3035807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6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532888" y="3675887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26080" y="3291839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054096" y="3520439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学习任务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29000" y="3035807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7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773168" y="3675887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66360" y="3291839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294376" y="3520439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数据治理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0" y="3035807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8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013448" y="3675887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06640" y="3291839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34656" y="3520439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Eval Preview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909560" y="3035807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9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253728" y="3675887"/>
            <a:ext cx="393192" cy="0"/>
          </a:xfrm>
          <a:prstGeom prst="line">
            <a:avLst/>
          </a:prstGeom>
          <a:ln w="12700">
            <a:solidFill>
              <a:srgbClr val="33829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9646920" y="3291839"/>
            <a:ext cx="1847088" cy="77724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774936" y="3520439"/>
            <a:ext cx="1591056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250" b="1">
                <a:solidFill>
                  <a:srgbClr val="FFFFFF"/>
                </a:solidFill>
                <a:latin typeface="Microsoft YaHei"/>
              </a:defRPr>
            </a:pPr>
            <a:r>
              <a:t>SFT Preview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9840" y="3035807"/>
            <a:ext cx="82296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80" b="1">
                <a:solidFill>
                  <a:srgbClr val="1FD1C5"/>
                </a:solidFill>
                <a:latin typeface="Microsoft YaHei"/>
              </a:defRPr>
            </a:pPr>
            <a:r>
              <a:t>Step 10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14400" y="550468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22C55E"/>
                </a:solidFill>
                <a:latin typeface="Microsoft YaHei"/>
              </a:defRPr>
            </a:pPr>
            <a:r>
              <a:t>C1 Python 后端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246120" y="550468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1FD1C5"/>
                </a:solidFill>
                <a:latin typeface="Microsoft YaHei"/>
              </a:defRPr>
            </a:pPr>
            <a:r>
              <a:t>C2 产品助理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32120" y="5504688"/>
            <a:ext cx="18288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00" b="1">
                <a:solidFill>
                  <a:srgbClr val="3884FF"/>
                </a:solidFill>
                <a:latin typeface="Microsoft YaHei"/>
              </a:defRPr>
            </a:pPr>
            <a:r>
              <a:t>C3 人力资源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925312"/>
            <a:ext cx="886968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40" b="1">
                <a:solidFill>
                  <a:srgbClr val="FFFFFF"/>
                </a:solidFill>
                <a:latin typeface="Microsoft YaHei"/>
              </a:defRPr>
            </a:pPr>
            <a:r>
              <a:t>统一标记：sample_origin=demo_constructed，for_training=false，for_competition_demo=true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rPr sz="2500">
                <a:latin typeface="Microsoft YaHei"/>
              </a:rPr>
              <a:t>Eval Preview：七维 35 分评分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rPr sz="1100">
                <a:latin typeface="Microsoft YaHei"/>
              </a:rPr>
              <a:t>用于展示评估方法：baseline 是规则基线，不是真实模型实测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10 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75488" y="1325880"/>
            <a:ext cx="868680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" y="1431036"/>
            <a:ext cx="832103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case</a:t>
            </a:r>
          </a:p>
        </p:txBody>
      </p:sp>
      <p:sp>
        <p:nvSpPr>
          <p:cNvPr id="9" name="Rectangle 8"/>
          <p:cNvSpPr/>
          <p:nvPr/>
        </p:nvSpPr>
        <p:spPr>
          <a:xfrm>
            <a:off x="1344168" y="1325880"/>
            <a:ext cx="1993392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62456" y="1431036"/>
            <a:ext cx="195681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variant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37560" y="1325880"/>
            <a:ext cx="713232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55848" y="1431036"/>
            <a:ext cx="67665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focus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50791" y="1325880"/>
            <a:ext cx="822960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69079" y="1431036"/>
            <a:ext cx="786384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evidence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73752" y="1325880"/>
            <a:ext cx="685800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892040" y="1431036"/>
            <a:ext cx="649224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depth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59552" y="1325880"/>
            <a:ext cx="713232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577840" y="1431036"/>
            <a:ext cx="67665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polish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72783" y="1325880"/>
            <a:ext cx="594360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291071" y="1431036"/>
            <a:ext cx="557784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role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67144" y="1325880"/>
            <a:ext cx="713232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85431" y="1431036"/>
            <a:ext cx="676656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format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0376" y="1325880"/>
            <a:ext cx="685800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98664" y="1431036"/>
            <a:ext cx="649224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report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66175" y="1325880"/>
            <a:ext cx="731520" cy="347472"/>
          </a:xfrm>
          <a:prstGeom prst="rect">
            <a:avLst/>
          </a:prstGeom>
          <a:solidFill>
            <a:srgbClr val="06162D"/>
          </a:solidFill>
          <a:ln w="10160">
            <a:solidFill>
              <a:srgbClr val="0616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84463" y="1431036"/>
            <a:ext cx="694944" cy="10972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90" b="1">
                <a:solidFill>
                  <a:srgbClr val="FFFFFF"/>
                </a:solidFill>
                <a:latin typeface="Microsoft YaHei"/>
              </a:defRPr>
            </a:pPr>
            <a:r>
              <a:t>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75488" y="1673352"/>
            <a:ext cx="8686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93776" y="1755648"/>
            <a:ext cx="832103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python</a:t>
            </a:r>
            <a:br/>
            <a:r>
              <a:t>backend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344168" y="1673352"/>
            <a:ext cx="199339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362456" y="1755648"/>
            <a:ext cx="19568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baseline</a:t>
            </a:r>
            <a:br/>
            <a:r>
              <a:t>prompt</a:t>
            </a:r>
            <a:br/>
            <a:r>
              <a:t>preview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37560" y="1673352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55848" y="1755648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050791" y="1673352"/>
            <a:ext cx="8229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69079" y="1755648"/>
            <a:ext cx="7863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73752" y="1673352"/>
            <a:ext cx="6858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92040" y="1755648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559552" y="1673352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577840" y="1755648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72783" y="1673352"/>
            <a:ext cx="5943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91071" y="1755648"/>
            <a:ext cx="5577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867144" y="1673352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85431" y="1755648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0376" y="1673352"/>
            <a:ext cx="6858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98664" y="1755648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266175" y="1673352"/>
            <a:ext cx="7315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84463" y="1755648"/>
            <a:ext cx="69494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19/35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75488" y="2020824"/>
            <a:ext cx="86868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93776" y="2103120"/>
            <a:ext cx="832103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python</a:t>
            </a:r>
            <a:br/>
            <a:r>
              <a:t>backend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44168" y="2020824"/>
            <a:ext cx="199339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1362456" y="2103120"/>
            <a:ext cx="19568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agent</a:t>
            </a:r>
            <a:br/>
            <a:r>
              <a:t>optimized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37560" y="2020824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55848" y="2103120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050791" y="2020824"/>
            <a:ext cx="82296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069079" y="2103120"/>
            <a:ext cx="7863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873752" y="2020824"/>
            <a:ext cx="68580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892040" y="2103120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559552" y="2020824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577840" y="2103120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72783" y="2020824"/>
            <a:ext cx="59436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291071" y="2103120"/>
            <a:ext cx="5577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867144" y="2020824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885431" y="2103120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0376" y="2020824"/>
            <a:ext cx="68580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598664" y="2103120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266175" y="2020824"/>
            <a:ext cx="73152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84463" y="2103120"/>
            <a:ext cx="69494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22C55E"/>
                </a:solidFill>
                <a:latin typeface="Microsoft YaHei"/>
              </a:defRPr>
            </a:pPr>
            <a:r>
              <a:t>34/35</a:t>
            </a:r>
          </a:p>
        </p:txBody>
      </p:sp>
      <p:sp>
        <p:nvSpPr>
          <p:cNvPr id="67" name="Rectangle 66"/>
          <p:cNvSpPr/>
          <p:nvPr/>
        </p:nvSpPr>
        <p:spPr>
          <a:xfrm>
            <a:off x="475488" y="2368296"/>
            <a:ext cx="8686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93776" y="2450591"/>
            <a:ext cx="832103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product</a:t>
            </a:r>
            <a:br/>
            <a:r>
              <a:t>assistant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344168" y="2368296"/>
            <a:ext cx="199339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362456" y="2450591"/>
            <a:ext cx="19568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baseline</a:t>
            </a:r>
            <a:br/>
            <a:r>
              <a:t>prompt</a:t>
            </a:r>
            <a:br/>
            <a:r>
              <a:t>preview</a:t>
            </a:r>
          </a:p>
        </p:txBody>
      </p:sp>
      <p:sp>
        <p:nvSpPr>
          <p:cNvPr id="71" name="Rectangle 70"/>
          <p:cNvSpPr/>
          <p:nvPr/>
        </p:nvSpPr>
        <p:spPr>
          <a:xfrm>
            <a:off x="3337560" y="2368296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3355848" y="2450591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4050791" y="2368296"/>
            <a:ext cx="8229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069079" y="2450591"/>
            <a:ext cx="7863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73752" y="2368296"/>
            <a:ext cx="6858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4892040" y="2450591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559552" y="2368296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577840" y="2450591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272783" y="2368296"/>
            <a:ext cx="5943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291071" y="2450591"/>
            <a:ext cx="5577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867144" y="2368296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6885431" y="2450591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0376" y="2368296"/>
            <a:ext cx="6858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598664" y="2450591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5" name="Rectangle 84"/>
          <p:cNvSpPr/>
          <p:nvPr/>
        </p:nvSpPr>
        <p:spPr>
          <a:xfrm>
            <a:off x="8266175" y="2368296"/>
            <a:ext cx="7315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8284463" y="2450591"/>
            <a:ext cx="69494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19/35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475488" y="2715768"/>
            <a:ext cx="86868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493776" y="2798063"/>
            <a:ext cx="832103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product</a:t>
            </a:r>
            <a:br/>
            <a:r>
              <a:t>assistant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344168" y="2715768"/>
            <a:ext cx="199339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362456" y="2798063"/>
            <a:ext cx="19568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agent</a:t>
            </a:r>
            <a:br/>
            <a:r>
              <a:t>optimized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3337560" y="2715768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3355848" y="2798063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3" name="Rectangle 92"/>
          <p:cNvSpPr/>
          <p:nvPr/>
        </p:nvSpPr>
        <p:spPr>
          <a:xfrm>
            <a:off x="4050791" y="2715768"/>
            <a:ext cx="82296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069079" y="2798063"/>
            <a:ext cx="7863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873752" y="2715768"/>
            <a:ext cx="68580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892040" y="2798063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559552" y="2715768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577840" y="2798063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272783" y="2715768"/>
            <a:ext cx="59436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291071" y="2798063"/>
            <a:ext cx="5577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6867144" y="2715768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6885431" y="2798063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7580376" y="2715768"/>
            <a:ext cx="68580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598664" y="2798063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8266175" y="2715768"/>
            <a:ext cx="73152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8284463" y="2798063"/>
            <a:ext cx="69494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22C55E"/>
                </a:solidFill>
                <a:latin typeface="Microsoft YaHei"/>
              </a:defRPr>
            </a:pPr>
            <a:r>
              <a:t>34/35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475488" y="3063239"/>
            <a:ext cx="86868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493776" y="3145535"/>
            <a:ext cx="832103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hr</a:t>
            </a:r>
            <a:br/>
            <a:r>
              <a:t>specialist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344168" y="3063239"/>
            <a:ext cx="199339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362456" y="3145535"/>
            <a:ext cx="19568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baseline</a:t>
            </a:r>
            <a:br/>
            <a:r>
              <a:t>prompt</a:t>
            </a:r>
            <a:br/>
            <a:r>
              <a:t>preview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3337560" y="3063239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3355848" y="3145535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4050791" y="3063239"/>
            <a:ext cx="8229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4069079" y="3145535"/>
            <a:ext cx="7863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4873752" y="3063239"/>
            <a:ext cx="6858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892040" y="3145535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5559552" y="3063239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5577840" y="3145535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6272783" y="3063239"/>
            <a:ext cx="59436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6291071" y="3145535"/>
            <a:ext cx="5577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6867144" y="3063239"/>
            <a:ext cx="713232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885431" y="3145535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580376" y="3063239"/>
            <a:ext cx="68580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598664" y="3145535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8266175" y="3063239"/>
            <a:ext cx="731520" cy="347472"/>
          </a:xfrm>
          <a:prstGeom prst="rect">
            <a:avLst/>
          </a:prstGeom>
          <a:solidFill>
            <a:srgbClr val="F8FAFC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8284463" y="3145535"/>
            <a:ext cx="69494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19/35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75488" y="3410712"/>
            <a:ext cx="86868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93776" y="3493008"/>
            <a:ext cx="832103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hr</a:t>
            </a:r>
            <a:br/>
            <a:r>
              <a:t>specialist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1344168" y="3410712"/>
            <a:ext cx="199339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1362456" y="3493008"/>
            <a:ext cx="195681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0F172A"/>
                </a:solidFill>
                <a:latin typeface="Microsoft YaHei"/>
              </a:defRPr>
            </a:pPr>
            <a:r>
              <a:t>agent</a:t>
            </a:r>
            <a:br/>
            <a:r>
              <a:t>optimized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3337560" y="3410712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3355848" y="3493008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050791" y="3410712"/>
            <a:ext cx="82296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4069079" y="3493008"/>
            <a:ext cx="7863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4873752" y="3410712"/>
            <a:ext cx="68580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4892040" y="3493008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559552" y="3410712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577840" y="3493008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272783" y="3410712"/>
            <a:ext cx="59436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6291071" y="3493008"/>
            <a:ext cx="55778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6867144" y="3410712"/>
            <a:ext cx="713232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6885431" y="3493008"/>
            <a:ext cx="676656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7580376" y="3410712"/>
            <a:ext cx="68580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7598664" y="3493008"/>
            <a:ext cx="64922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0">
                <a:solidFill>
                  <a:srgbClr val="0F172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8266175" y="3410712"/>
            <a:ext cx="731520" cy="347472"/>
          </a:xfrm>
          <a:prstGeom prst="rect">
            <a:avLst/>
          </a:prstGeom>
          <a:solidFill>
            <a:srgbClr val="F0FDFA"/>
          </a:solidFill>
          <a:ln w="1016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8284463" y="3493008"/>
            <a:ext cx="694944" cy="146304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660" b="1">
                <a:solidFill>
                  <a:srgbClr val="22C55E"/>
                </a:solidFill>
                <a:latin typeface="Microsoft YaHei"/>
              </a:defRPr>
            </a:pPr>
            <a:r>
              <a:t>34/35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2286000" y="5074920"/>
            <a:ext cx="14630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3200" b="1">
                <a:solidFill>
                  <a:srgbClr val="64748B"/>
                </a:solidFill>
                <a:latin typeface="Microsoft YaHei"/>
              </a:defRPr>
            </a:pPr>
            <a:r>
              <a:t>19/35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645920" y="5623560"/>
            <a:ext cx="265176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baseline_prompt_preview</a:t>
            </a:r>
          </a:p>
        </p:txBody>
      </p:sp>
      <p:cxnSp>
        <p:nvCxnSpPr>
          <p:cNvPr id="149" name="Connector 148"/>
          <p:cNvCxnSpPr/>
          <p:nvPr/>
        </p:nvCxnSpPr>
        <p:spPr>
          <a:xfrm>
            <a:off x="4434840" y="5358384"/>
            <a:ext cx="1463040" cy="0"/>
          </a:xfrm>
          <a:prstGeom prst="line">
            <a:avLst/>
          </a:prstGeom>
          <a:ln w="2540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6172200" y="5074920"/>
            <a:ext cx="1463040" cy="5029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3200" b="1">
                <a:solidFill>
                  <a:srgbClr val="22C55E"/>
                </a:solidFill>
                <a:latin typeface="Microsoft YaHei"/>
              </a:defRPr>
            </a:pPr>
            <a:r>
              <a:t>34/35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5650992" y="5623560"/>
            <a:ext cx="251460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00" b="0">
                <a:solidFill>
                  <a:srgbClr val="22C55E"/>
                </a:solidFill>
                <a:latin typeface="Microsoft YaHei"/>
              </a:defRPr>
            </a:pPr>
            <a:r>
              <a:t>agent_optimized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960120" y="6144768"/>
            <a:ext cx="102870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040" b="1">
                <a:solidFill>
                  <a:srgbClr val="EF4444"/>
                </a:solidFill>
                <a:latin typeface="Microsoft YaHei"/>
              </a:defRPr>
            </a:pPr>
            <a:r>
              <a:t>Preview 规则评分，仅证明评估框架和演示链路；不代表真实 holdout eval 或 微调模型 结果。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99669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rPr sz="2500">
                <a:latin typeface="Microsoft YaHei"/>
              </a:rPr>
              <a:t>SFT Preview：后训练数据结构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96012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rPr sz="1100">
                <a:latin typeface="Microsoft YaHei"/>
              </a:rPr>
              <a:t>当前是 preview/demo 数据结构，不是已上传 OpenAI 的真实训练集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11 SFT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21488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800" b="1">
                <a:solidFill>
                  <a:srgbClr val="3884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2148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demo_constructed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1417320"/>
            <a:ext cx="21488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800" b="1">
                <a:solidFill>
                  <a:srgbClr val="EF4444"/>
                </a:solidFill>
                <a:latin typeface="Microsoft YaHei"/>
              </a:defRPr>
            </a:pPr>
            <a: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965960"/>
            <a:ext cx="2148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real_authorized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63640" y="1417320"/>
            <a:ext cx="21488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63640" y="1965960"/>
            <a:ext cx="2148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train_preview_records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52559" y="1417320"/>
            <a:ext cx="2148840" cy="47548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800" b="1">
                <a:solidFill>
                  <a:srgbClr val="F59E0B"/>
                </a:solidFill>
                <a:latin typeface="Microsoft YaHei"/>
              </a:defRPr>
            </a:pPr>
            <a:r>
              <a:t>false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59" y="1965960"/>
            <a:ext cx="214884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950" b="0">
                <a:solidFill>
                  <a:srgbClr val="64748B"/>
                </a:solidFill>
                <a:latin typeface="Microsoft YaHei"/>
              </a:defRPr>
            </a:pPr>
            <a:r>
              <a:t>ready_for_real_training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8" y="2788920"/>
            <a:ext cx="10771632" cy="2011680"/>
          </a:xfrm>
          <a:prstGeom prst="roundRect">
            <a:avLst/>
          </a:prstGeom>
          <a:solidFill>
            <a:srgbClr val="0F172A"/>
          </a:solidFill>
          <a:ln w="10160">
            <a:solidFill>
              <a:srgbClr val="1E40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3063240"/>
            <a:ext cx="10195560" cy="1325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80" b="0">
                <a:solidFill>
                  <a:srgbClr val="D9F9FA"/>
                </a:solidFill>
                <a:latin typeface="Consolas"/>
              </a:defRPr>
            </a:pPr>
            <a:r>
              <a:t>{"messages":[{"role":"developer","content":"证据约束追问"},{"role":"user","content":"能力缺口:</a:t>
            </a:r>
            <a:br/>
            <a:r>
              <a:t>Redis missing"},{"role":"assistant","content":"请说明真实场景、职责、行动、结果；没有经历则给补证据计划"}],"metada</a:t>
            </a:r>
            <a:br/>
            <a:r>
              <a:t>ta":{"sample_origin":"demo_constructed","for_training":false}}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266944"/>
            <a:ext cx="10424160" cy="6400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220">
                <a:solidFill>
                  <a:srgbClr val="0F172A"/>
                </a:solidFill>
                <a:latin typeface="Microsoft YaHei"/>
              </a:defRPr>
            </a:pPr>
            <a:r>
              <a:t>• 真实训练前必须满足：真实授权样本 ≥ 3，总样本 ≥ 10，人工复核通过，无 PII，官方 OpenAI Key 和可微调模型。</a:t>
            </a:r>
          </a:p>
          <a:p>
            <a:pPr>
              <a:spcAft>
                <a:spcPts val="600"/>
              </a:spcAft>
              <a:defRPr sz="1220">
                <a:solidFill>
                  <a:srgbClr val="0F172A"/>
                </a:solidFill>
                <a:latin typeface="Microsoft YaHei"/>
              </a:defRPr>
            </a:pPr>
            <a:r>
              <a:t>• 当前 dry-run 按预期拒绝创建 job：真实授权样本不足。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隐私与数据治理：授权优先，样本准入 fail-closed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不同意数据贡献不影响核心功能，但不能进入人工评分沉淀和训练/评测样本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12 治理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Chevron 6"/>
          <p:cNvSpPr/>
          <p:nvPr/>
        </p:nvSpPr>
        <p:spPr>
          <a:xfrm>
            <a:off x="548640" y="2148840"/>
            <a:ext cx="1417320" cy="914400"/>
          </a:xfrm>
          <a:prstGeom prst="chevron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基础协议</a:t>
            </a:r>
          </a:p>
        </p:txBody>
      </p:sp>
      <p:sp>
        <p:nvSpPr>
          <p:cNvPr id="9" name="Chevron 8"/>
          <p:cNvSpPr/>
          <p:nvPr/>
        </p:nvSpPr>
        <p:spPr>
          <a:xfrm>
            <a:off x="2194560" y="2148840"/>
            <a:ext cx="1417320" cy="914400"/>
          </a:xfrm>
          <a:prstGeom prst="chevron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6771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数据贡献</a:t>
            </a:r>
          </a:p>
        </p:txBody>
      </p:sp>
      <p:sp>
        <p:nvSpPr>
          <p:cNvPr id="11" name="Chevron 10"/>
          <p:cNvSpPr/>
          <p:nvPr/>
        </p:nvSpPr>
        <p:spPr>
          <a:xfrm>
            <a:off x="3840480" y="2148840"/>
            <a:ext cx="1417320" cy="914400"/>
          </a:xfrm>
          <a:prstGeom prst="chevron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1363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案例授权</a:t>
            </a:r>
          </a:p>
        </p:txBody>
      </p:sp>
      <p:sp>
        <p:nvSpPr>
          <p:cNvPr id="13" name="Chevron 12"/>
          <p:cNvSpPr/>
          <p:nvPr/>
        </p:nvSpPr>
        <p:spPr>
          <a:xfrm>
            <a:off x="5486400" y="2148840"/>
            <a:ext cx="1417320" cy="914400"/>
          </a:xfrm>
          <a:prstGeom prst="chevron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5955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去标识化</a:t>
            </a:r>
          </a:p>
        </p:txBody>
      </p:sp>
      <p:sp>
        <p:nvSpPr>
          <p:cNvPr id="15" name="Chevron 14"/>
          <p:cNvSpPr/>
          <p:nvPr/>
        </p:nvSpPr>
        <p:spPr>
          <a:xfrm>
            <a:off x="7132320" y="2148840"/>
            <a:ext cx="1417320" cy="914400"/>
          </a:xfrm>
          <a:prstGeom prst="chevron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0547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人工复核</a:t>
            </a:r>
          </a:p>
        </p:txBody>
      </p:sp>
      <p:sp>
        <p:nvSpPr>
          <p:cNvPr id="17" name="Chevron 16"/>
          <p:cNvSpPr/>
          <p:nvPr/>
        </p:nvSpPr>
        <p:spPr>
          <a:xfrm>
            <a:off x="8778240" y="2148840"/>
            <a:ext cx="1417320" cy="914400"/>
          </a:xfrm>
          <a:prstGeom prst="chevron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85139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PII 扫描</a:t>
            </a:r>
          </a:p>
        </p:txBody>
      </p:sp>
      <p:sp>
        <p:nvSpPr>
          <p:cNvPr id="19" name="Chevron 18"/>
          <p:cNvSpPr/>
          <p:nvPr/>
        </p:nvSpPr>
        <p:spPr>
          <a:xfrm>
            <a:off x="10424160" y="2148840"/>
            <a:ext cx="1417320" cy="914400"/>
          </a:xfrm>
          <a:prstGeom prst="chevron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97312" y="2395728"/>
            <a:ext cx="1078992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860" b="1">
                <a:solidFill>
                  <a:srgbClr val="FFFFFF"/>
                </a:solidFill>
                <a:latin typeface="Microsoft YaHei"/>
              </a:defRPr>
            </a:pPr>
            <a:r>
              <a:rPr sz="740">
                <a:latin typeface="Microsoft YaHei"/>
              </a:rPr>
              <a:t>SFT 准入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137160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3884FF"/>
                </a:solidFill>
                <a:latin typeface="Microsoft YaHei"/>
              </a:defRPr>
            </a:pPr>
            <a:r>
              <a:t>保留边界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91640" y="4114800"/>
            <a:ext cx="9326880" cy="109728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340">
                <a:solidFill>
                  <a:srgbClr val="0F172A"/>
                </a:solidFill>
                <a:latin typeface="Microsoft YaHei"/>
              </a:defRPr>
            </a:pPr>
            <a:r>
              <a:t>• “去标识化/脱敏”不等于完全匿名化。</a:t>
            </a:r>
          </a:p>
          <a:p>
            <a:pPr>
              <a:spcAft>
                <a:spcPts val="600"/>
              </a:spcAft>
              <a:defRPr sz="1340">
                <a:solidFill>
                  <a:srgbClr val="0F172A"/>
                </a:solidFill>
                <a:latin typeface="Microsoft YaHei"/>
              </a:defRPr>
            </a:pPr>
            <a:r>
              <a:t>• 可保留学校、专业、项目经历、技能、岗位、问答和评分，用于保持诊断质量。</a:t>
            </a:r>
          </a:p>
          <a:p>
            <a:pPr>
              <a:spcAft>
                <a:spcPts val="600"/>
              </a:spcAft>
              <a:defRPr sz="1340">
                <a:solidFill>
                  <a:srgbClr val="0F172A"/>
                </a:solidFill>
                <a:latin typeface="Microsoft YaHei"/>
              </a:defRPr>
            </a:pPr>
            <a:r>
              <a:t>• 删除或遮挡姓名、手机号、邮箱、证件号、学号、详细住址、原始文件名等直接标识。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生产口径：未授权、未复核、含 PII、样本不足或 job 不匹配的数据，不能进入真实训练。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工程完成度：从演示页到训练门禁都已代码级收口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阶段 159-164 已完成本地测试；服务器需拉取最新提交后重新验收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13 完成度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1546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581912"/>
            <a:ext cx="2651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Vue 用户端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92808"/>
            <a:ext cx="2788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Microsoft YaHei"/>
              </a:defRPr>
            </a:pPr>
            <a:r>
              <a:t>/competition/agent-trace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417320"/>
            <a:ext cx="31546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581912"/>
            <a:ext cx="2651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Vue 后台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1892808"/>
            <a:ext cx="2788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Microsoft YaHei"/>
              </a:defRPr>
            </a:pPr>
            <a:r>
              <a:t>EvaluationDatasets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417320"/>
            <a:ext cx="31546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581912"/>
            <a:ext cx="2651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1892808"/>
            <a:ext cx="2788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Microsoft YaHei"/>
              </a:defRPr>
            </a:pPr>
            <a:r>
              <a:t>Competition API / SFT scripts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743200"/>
            <a:ext cx="31546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2907792"/>
            <a:ext cx="2651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PostgreSQL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3218688"/>
            <a:ext cx="2788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Microsoft YaHei"/>
              </a:defRPr>
            </a:pPr>
            <a:r>
              <a:t>用户、简历、面试、评分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2743200"/>
            <a:ext cx="31546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2907792"/>
            <a:ext cx="2651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Redis / Celery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3218688"/>
            <a:ext cx="2788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Microsoft YaHei"/>
              </a:defRPr>
            </a:pPr>
            <a:r>
              <a:t>异步任务与健康检查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92440" y="2743200"/>
            <a:ext cx="3154680" cy="841248"/>
          </a:xfrm>
          <a:prstGeom prst="roundRect">
            <a:avLst/>
          </a:prstGeom>
          <a:solidFill>
            <a:srgbClr val="FFFFFF"/>
          </a:solidFill>
          <a:ln w="1016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57031" y="2907792"/>
            <a:ext cx="265176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400" b="1">
                <a:solidFill>
                  <a:srgbClr val="0F172A"/>
                </a:solidFill>
                <a:latin typeface="Microsoft YaHei"/>
              </a:defRPr>
            </a:pPr>
            <a:r>
              <a:t>Docker Compose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57031" y="3218688"/>
            <a:ext cx="2788920" cy="1828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940" b="0">
                <a:solidFill>
                  <a:srgbClr val="64748B"/>
                </a:solidFill>
                <a:latin typeface="Microsoft YaHei"/>
              </a:defRPr>
            </a:pPr>
            <a:r>
              <a:t>完整生产栈部署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4617720"/>
            <a:ext cx="1188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1">
                <a:solidFill>
                  <a:srgbClr val="3884FF"/>
                </a:solidFill>
                <a:latin typeface="Microsoft YaHei"/>
              </a:defRPr>
            </a:pPr>
            <a:r>
              <a:t>本地验证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590288"/>
            <a:ext cx="9509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20" b="1">
                <a:solidFill>
                  <a:srgbClr val="0F172A"/>
                </a:solidFill>
                <a:latin typeface="Microsoft YaHei"/>
              </a:defRPr>
            </a:pPr>
            <a:r>
              <a:t>193 passed, 1 skipped · 前端/后台 build 通过 · generate_competition_assets 通过 · SFT dry-run 按门禁拒绝真实训练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" y="5230368"/>
            <a:ext cx="1188720" cy="2743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Microsoft YaHei"/>
              </a:defRPr>
            </a:pPr>
            <a:r>
              <a:t>部署边界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28800" y="5212080"/>
            <a:ext cx="950976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220" b="1">
                <a:solidFill>
                  <a:srgbClr val="0F172A"/>
                </a:solidFill>
                <a:latin typeface="Microsoft YaHei"/>
              </a:defRPr>
            </a:pPr>
            <a:r>
              <a:t>历史服务器 readiness 通过但当前最新阶段 159-164 仍需重新部署验收；本地 main 当前领先远端提交。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三个月补实路线：从 Preview 到真实评测和后训练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A3B9D1"/>
                </a:solidFill>
                <a:latin typeface="Microsoft YaHei"/>
              </a:defRPr>
            </a:pPr>
            <a:r>
              <a:t>赛前展示链路，赛后用真实授权样本补实模型效果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1FD1C5"/>
                </a:solidFill>
                <a:latin typeface="Microsoft YaHei"/>
              </a:defRPr>
            </a:pPr>
            <a:r>
              <a:t>14 路线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20" y="1828800"/>
            <a:ext cx="2971800" cy="297180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2148840"/>
            <a:ext cx="2286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000" b="1">
                <a:solidFill>
                  <a:srgbClr val="1FD1C5"/>
                </a:solidFill>
                <a:latin typeface="Microsoft YaHei"/>
              </a:defRPr>
            </a:pPr>
            <a:r>
              <a:t>第 1 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80360"/>
            <a:ext cx="233172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补 C1/C2/C3 真实闭环</a:t>
            </a:r>
            <a:br/>
            <a:r>
              <a:t>授权样本 + 人工评分 + holdout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931920" y="3310128"/>
            <a:ext cx="758952" cy="0"/>
          </a:xfrm>
          <a:prstGeom prst="line">
            <a:avLst/>
          </a:prstGeom>
          <a:ln w="2540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4690872" y="1828800"/>
            <a:ext cx="2971800" cy="297180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19472" y="2148840"/>
            <a:ext cx="2286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000" b="1">
                <a:solidFill>
                  <a:srgbClr val="1FD1C5"/>
                </a:solidFill>
                <a:latin typeface="Microsoft YaHei"/>
              </a:defRPr>
            </a:pPr>
            <a:r>
              <a:t>第 2 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2880360"/>
            <a:ext cx="233172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OpenAI SFT</a:t>
            </a:r>
            <a:br/>
            <a:r>
              <a:t>创建 job、取得 model id、跑 base 对比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7662671" y="3310128"/>
            <a:ext cx="758953" cy="0"/>
          </a:xfrm>
          <a:prstGeom prst="line">
            <a:avLst/>
          </a:prstGeom>
          <a:ln w="25400">
            <a:solidFill>
              <a:srgbClr val="1FD1C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21624" y="1828800"/>
            <a:ext cx="2971800" cy="2971800"/>
          </a:xfrm>
          <a:prstGeom prst="roundRect">
            <a:avLst/>
          </a:prstGeom>
          <a:solidFill>
            <a:srgbClr val="0D3756"/>
          </a:solidFill>
          <a:ln w="10160">
            <a:solidFill>
              <a:srgbClr val="1FD1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50224" y="2148840"/>
            <a:ext cx="228600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2000" b="1">
                <a:solidFill>
                  <a:srgbClr val="1FD1C5"/>
                </a:solidFill>
                <a:latin typeface="Microsoft YaHei"/>
              </a:defRPr>
            </a:pPr>
            <a:r>
              <a:t>第 3 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41664" y="2880360"/>
            <a:ext cx="2331720" cy="96012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DPO / QLoRA</a:t>
            </a:r>
            <a:br/>
            <a:r>
              <a:t>偏好样本与开源模型私有化验证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760720"/>
            <a:ext cx="10149840" cy="32004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ctr">
              <a:defRPr sz="1350" b="1">
                <a:solidFill>
                  <a:srgbClr val="FFFFFF"/>
                </a:solidFill>
                <a:latin typeface="Microsoft YaHei"/>
              </a:defRPr>
            </a:pPr>
            <a:r>
              <a:t>里程碑口径：只有 job succeeded 且 OpenAI 返回 官方微调模型 ID 后，才允许写“已完成真实 OpenAI SFT 实验”。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备答：和 ChatGPT 通用问答有什么区别？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区别不在模型名字，而在任务拆解、证据约束和数据闭环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备答 1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0584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ChatGPT 通用问答：自由聊天、自由生成、难追溯依据。</a:t>
            </a:r>
          </a:p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职启智评：岗位画像、证据状态、能力缺口、追问目标、报告和学习任务全链路绑定。</a:t>
            </a:r>
          </a:p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一句话：我们不是让大模型“聊面试”，而是把就业诊断拆成多 Agent 工作流。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备答原则：强势表达工程设计与 Preview 能力，严格区分真实训练、真实闭环和构造演示。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备答：为什么当前不宣称真实微调完成？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这是工程可信度问题，也是合规边界问题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备答 2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0584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当前完成：SFT-ready 样本结构、训练脚本、job 创建门禁、状态检查、eval 入口。</a:t>
            </a:r>
          </a:p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当前未完成：真实授权样本达标、OpenAI job 成功、官方微调模型 ID、真实 holdout eval。</a:t>
            </a:r>
          </a:p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安全表达：赛前版本完成后训练闭环工程化准备和演示级验证。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备答原则：强势表达工程设计与 Preview 能力，严格区分真实训练、真实闭环和构造演示。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Microsoft YaHei"/>
              </a:defRPr>
            </a:pPr>
            <a:r>
              <a:t>备答：数据授权与隐私边界如何处理？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64748B"/>
                </a:solidFill>
                <a:latin typeface="Microsoft YaHei"/>
              </a:defRPr>
            </a:pPr>
            <a:r>
              <a:t>基础服务必要处理与可选数据贡献分开，后者默认不勾选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3884FF"/>
                </a:solidFill>
                <a:latin typeface="Microsoft YaHei"/>
              </a:defRPr>
            </a:pPr>
            <a:r>
              <a:t>备答 3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38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0584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基础隐私协议用于核心服务必要处理。</a:t>
            </a:r>
          </a:p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可选数据贡献用于评测、比赛材料、质量改进和数据集沉淀；不同意不影响核心功能。</a:t>
            </a:r>
          </a:p>
          <a:p>
            <a:pPr>
              <a:spcAft>
                <a:spcPts val="600"/>
              </a:spcAft>
              <a:defRPr sz="1650">
                <a:solidFill>
                  <a:srgbClr val="0F172A"/>
                </a:solidFill>
                <a:latin typeface="Microsoft YaHei"/>
              </a:defRPr>
            </a:pPr>
            <a:r>
              <a:t>• 去标识化不等于完全匿名化；可保留学校、专业、项目经历、技能、岗位、问答和评分。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64748B"/>
                </a:solidFill>
                <a:latin typeface="Microsoft YaHei"/>
              </a:defRPr>
            </a:pPr>
            <a:r>
              <a:t>备答原则：强势表达工程设计与 Preview 能力，严格区分真实训练、真实闭环和构造演示。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6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10896"/>
            <a:ext cx="8595360" cy="41148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备答：评委高压问题的标准回答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86384"/>
            <a:ext cx="8412480" cy="256032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1050" b="0">
                <a:solidFill>
                  <a:srgbClr val="A3B9D1"/>
                </a:solidFill>
                <a:latin typeface="Microsoft YaHei"/>
              </a:defRPr>
            </a:pPr>
            <a:r>
              <a:t>所有回答都回到“当前真实状态 + 后续补实路径”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81160" y="338328"/>
            <a:ext cx="2331720" cy="228600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r">
              <a:defRPr sz="900" b="1">
                <a:solidFill>
                  <a:srgbClr val="1FD1C5"/>
                </a:solidFill>
                <a:latin typeface="Microsoft YaHei"/>
              </a:defRPr>
            </a:pPr>
            <a:r>
              <a:t>备答 4</a:t>
            </a:r>
          </a:p>
        </p:txBody>
      </p:sp>
      <p:sp>
        <p:nvSpPr>
          <p:cNvPr id="6" name="Rectangle 5"/>
          <p:cNvSpPr/>
          <p:nvPr/>
        </p:nvSpPr>
        <p:spPr>
          <a:xfrm>
            <a:off x="521207" y="1078992"/>
            <a:ext cx="960120" cy="27432"/>
          </a:xfrm>
          <a:prstGeom prst="rect">
            <a:avLst/>
          </a:prstGeom>
          <a:solidFill>
            <a:srgbClr val="1FD1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10058400" cy="3657600"/>
          </a:xfrm>
          <a:prstGeom prst="rect">
            <a:avLst/>
          </a:prstGeom>
          <a:noFill/>
        </p:spPr>
        <p:txBody>
          <a:bodyPr wrap="square" lIns="27432" rIns="27432">
            <a:spAutoFit/>
          </a:bodyPr>
          <a:lstStyle/>
          <a:p>
            <a:pPr>
              <a:spcAft>
                <a:spcPts val="600"/>
              </a:spcAft>
              <a:defRPr sz="1650">
                <a:solidFill>
                  <a:srgbClr val="FFFFFF"/>
                </a:solidFill>
                <a:latin typeface="Microsoft YaHei"/>
              </a:defRPr>
            </a:pPr>
            <a:r>
              <a:t>• Q：你们到底微调了吗？A：完成 SFT-ready 工程链路，真实训练需授权样本和复核达标。</a:t>
            </a:r>
          </a:p>
          <a:p>
            <a:pPr>
              <a:spcAft>
                <a:spcPts val="600"/>
              </a:spcAft>
              <a:defRPr sz="1650">
                <a:solidFill>
                  <a:srgbClr val="FFFFFF"/>
                </a:solidFill>
                <a:latin typeface="Microsoft YaHei"/>
              </a:defRPr>
            </a:pPr>
            <a:r>
              <a:t>• Q：Eval 34/35 是真实效果吗？A：不是，是 Preview 规则评分。</a:t>
            </a:r>
          </a:p>
          <a:p>
            <a:pPr>
              <a:spcAft>
                <a:spcPts val="600"/>
              </a:spcAft>
              <a:defRPr sz="1650">
                <a:solidFill>
                  <a:srgbClr val="FFFFFF"/>
                </a:solidFill>
                <a:latin typeface="Microsoft YaHei"/>
              </a:defRPr>
            </a:pPr>
            <a:r>
              <a:t>• Q：演示样本来自真实用户吗？A：不是，demo_constructed 且 for_training=false。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46520"/>
            <a:ext cx="11064240" cy="201168"/>
          </a:xfrm>
          <a:prstGeom prst="rect">
            <a:avLst/>
          </a:prstGeom>
          <a:noFill/>
        </p:spPr>
        <p:txBody>
          <a:bodyPr wrap="square" lIns="27432" rIns="27432" tIns="18288" bIns="18288" anchor="t">
            <a:spAutoFit/>
          </a:bodyPr>
          <a:lstStyle/>
          <a:p>
            <a:pPr algn="l">
              <a:defRPr sz="850" b="0">
                <a:solidFill>
                  <a:srgbClr val="A3B9D1"/>
                </a:solidFill>
                <a:latin typeface="Microsoft YaHei"/>
              </a:defRPr>
            </a:pPr>
            <a:r>
              <a:t>备答原则：强势表达工程设计与 Preview 能力，严格区分真实训练、真实闭环和构造演示。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职启智评 Career-AgentOS 人工智能创新赛答辩PPT</dc:title>
  <dc:subject/>
  <dc:creator>Codex</dc:creator>
  <cp:keywords/>
  <dc:description>Generated from current project state. Preview claims are explicitly bounded.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