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164592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4B8A6"/>
                </a:solidFill>
                <a:latin typeface="Microsoft YaHei"/>
              </a:rPr>
              <a:t>职启智评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5852160" cy="6583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Career-AgentOS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64792"/>
            <a:ext cx="4937760" cy="32918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多 Agent 就业能力诊断与训练平台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31136"/>
            <a:ext cx="658368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CBD5E1"/>
                </a:solidFill>
                <a:latin typeface="Microsoft YaHei"/>
              </a:rPr>
              <a:t>从简历证据到岗位画像，从模拟面试到 Eval/SFT-ready 数据闭环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834640"/>
            <a:ext cx="105156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894076"/>
            <a:ext cx="105156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证据约束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73936" y="2834640"/>
            <a:ext cx="1051560" cy="29260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73936" y="2894076"/>
            <a:ext cx="105156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多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80944" y="2834640"/>
            <a:ext cx="1051560" cy="2926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80944" y="2894076"/>
            <a:ext cx="105156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数据闭环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63840" y="731520"/>
            <a:ext cx="1371600" cy="274320"/>
          </a:xfrm>
          <a:prstGeom prst="line">
            <a:avLst/>
          </a:prstGeom>
          <a:ln w="1524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235440" y="1005840"/>
            <a:ext cx="914400" cy="822960"/>
          </a:xfrm>
          <a:prstGeom prst="line">
            <a:avLst/>
          </a:prstGeom>
          <a:ln w="1524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8961120" y="1828800"/>
            <a:ext cx="1188720" cy="685800"/>
          </a:xfrm>
          <a:prstGeom prst="line">
            <a:avLst/>
          </a:prstGeom>
          <a:ln w="1524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961120" y="2514600"/>
            <a:ext cx="1554480" cy="731520"/>
          </a:xfrm>
          <a:prstGeom prst="line">
            <a:avLst/>
          </a:prstGeom>
          <a:ln w="1524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9326880" y="3246120"/>
            <a:ext cx="1188720" cy="795528"/>
          </a:xfrm>
          <a:prstGeom prst="line">
            <a:avLst/>
          </a:prstGeom>
          <a:ln w="1524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326880" y="4041648"/>
            <a:ext cx="1371600" cy="850392"/>
          </a:xfrm>
          <a:prstGeom prst="line">
            <a:avLst/>
          </a:prstGeom>
          <a:ln w="1524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822692" y="690372"/>
            <a:ext cx="82296" cy="82296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94292" y="964692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08692" y="1787652"/>
            <a:ext cx="82296" cy="82296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19972" y="2473452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474452" y="3204972"/>
            <a:ext cx="82296" cy="82296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85732" y="4000500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657332" y="4850892"/>
            <a:ext cx="82296" cy="82296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166360"/>
            <a:ext cx="2743200" cy="23774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CBD5E1"/>
                </a:solidFill>
                <a:latin typeface="Microsoft YaHei"/>
              </a:rPr>
              <a:t>人工智能创新赛答辩版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37960"/>
            <a:ext cx="11155680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94A3B8"/>
                </a:solidFill>
                <a:latin typeface="Microsoft YaHei"/>
              </a:rPr>
              <a:t>2026.05.17 · 阶段 159-164 代码级收口后版本｜边界：展示 Career-AgentOS Preview 与 SFT-ready 门禁；不宣称真实 OpenAI SFT 已完成。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778240" cy="42062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0F172A"/>
                </a:solidFill>
                <a:latin typeface="Microsoft YaHei"/>
              </a:rPr>
              <a:t>背景痛点：求职准备缺的不是题库，而是闭环反馈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13232"/>
            <a:ext cx="9875520" cy="24688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Microsoft YaHei"/>
              </a:rPr>
              <a:t>学生、就业指导老师和训练系统之间缺少同一套证据口径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5640" y="320040"/>
            <a:ext cx="658368" cy="29260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379476"/>
            <a:ext cx="658368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01 痛点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297180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783080"/>
            <a:ext cx="77724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842516"/>
            <a:ext cx="77724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>痛点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04288"/>
            <a:ext cx="2331720" cy="32918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0F172A"/>
                </a:solidFill>
                <a:latin typeface="Microsoft YaHei"/>
              </a:rPr>
              <a:t>岗位看不清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07792"/>
            <a:ext cx="2423160" cy="7132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475569"/>
                </a:solidFill>
                <a:latin typeface="Microsoft YaHei"/>
              </a:rPr>
              <a:t>不知道目标岗位真正考什么能力，训练问题容易泛泛而谈。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45536" y="4005072"/>
            <a:ext cx="274320" cy="2743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2563EB"/>
                </a:solidFill>
                <a:latin typeface="Microsoft YaHei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508760"/>
            <a:ext cx="297180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90288" y="1783080"/>
            <a:ext cx="777240" cy="2926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1842516"/>
            <a:ext cx="77724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>痛点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04288"/>
            <a:ext cx="2331720" cy="32918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0F172A"/>
                </a:solidFill>
                <a:latin typeface="Microsoft YaHei"/>
              </a:rPr>
              <a:t>证据说不清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907792"/>
            <a:ext cx="2423160" cy="7132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475569"/>
                </a:solidFill>
                <a:latin typeface="Microsoft YaHei"/>
              </a:rPr>
              <a:t>简历写了很多“熟悉/参与”，但职责、行动和结果不可验证。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48856" y="4005072"/>
            <a:ext cx="274320" cy="2743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F59E0B"/>
                </a:solidFill>
                <a:latin typeface="Microsoft YaHei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5008" y="1508760"/>
            <a:ext cx="297180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93608" y="1783080"/>
            <a:ext cx="777240" cy="29260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1842516"/>
            <a:ext cx="77724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>痛点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304288"/>
            <a:ext cx="2331720" cy="32918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0F172A"/>
                </a:solidFill>
                <a:latin typeface="Microsoft YaHei"/>
              </a:rPr>
              <a:t>训练沉不下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907792"/>
            <a:ext cx="2423160" cy="7132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475569"/>
                </a:solidFill>
                <a:latin typeface="Microsoft YaHei"/>
              </a:rPr>
              <a:t>面试结束后缺少学习任务、复盘记录和人工评分沉淀。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52176" y="4005072"/>
            <a:ext cx="274320" cy="2743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22C55E"/>
                </a:solidFill>
                <a:latin typeface="Microsoft YaHei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832" y="5138928"/>
            <a:ext cx="10287000" cy="475488"/>
          </a:xfrm>
          <a:prstGeom prst="roundRect">
            <a:avLst/>
          </a:prstGeom>
          <a:solidFill>
            <a:srgbClr val="0C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294376"/>
            <a:ext cx="996696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答辩主张：把岗位要求、简历证据、训练追问、报告复盘和数据沉淀串成一条可评估链路。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37960"/>
            <a:ext cx="11155680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64748B"/>
                </a:solidFill>
                <a:latin typeface="Microsoft YaHei"/>
              </a:rPr>
              <a:t>评委看点：痛点不是“缺 AI”，而是缺证据口径、训练闭环和可沉淀数据。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778240" cy="42062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0F172A"/>
                </a:solidFill>
                <a:latin typeface="Microsoft YaHei"/>
              </a:rPr>
              <a:t>项目定位：从 AI 面试官升级为就业能力诊断闭环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13232"/>
            <a:ext cx="9875520" cy="24688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Microsoft YaHei"/>
              </a:rPr>
              <a:t>同一份简历，不只生成问题，还要解释证据、定位缺口、驱动训练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5640" y="320040"/>
            <a:ext cx="658368" cy="29260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379476"/>
            <a:ext cx="658368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02 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298448"/>
            <a:ext cx="2743200" cy="2743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475569"/>
                </a:solidFill>
                <a:latin typeface="Microsoft YaHei"/>
              </a:rPr>
              <a:t>普通 AI 面试官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298448"/>
            <a:ext cx="2834640" cy="2743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2563EB"/>
                </a:solidFill>
                <a:latin typeface="Microsoft YaHei"/>
              </a:rPr>
              <a:t>Career-AgentOS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329184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475569"/>
                </a:solidFill>
                <a:latin typeface="Microsoft YaHei"/>
              </a:rPr>
              <a:t>根据简历问几题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26280" y="1956816"/>
            <a:ext cx="2788920" cy="0"/>
          </a:xfrm>
          <a:prstGeom prst="line">
            <a:avLst/>
          </a:prstGeom>
          <a:ln w="1397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43800" y="1828800"/>
            <a:ext cx="365760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72A"/>
                </a:solidFill>
                <a:latin typeface="Microsoft YaHei"/>
              </a:rPr>
              <a:t>简历证据链 + 岗位画像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87168"/>
            <a:ext cx="329184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475569"/>
                </a:solidFill>
                <a:latin typeface="Microsoft YaHei"/>
              </a:rPr>
              <a:t>难解释为什么追问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26280" y="2615184"/>
            <a:ext cx="2788920" cy="0"/>
          </a:xfrm>
          <a:prstGeom prst="line">
            <a:avLst/>
          </a:prstGeom>
          <a:ln w="1397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543800" y="2487168"/>
            <a:ext cx="365760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72A"/>
                </a:solidFill>
                <a:latin typeface="Microsoft YaHei"/>
              </a:rPr>
              <a:t>每个追问绑定能力缺口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145535"/>
            <a:ext cx="329184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475569"/>
                </a:solidFill>
                <a:latin typeface="Microsoft YaHei"/>
              </a:rPr>
              <a:t>容易把岗位要求当经历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26280" y="3273551"/>
            <a:ext cx="2788920" cy="0"/>
          </a:xfrm>
          <a:prstGeom prst="line">
            <a:avLst/>
          </a:prstGeom>
          <a:ln w="1397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543800" y="3145535"/>
            <a:ext cx="365760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72A"/>
                </a:solidFill>
                <a:latin typeface="Microsoft YaHei"/>
              </a:rPr>
              <a:t>RAG 只做岗位参考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803903"/>
            <a:ext cx="329184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475569"/>
                </a:solidFill>
                <a:latin typeface="Microsoft YaHei"/>
              </a:rPr>
              <a:t>面试后缺少任务沉淀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26280" y="3931919"/>
            <a:ext cx="2788920" cy="0"/>
          </a:xfrm>
          <a:prstGeom prst="line">
            <a:avLst/>
          </a:prstGeom>
          <a:ln w="1397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543800" y="3803903"/>
            <a:ext cx="365760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72A"/>
                </a:solidFill>
                <a:latin typeface="Microsoft YaHei"/>
              </a:rPr>
              <a:t>报告、学习任务、复盘闭环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462271"/>
            <a:ext cx="329184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475569"/>
                </a:solidFill>
                <a:latin typeface="Microsoft YaHei"/>
              </a:rPr>
              <a:t>无法形成训练数据准入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26280" y="4590287"/>
            <a:ext cx="2788920" cy="0"/>
          </a:xfrm>
          <a:prstGeom prst="line">
            <a:avLst/>
          </a:prstGeom>
          <a:ln w="1397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543800" y="4462271"/>
            <a:ext cx="365760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72A"/>
                </a:solidFill>
                <a:latin typeface="Microsoft YaHei"/>
              </a:rPr>
              <a:t>授权、复核、PII 门禁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88920" y="5559552"/>
            <a:ext cx="6629400" cy="420624"/>
          </a:xfrm>
          <a:prstGeom prst="roundRect">
            <a:avLst/>
          </a:prstGeom>
          <a:solidFill>
            <a:srgbClr val="0C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07792" y="5696712"/>
            <a:ext cx="6400800" cy="12801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核心差异：可追溯、可约束、可复盘、教师可复核、数据可补实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37960"/>
            <a:ext cx="11155680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64748B"/>
                </a:solidFill>
                <a:latin typeface="Microsoft YaHei"/>
              </a:rPr>
              <a:t>边界：多 Agent 是应用层编排和治理，不宣称自研底层大模型。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778240" cy="42062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0F172A"/>
                </a:solidFill>
                <a:latin typeface="Microsoft YaHei"/>
              </a:rPr>
              <a:t>产品闭环：从简历到后训练数据的可追溯链路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13232"/>
            <a:ext cx="9875520" cy="24688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Microsoft YaHei"/>
              </a:rPr>
              <a:t>一条链路覆盖学生训练、老师复核和模型后续优化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5640" y="320040"/>
            <a:ext cx="658368" cy="29260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379476"/>
            <a:ext cx="658368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03 闭环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1572768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426464" cy="1188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0F172A"/>
                </a:solidFill>
                <a:latin typeface="Microsoft YaHei"/>
              </a:rPr>
              <a:t>简历解析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70432" y="1252728"/>
            <a:ext cx="38404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1312163"/>
            <a:ext cx="384048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57984" y="1792224"/>
            <a:ext cx="438912" cy="0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71216" y="1554480"/>
            <a:ext cx="1572768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44368" y="1709928"/>
            <a:ext cx="1426464" cy="1188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0F172A"/>
                </a:solidFill>
                <a:latin typeface="Microsoft YaHei"/>
              </a:rPr>
              <a:t>岗位画像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1252728"/>
            <a:ext cx="384048" cy="29260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312163"/>
            <a:ext cx="384048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462272" y="1792224"/>
            <a:ext cx="438912" cy="0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75504" y="1554480"/>
            <a:ext cx="1572768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48656" y="1709928"/>
            <a:ext cx="1426464" cy="1188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0F172A"/>
                </a:solidFill>
                <a:latin typeface="Microsoft YaHei"/>
              </a:rPr>
              <a:t>证据评分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79008" y="1252728"/>
            <a:ext cx="384048" cy="29260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79008" y="1312163"/>
            <a:ext cx="384048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766560" y="1792224"/>
            <a:ext cx="438912" cy="0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479792" y="1554480"/>
            <a:ext cx="1572768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2944" y="1709928"/>
            <a:ext cx="1426464" cy="1188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0F172A"/>
                </a:solidFill>
                <a:latin typeface="Microsoft YaHei"/>
              </a:rPr>
              <a:t>能力差距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83296" y="1252728"/>
            <a:ext cx="384048" cy="2926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83296" y="1312163"/>
            <a:ext cx="384048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070848" y="1792224"/>
            <a:ext cx="438912" cy="0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784080" y="1554480"/>
            <a:ext cx="1572768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7232" y="1709928"/>
            <a:ext cx="1426464" cy="1188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0F172A"/>
                </a:solidFill>
                <a:latin typeface="Microsoft YaHei"/>
              </a:rPr>
              <a:t>简历润色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87584" y="1252728"/>
            <a:ext cx="384048" cy="29260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87584" y="1312163"/>
            <a:ext cx="384048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2880360"/>
            <a:ext cx="1572768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035808"/>
            <a:ext cx="1426464" cy="1188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0F172A"/>
                </a:solidFill>
                <a:latin typeface="Microsoft YaHei"/>
              </a:rPr>
              <a:t>面试追问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70432" y="2578608"/>
            <a:ext cx="38404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70432" y="2638044"/>
            <a:ext cx="384048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157984" y="3118104"/>
            <a:ext cx="438912" cy="0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2871216" y="2880360"/>
            <a:ext cx="1572768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44368" y="3035808"/>
            <a:ext cx="1426464" cy="1188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0F172A"/>
                </a:solidFill>
                <a:latin typeface="Microsoft YaHei"/>
              </a:rPr>
              <a:t>报告复盘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74720" y="2578608"/>
            <a:ext cx="384048" cy="29260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0" y="2638044"/>
            <a:ext cx="384048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>7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462272" y="3118104"/>
            <a:ext cx="438912" cy="0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175504" y="2880360"/>
            <a:ext cx="1572768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48656" y="3035808"/>
            <a:ext cx="1426464" cy="1188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0F172A"/>
                </a:solidFill>
                <a:latin typeface="Microsoft YaHei"/>
              </a:rPr>
              <a:t>学习任务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779008" y="2578608"/>
            <a:ext cx="384048" cy="29260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79008" y="2638044"/>
            <a:ext cx="384048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>8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766560" y="3118104"/>
            <a:ext cx="438912" cy="0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7479792" y="2880360"/>
            <a:ext cx="1572768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3035808"/>
            <a:ext cx="1426464" cy="1188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0F172A"/>
                </a:solidFill>
                <a:latin typeface="Microsoft YaHei"/>
              </a:rPr>
              <a:t>数据治理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83296" y="2578608"/>
            <a:ext cx="384048" cy="29260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83296" y="2638044"/>
            <a:ext cx="384048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>9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070848" y="3118104"/>
            <a:ext cx="438912" cy="0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9784080" y="2880360"/>
            <a:ext cx="1572768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857232" y="3035808"/>
            <a:ext cx="1426464" cy="1188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0F172A"/>
                </a:solidFill>
                <a:latin typeface="Microsoft YaHei"/>
              </a:rPr>
              <a:t>Eval/SFT Preview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387584" y="2578608"/>
            <a:ext cx="384048" cy="2926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87584" y="2638044"/>
            <a:ext cx="384048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>10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60120" y="4800600"/>
            <a:ext cx="10195560" cy="65836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15568" y="5020056"/>
            <a:ext cx="9875520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0F172A"/>
                </a:solidFill>
                <a:latin typeface="Microsoft YaHei"/>
              </a:rPr>
              <a:t>统一口径：resume_evaluation_snapshot 贯穿诊断、润色、面试、报告、学习任务；数据治理执行授权/复核/PII gate。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537960"/>
            <a:ext cx="11155680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64748B"/>
                </a:solidFill>
                <a:latin typeface="Microsoft YaHei"/>
              </a:rPr>
              <a:t>评委看点：这不是单点聊天功能，而是可验收、可追溯、可持续补实的数据闭环。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778240" cy="42062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Career-AgentOS：OPC 总控 + 13 个专业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13232"/>
            <a:ext cx="9875520" cy="24688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94A3B8"/>
                </a:solidFill>
                <a:latin typeface="Microsoft YaHei"/>
              </a:rPr>
              <a:t>按任务层分工，而不是把所有能力塞进一个 Prompt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5640" y="320040"/>
            <a:ext cx="658368" cy="29260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379476"/>
            <a:ext cx="658368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04 架构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2423160" cy="786384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83480" y="1371600"/>
            <a:ext cx="2240280" cy="43891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051422"/>
                </a:solidFill>
                <a:latin typeface="Microsoft YaHei"/>
              </a:rPr>
              <a:t>OPC</a:t>
            </a:r>
            <a:br/>
            <a:r>
              <a:rPr sz="1800" b="1">
                <a:solidFill>
                  <a:srgbClr val="051422"/>
                </a:solidFill>
                <a:latin typeface="Microsoft YaHei"/>
              </a:rPr>
              <a:t>总控编排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514600"/>
            <a:ext cx="228600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诊断层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80360"/>
            <a:ext cx="2331720" cy="2377440"/>
          </a:xfrm>
          <a:prstGeom prst="roundRect">
            <a:avLst/>
          </a:prstGeom>
          <a:solidFill>
            <a:srgbClr val="08253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3127248"/>
            <a:ext cx="1901952" cy="274320"/>
          </a:xfrm>
          <a:prstGeom prst="roundRect">
            <a:avLst/>
          </a:prstGeom>
          <a:solidFill>
            <a:srgbClr val="0C1F30"/>
          </a:solidFill>
          <a:ln w="12700">
            <a:solidFill>
              <a:srgbClr val="1E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00400"/>
            <a:ext cx="1810512" cy="10972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</a:rPr>
              <a:t>简历证据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566160"/>
            <a:ext cx="1901952" cy="274320"/>
          </a:xfrm>
          <a:prstGeom prst="roundRect">
            <a:avLst/>
          </a:prstGeom>
          <a:solidFill>
            <a:srgbClr val="0C1F30"/>
          </a:solidFill>
          <a:ln w="12700">
            <a:solidFill>
              <a:srgbClr val="1E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639312"/>
            <a:ext cx="1810512" cy="10972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</a:rPr>
              <a:t>岗位画像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005072"/>
            <a:ext cx="1901952" cy="274320"/>
          </a:xfrm>
          <a:prstGeom prst="roundRect">
            <a:avLst/>
          </a:prstGeom>
          <a:solidFill>
            <a:srgbClr val="0C1F30"/>
          </a:solidFill>
          <a:ln w="12700">
            <a:solidFill>
              <a:srgbClr val="1E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78224"/>
            <a:ext cx="1810512" cy="10972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</a:rPr>
              <a:t>能力差距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1828800" y="2029968"/>
            <a:ext cx="4279392" cy="786384"/>
          </a:xfrm>
          <a:prstGeom prst="line">
            <a:avLst/>
          </a:prstGeom>
          <a:ln w="101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493008" y="2514600"/>
            <a:ext cx="228600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4B8A6"/>
                </a:solidFill>
                <a:latin typeface="Microsoft YaHei"/>
              </a:rPr>
              <a:t>生成层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93008" y="2880360"/>
            <a:ext cx="2331720" cy="2377440"/>
          </a:xfrm>
          <a:prstGeom prst="roundRect">
            <a:avLst/>
          </a:prstGeom>
          <a:solidFill>
            <a:srgbClr val="08253A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703320" y="3127248"/>
            <a:ext cx="1901952" cy="274320"/>
          </a:xfrm>
          <a:prstGeom prst="roundRect">
            <a:avLst/>
          </a:prstGeom>
          <a:solidFill>
            <a:srgbClr val="0C1F30"/>
          </a:solidFill>
          <a:ln w="12700">
            <a:solidFill>
              <a:srgbClr val="1E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40" y="3200400"/>
            <a:ext cx="1810512" cy="10972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</a:rPr>
              <a:t>简历润色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03320" y="3566160"/>
            <a:ext cx="1901952" cy="274320"/>
          </a:xfrm>
          <a:prstGeom prst="roundRect">
            <a:avLst/>
          </a:prstGeom>
          <a:solidFill>
            <a:srgbClr val="0C1F30"/>
          </a:solidFill>
          <a:ln w="12700">
            <a:solidFill>
              <a:srgbClr val="1E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40" y="3639312"/>
            <a:ext cx="1810512" cy="10972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</a:rPr>
              <a:t>面试追问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03320" y="4005072"/>
            <a:ext cx="1901952" cy="274320"/>
          </a:xfrm>
          <a:prstGeom prst="roundRect">
            <a:avLst/>
          </a:prstGeom>
          <a:solidFill>
            <a:srgbClr val="0C1F30"/>
          </a:solidFill>
          <a:ln w="12700">
            <a:solidFill>
              <a:srgbClr val="1E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40" y="4078224"/>
            <a:ext cx="1810512" cy="10972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</a:rPr>
              <a:t>报告生成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03320" y="4443983"/>
            <a:ext cx="1901952" cy="274320"/>
          </a:xfrm>
          <a:prstGeom prst="roundRect">
            <a:avLst/>
          </a:prstGeom>
          <a:solidFill>
            <a:srgbClr val="0C1F30"/>
          </a:solidFill>
          <a:ln w="12700">
            <a:solidFill>
              <a:srgbClr val="1E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40" y="4517136"/>
            <a:ext cx="1810512" cy="10972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</a:rPr>
              <a:t>学习任务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4663440" y="2029968"/>
            <a:ext cx="1444752" cy="786384"/>
          </a:xfrm>
          <a:prstGeom prst="line">
            <a:avLst/>
          </a:prstGeom>
          <a:ln w="1016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327648" y="2514600"/>
            <a:ext cx="228600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2C55E"/>
                </a:solidFill>
                <a:latin typeface="Microsoft YaHei"/>
              </a:rPr>
              <a:t>治理层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27648" y="2880360"/>
            <a:ext cx="2331720" cy="2377440"/>
          </a:xfrm>
          <a:prstGeom prst="roundRect">
            <a:avLst/>
          </a:prstGeom>
          <a:solidFill>
            <a:srgbClr val="08253A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37960" y="3127248"/>
            <a:ext cx="1901952" cy="274320"/>
          </a:xfrm>
          <a:prstGeom prst="roundRect">
            <a:avLst/>
          </a:prstGeom>
          <a:solidFill>
            <a:srgbClr val="0C1F30"/>
          </a:solidFill>
          <a:ln w="12700">
            <a:solidFill>
              <a:srgbClr val="1E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3200400"/>
            <a:ext cx="1810512" cy="10972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</a:rPr>
              <a:t>数据治理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37960" y="3566160"/>
            <a:ext cx="1901952" cy="274320"/>
          </a:xfrm>
          <a:prstGeom prst="roundRect">
            <a:avLst/>
          </a:prstGeom>
          <a:solidFill>
            <a:srgbClr val="0C1F30"/>
          </a:solidFill>
          <a:ln w="12700">
            <a:solidFill>
              <a:srgbClr val="1E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3639312"/>
            <a:ext cx="1810512" cy="10972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</a:rPr>
              <a:t>比赛叙事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37960" y="4005072"/>
            <a:ext cx="1901952" cy="274320"/>
          </a:xfrm>
          <a:prstGeom prst="roundRect">
            <a:avLst/>
          </a:prstGeom>
          <a:solidFill>
            <a:srgbClr val="0C1F30"/>
          </a:solidFill>
          <a:ln w="12700">
            <a:solidFill>
              <a:srgbClr val="1E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4078224"/>
            <a:ext cx="1810512" cy="10972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</a:rPr>
              <a:t>评委拷问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108192" y="2029968"/>
            <a:ext cx="1389887" cy="786384"/>
          </a:xfrm>
          <a:prstGeom prst="line">
            <a:avLst/>
          </a:prstGeom>
          <a:ln w="1016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162288" y="2514600"/>
            <a:ext cx="228600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59E0B"/>
                </a:solidFill>
                <a:latin typeface="Microsoft YaHei"/>
              </a:rPr>
              <a:t>评测/后训练层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62288" y="2880360"/>
            <a:ext cx="2331720" cy="2377440"/>
          </a:xfrm>
          <a:prstGeom prst="roundRect">
            <a:avLst/>
          </a:prstGeom>
          <a:solidFill>
            <a:srgbClr val="08253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372600" y="3127248"/>
            <a:ext cx="1901952" cy="274320"/>
          </a:xfrm>
          <a:prstGeom prst="roundRect">
            <a:avLst/>
          </a:prstGeom>
          <a:solidFill>
            <a:srgbClr val="0C1F30"/>
          </a:solidFill>
          <a:ln w="12700">
            <a:solidFill>
              <a:srgbClr val="1E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18320" y="3200400"/>
            <a:ext cx="1810512" cy="10972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</a:rPr>
              <a:t>Eval Judge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372600" y="3566160"/>
            <a:ext cx="1901952" cy="274320"/>
          </a:xfrm>
          <a:prstGeom prst="roundRect">
            <a:avLst/>
          </a:prstGeom>
          <a:solidFill>
            <a:srgbClr val="0C1F30"/>
          </a:solidFill>
          <a:ln w="12700">
            <a:solidFill>
              <a:srgbClr val="1E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18320" y="3639312"/>
            <a:ext cx="1810512" cy="10972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</a:rPr>
              <a:t>SFT Preview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372600" y="4005072"/>
            <a:ext cx="1901952" cy="274320"/>
          </a:xfrm>
          <a:prstGeom prst="roundRect">
            <a:avLst/>
          </a:prstGeom>
          <a:solidFill>
            <a:srgbClr val="0C1F30"/>
          </a:solidFill>
          <a:ln w="12700">
            <a:solidFill>
              <a:srgbClr val="1E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18320" y="4078224"/>
            <a:ext cx="1810512" cy="10972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</a:rPr>
              <a:t>后训练路线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108192" y="2029968"/>
            <a:ext cx="4224528" cy="786384"/>
          </a:xfrm>
          <a:prstGeom prst="line">
            <a:avLst/>
          </a:prstGeom>
          <a:ln w="1016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13232" y="5907024"/>
            <a:ext cx="1078992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CBD5E1"/>
                </a:solidFill>
                <a:latin typeface="Microsoft YaHei"/>
              </a:rPr>
              <a:t>重点强化：简历润色 Agent 独立成角色，负责“岗位化表达 + 证据约束 + 风险提示”。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537960"/>
            <a:ext cx="11155680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94A3B8"/>
                </a:solidFill>
                <a:latin typeface="Microsoft YaHei"/>
              </a:rPr>
              <a:t>边界：岗位知识库只作为岗位要求、追问方向和表达参考，不能写成候选人真实经历。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778240" cy="42062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0F172A"/>
                </a:solidFill>
                <a:latin typeface="Microsoft YaHei"/>
              </a:rPr>
              <a:t>作品演示视频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13232"/>
            <a:ext cx="9875520" cy="24688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Microsoft YaHei"/>
              </a:rPr>
              <a:t>当前先保留可替换视频页；录制后直接替换中央 16:9 区域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5640" y="320040"/>
            <a:ext cx="658368" cy="29260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379476"/>
            <a:ext cx="658368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05 演示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1234440"/>
            <a:ext cx="9921240" cy="3977639"/>
          </a:xfrm>
          <a:prstGeom prst="roundRect">
            <a:avLst/>
          </a:prstGeom>
          <a:solidFill>
            <a:srgbClr val="051422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5400000">
            <a:off x="5623560" y="2697480"/>
            <a:ext cx="658368" cy="658368"/>
          </a:xfrm>
          <a:prstGeom prst="triangl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3456432"/>
            <a:ext cx="5257800" cy="29260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作品演示视频待替换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9152" y="3977639"/>
            <a:ext cx="754380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CBD5E1"/>
                </a:solidFill>
                <a:latin typeface="Microsoft YaHei"/>
              </a:rPr>
              <a:t>建议录屏 3-5 分钟：Trace 首页 → Python 后端 → 简历润色 → Eval Preview → SFT Preview → 产品/HR 切换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07008" y="5504688"/>
            <a:ext cx="2176272" cy="38404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5632704"/>
            <a:ext cx="2029968" cy="10972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>
                <a:solidFill>
                  <a:srgbClr val="0F172A"/>
                </a:solidFill>
                <a:latin typeface="Microsoft YaHei"/>
              </a:rPr>
              <a:t>1. 打开 /competition/agent-trace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94176" y="5504688"/>
            <a:ext cx="2176272" cy="38404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67328" y="5632704"/>
            <a:ext cx="2029968" cy="10972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>
                <a:solidFill>
                  <a:srgbClr val="0F172A"/>
                </a:solidFill>
                <a:latin typeface="Microsoft YaHei"/>
              </a:rPr>
              <a:t>2. 展示 C1 Python 后端 Trace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5504688"/>
            <a:ext cx="2176272" cy="38404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4496" y="5632704"/>
            <a:ext cx="2029968" cy="10972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>
                <a:solidFill>
                  <a:srgbClr val="0F172A"/>
                </a:solidFill>
                <a:latin typeface="Microsoft YaHei"/>
              </a:rPr>
              <a:t>3. 放大简历润色与追问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68512" y="5504688"/>
            <a:ext cx="2176272" cy="38404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41664" y="5632704"/>
            <a:ext cx="2029968" cy="10972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>
                <a:solidFill>
                  <a:srgbClr val="0F172A"/>
                </a:solidFill>
                <a:latin typeface="Microsoft YaHei"/>
              </a:rPr>
              <a:t>4. 切 Eval/SFT Preview 与三岗位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37960"/>
            <a:ext cx="11155680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64748B"/>
                </a:solidFill>
                <a:latin typeface="Microsoft YaHei"/>
              </a:rPr>
              <a:t>说明：本页为视频占位，不代表已嵌入 MP4；后续提供视频后替换中央区域并重新导出 QA。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778240" cy="42062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0F172A"/>
                </a:solidFill>
                <a:latin typeface="Microsoft YaHei"/>
              </a:rPr>
              <a:t>简历证据链：能力不是“写了就算”，而是分级验证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13232"/>
            <a:ext cx="9875520" cy="24688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Microsoft YaHei"/>
              </a:rPr>
              <a:t>用 direct / indirect / claimed_only / missing 区分可信度和追问方向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5640" y="320040"/>
            <a:ext cx="658368" cy="29260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379476"/>
            <a:ext cx="658368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06 证据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1311965" cy="742950"/>
          </a:xfrm>
          <a:prstGeom prst="rect">
            <a:avLst/>
          </a:prstGeom>
          <a:solidFill>
            <a:srgbClr val="0C1F3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481328"/>
            <a:ext cx="1257101" cy="66979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1">
                <a:solidFill>
                  <a:srgbClr val="FFFFFF"/>
                </a:solidFill>
                <a:latin typeface="Microsoft YaHei"/>
              </a:rPr>
              <a:t>能力项</a:t>
            </a:r>
          </a:p>
        </p:txBody>
      </p:sp>
      <p:sp>
        <p:nvSpPr>
          <p:cNvPr id="9" name="Rectangle 8"/>
          <p:cNvSpPr/>
          <p:nvPr/>
        </p:nvSpPr>
        <p:spPr>
          <a:xfrm>
            <a:off x="1906325" y="1417320"/>
            <a:ext cx="3697356" cy="742950"/>
          </a:xfrm>
          <a:prstGeom prst="rect">
            <a:avLst/>
          </a:prstGeom>
          <a:solidFill>
            <a:srgbClr val="0C1F3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33757" y="1481328"/>
            <a:ext cx="3642492" cy="66979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1">
                <a:solidFill>
                  <a:srgbClr val="FFFFFF"/>
                </a:solidFill>
                <a:latin typeface="Microsoft YaHei"/>
              </a:rPr>
              <a:t>简历证据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03681" y="1417320"/>
            <a:ext cx="1073426" cy="742950"/>
          </a:xfrm>
          <a:prstGeom prst="rect">
            <a:avLst/>
          </a:prstGeom>
          <a:solidFill>
            <a:srgbClr val="0C1F3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31113" y="1481328"/>
            <a:ext cx="1018562" cy="66979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1">
                <a:solidFill>
                  <a:srgbClr val="FFFFFF"/>
                </a:solidFill>
                <a:latin typeface="Microsoft YaHei"/>
              </a:rPr>
              <a:t>状态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7107" y="1417320"/>
            <a:ext cx="1908313" cy="742950"/>
          </a:xfrm>
          <a:prstGeom prst="rect">
            <a:avLst/>
          </a:prstGeom>
          <a:solidFill>
            <a:srgbClr val="0C1F3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04539" y="1481328"/>
            <a:ext cx="1853449" cy="66979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1">
                <a:solidFill>
                  <a:srgbClr val="FFFFFF"/>
                </a:solidFill>
                <a:latin typeface="Microsoft YaHei"/>
              </a:rPr>
              <a:t>风险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85420" y="1417320"/>
            <a:ext cx="2981739" cy="742950"/>
          </a:xfrm>
          <a:prstGeom prst="rect">
            <a:avLst/>
          </a:prstGeom>
          <a:solidFill>
            <a:srgbClr val="0C1F3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12852" y="1481328"/>
            <a:ext cx="2926875" cy="66979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1">
                <a:solidFill>
                  <a:srgbClr val="FFFFFF"/>
                </a:solidFill>
                <a:latin typeface="Microsoft YaHei"/>
              </a:rPr>
              <a:t>追问方向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160270"/>
            <a:ext cx="1311965" cy="7429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" y="2224277"/>
            <a:ext cx="1238813" cy="66979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0">
                <a:solidFill>
                  <a:srgbClr val="0F172A"/>
                </a:solidFill>
                <a:latin typeface="Microsoft YaHei"/>
              </a:rPr>
              <a:t>REST API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06325" y="2160270"/>
            <a:ext cx="3697356" cy="7429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42901" y="2224277"/>
            <a:ext cx="3624204" cy="66979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0">
                <a:solidFill>
                  <a:srgbClr val="0F172A"/>
                </a:solidFill>
                <a:latin typeface="Microsoft YaHei"/>
              </a:rPr>
              <a:t>Flask 接口、商品/订单/用户模块和联调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03681" y="2160270"/>
            <a:ext cx="1073426" cy="7429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40257" y="2224277"/>
            <a:ext cx="1000274" cy="66979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0">
                <a:solidFill>
                  <a:srgbClr val="22C55E"/>
                </a:solidFill>
                <a:latin typeface="Microsoft YaHei"/>
              </a:rPr>
              <a:t>direct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7107" y="2160270"/>
            <a:ext cx="1908313" cy="7429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13683" y="2224277"/>
            <a:ext cx="1835161" cy="66979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0">
                <a:solidFill>
                  <a:srgbClr val="0F172A"/>
                </a:solidFill>
                <a:latin typeface="Microsoft YaHei"/>
              </a:rPr>
              <a:t>验证负责边界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85420" y="2160270"/>
            <a:ext cx="2981739" cy="7429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21996" y="2224277"/>
            <a:ext cx="2908587" cy="66979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0">
                <a:solidFill>
                  <a:srgbClr val="0F172A"/>
                </a:solidFill>
                <a:latin typeface="Microsoft YaHei"/>
              </a:rPr>
              <a:t>接口职责、异常返回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2903220"/>
            <a:ext cx="1311965" cy="7429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" y="2967227"/>
            <a:ext cx="1238813" cy="66979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0">
                <a:solidFill>
                  <a:srgbClr val="0F172A"/>
                </a:solidFill>
                <a:latin typeface="Microsoft YaHei"/>
              </a:rPr>
              <a:t>SQL 与索引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06325" y="2903220"/>
            <a:ext cx="3697356" cy="7429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42901" y="2967227"/>
            <a:ext cx="3624204" cy="66979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0">
                <a:solidFill>
                  <a:srgbClr val="0F172A"/>
                </a:solidFill>
                <a:latin typeface="Microsoft YaHei"/>
              </a:rPr>
              <a:t>PostgreSQL 和表结构设计，但缺少慢查询案例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03681" y="2903220"/>
            <a:ext cx="1073426" cy="7429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40257" y="2967227"/>
            <a:ext cx="1000274" cy="66979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0">
                <a:solidFill>
                  <a:srgbClr val="F59E0B"/>
                </a:solidFill>
                <a:latin typeface="Microsoft YaHei"/>
              </a:rPr>
              <a:t>indirect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7107" y="2903220"/>
            <a:ext cx="1908313" cy="7429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13683" y="2967227"/>
            <a:ext cx="1835161" cy="66979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0">
                <a:solidFill>
                  <a:srgbClr val="0F172A"/>
                </a:solidFill>
                <a:latin typeface="Microsoft YaHei"/>
              </a:rPr>
              <a:t>可能停留在建表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85420" y="2903220"/>
            <a:ext cx="2981739" cy="74295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21996" y="2967227"/>
            <a:ext cx="2908587" cy="66979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0">
                <a:solidFill>
                  <a:srgbClr val="0F172A"/>
                </a:solidFill>
                <a:latin typeface="Microsoft YaHei"/>
              </a:rPr>
              <a:t>索引、事务、慢查询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3646170"/>
            <a:ext cx="1311965" cy="7429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" y="3710178"/>
            <a:ext cx="1238813" cy="66979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0">
                <a:solidFill>
                  <a:srgbClr val="0F172A"/>
                </a:solidFill>
                <a:latin typeface="Microsoft YaHei"/>
              </a:rPr>
              <a:t>Redis 缓存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06325" y="3646170"/>
            <a:ext cx="3697356" cy="7429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42901" y="3710178"/>
            <a:ext cx="3624204" cy="66979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0">
                <a:solidFill>
                  <a:srgbClr val="0F172A"/>
                </a:solidFill>
                <a:latin typeface="Microsoft YaHei"/>
              </a:rPr>
              <a:t>未出现缓存或性能优化经历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03681" y="3646170"/>
            <a:ext cx="1073426" cy="7429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40257" y="3710178"/>
            <a:ext cx="1000274" cy="66979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0">
                <a:solidFill>
                  <a:srgbClr val="EF4444"/>
                </a:solidFill>
                <a:latin typeface="Microsoft YaHei"/>
              </a:rPr>
              <a:t>missing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77107" y="3646170"/>
            <a:ext cx="1908313" cy="7429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13683" y="3710178"/>
            <a:ext cx="1835161" cy="66979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0">
                <a:solidFill>
                  <a:srgbClr val="0F172A"/>
                </a:solidFill>
                <a:latin typeface="Microsoft YaHei"/>
              </a:rPr>
              <a:t>岗位高频考察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85420" y="3646170"/>
            <a:ext cx="2981739" cy="7429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21996" y="3710178"/>
            <a:ext cx="2908587" cy="66979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0">
                <a:solidFill>
                  <a:srgbClr val="0F172A"/>
                </a:solidFill>
                <a:latin typeface="Microsoft YaHei"/>
              </a:rPr>
              <a:t>缓存穿透、一致性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05840" y="4956048"/>
            <a:ext cx="10195560" cy="56692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88720" y="5148072"/>
            <a:ext cx="987552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0F172A"/>
                </a:solidFill>
                <a:latin typeface="Microsoft YaHei"/>
              </a:rPr>
              <a:t>评委看点：系统不会把“岗位要求”或“知识库内容”误当成候选人真实经历。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537960"/>
            <a:ext cx="11155680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64748B"/>
                </a:solidFill>
                <a:latin typeface="Microsoft YaHei"/>
              </a:rPr>
              <a:t>证据状态决定追问方向，也决定简历润色能写到什么程度。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778240" cy="42062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0F172A"/>
                </a:solidFill>
                <a:latin typeface="Microsoft YaHei"/>
              </a:rPr>
              <a:t>简历润色 Agent：可改，但不造假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13232"/>
            <a:ext cx="9875520" cy="24688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Microsoft YaHei"/>
              </a:rPr>
              <a:t>润色目标是岗位化表达；证据不足处只能提示补证据或使用占位表达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5640" y="320040"/>
            <a:ext cx="658368" cy="29260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379476"/>
            <a:ext cx="658368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07 润色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325880"/>
            <a:ext cx="4709160" cy="331012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627632"/>
            <a:ext cx="1463040" cy="21945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EF4444"/>
                </a:solidFill>
                <a:latin typeface="Microsoft YaHei"/>
              </a:rPr>
              <a:t>错误做法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148840"/>
            <a:ext cx="4069080" cy="6400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Microsoft YaHei"/>
              </a:rPr>
              <a:t>把未出现 Redis 的简历改成：</a:t>
            </a:r>
            <a:br/>
            <a:r>
              <a:rPr sz="1500" b="1">
                <a:solidFill>
                  <a:srgbClr val="0F172A"/>
                </a:solidFill>
                <a:latin typeface="Microsoft YaHei"/>
              </a:rPr>
              <a:t>“负责 Redis 缓存优化，提升接口性能 40%。”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246120"/>
            <a:ext cx="4023360" cy="23774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EF4444"/>
                </a:solidFill>
                <a:latin typeface="Microsoft YaHei"/>
              </a:rPr>
              <a:t>问题：新增技术栈、指标和成果，无法验证。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65392" y="1325880"/>
            <a:ext cx="4709160" cy="331012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627632"/>
            <a:ext cx="1828800" cy="21945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22C55E"/>
                </a:solidFill>
                <a:latin typeface="Microsoft YaHei"/>
              </a:rPr>
              <a:t>证据约束做法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103120"/>
            <a:ext cx="4069080" cy="85953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F172A"/>
                </a:solidFill>
                <a:latin typeface="Microsoft YaHei"/>
              </a:rPr>
              <a:t>保留真实 Flask/PostgreSQL 项目，强化接口开发、表结构设计、联调事实。</a:t>
            </a:r>
            <a:br/>
            <a:r>
              <a:rPr sz="1350" b="1">
                <a:solidFill>
                  <a:srgbClr val="0F172A"/>
                </a:solidFill>
                <a:latin typeface="Microsoft YaHei"/>
              </a:rPr>
              <a:t>Redis 缺口只提示准备缓存场景、方案和结果证据。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74519" y="5138928"/>
            <a:ext cx="8412480" cy="457200"/>
          </a:xfrm>
          <a:prstGeom prst="roundRect">
            <a:avLst/>
          </a:prstGeom>
          <a:solidFill>
            <a:srgbClr val="0C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93392" y="5294376"/>
            <a:ext cx="8138160" cy="12801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</a:rPr>
              <a:t>ResumePolishAgent 边界：不新增公司、时间、项目、证书、百分比、技术栈或指标。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11155680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64748B"/>
                </a:solidFill>
                <a:latin typeface="Microsoft YaHei"/>
              </a:rPr>
              <a:t>证据状态来自简历解析和面试回答；岗位知识库只能作为岗位要求和表达参考。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778240" cy="42062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0F172A"/>
                </a:solidFill>
                <a:latin typeface="Microsoft YaHei"/>
              </a:rPr>
              <a:t>证据追问型面试：问题围绕能力缺口，而不是泛泛聊天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13232"/>
            <a:ext cx="9875520" cy="24688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Microsoft YaHei"/>
              </a:rPr>
              <a:t>同一岗位下，追问必须绑定候选人证据状态和目标岗位要求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5640" y="320040"/>
            <a:ext cx="658368" cy="29260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379476"/>
            <a:ext cx="658368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08 面试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36192"/>
            <a:ext cx="45720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10512"/>
            <a:ext cx="109728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475569"/>
                </a:solidFill>
                <a:latin typeface="Microsoft YaHei"/>
              </a:rPr>
              <a:t>通用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560320"/>
            <a:ext cx="3840480" cy="3200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0F172A"/>
                </a:solidFill>
                <a:latin typeface="Microsoft YaHei"/>
              </a:rPr>
              <a:t>“请介绍一下你的后端项目。”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456432"/>
            <a:ext cx="3657600" cy="29260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Microsoft YaHei"/>
              </a:rPr>
              <a:t>缺少岗位缺口、证据状态和验证目标，容易得到流水账回答。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36192"/>
            <a:ext cx="5029200" cy="3200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810512"/>
            <a:ext cx="118872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职启智评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2267712"/>
            <a:ext cx="4526280" cy="8229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0F172A"/>
                </a:solidFill>
                <a:latin typeface="Microsoft YaHei"/>
              </a:rPr>
              <a:t>“Redis 能力是目标岗位高频要求，但你的简历证据为 missing。请说明真实场景、个人职责、行动和结果；没有经历则给补证据计划。”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3493008"/>
            <a:ext cx="4389120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绑定：目标能力 + 证据状态 + 具体场景 + 行动结果。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5541264"/>
            <a:ext cx="832104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F172A"/>
                </a:solidFill>
                <a:latin typeface="Microsoft YaHei"/>
              </a:rPr>
              <a:t>这也是后续 SFT 任务的核心：让模型学会“证据约束追问”。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11155680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64748B"/>
                </a:solidFill>
                <a:latin typeface="Microsoft YaHei"/>
              </a:rPr>
              <a:t>边界：追问可以要求补证据，不能替候选人编造经历。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778240" cy="42062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Agent Trace：可运行链路的答辩可视化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13232"/>
            <a:ext cx="9875520" cy="24688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94A3B8"/>
                </a:solidFill>
                <a:latin typeface="Microsoft YaHei"/>
              </a:rPr>
              <a:t>基于 artifacts/agent_trace 的三岗位沙盘，不是伪装成真实用户数据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5640" y="320040"/>
            <a:ext cx="658368" cy="29260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379476"/>
            <a:ext cx="658368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09 Trace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70432"/>
            <a:ext cx="11064240" cy="5074920"/>
          </a:xfrm>
          <a:prstGeom prst="roundRect">
            <a:avLst/>
          </a:prstGeom>
          <a:solidFill>
            <a:srgbClr val="0A1F31"/>
          </a:solidFill>
          <a:ln w="12700">
            <a:solidFill>
              <a:srgbClr val="1E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417320"/>
            <a:ext cx="1298448" cy="29260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508760"/>
            <a:ext cx="1207008" cy="8229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80" b="1">
                <a:solidFill>
                  <a:srgbClr val="FFFFFF"/>
                </a:solidFill>
                <a:latin typeface="Microsoft YaHei"/>
              </a:rPr>
              <a:t>C1 Python 后端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04872" y="1417320"/>
            <a:ext cx="1298448" cy="292608"/>
          </a:xfrm>
          <a:prstGeom prst="round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0591" y="1508760"/>
            <a:ext cx="1207008" cy="8229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80" b="1">
                <a:solidFill>
                  <a:srgbClr val="FFFFFF"/>
                </a:solidFill>
                <a:latin typeface="Microsoft YaHei"/>
              </a:rPr>
              <a:t>C2 产品助理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13631" y="1417320"/>
            <a:ext cx="1298448" cy="292608"/>
          </a:xfrm>
          <a:prstGeom prst="round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9352" y="1508760"/>
            <a:ext cx="1207008" cy="8229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80" b="1">
                <a:solidFill>
                  <a:srgbClr val="FFFFFF"/>
                </a:solidFill>
                <a:latin typeface="Microsoft YaHei"/>
              </a:rPr>
              <a:t>C3 人力资源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2057400"/>
            <a:ext cx="1572768" cy="457200"/>
          </a:xfrm>
          <a:prstGeom prst="roundRect">
            <a:avLst/>
          </a:prstGeom>
          <a:solidFill>
            <a:srgbClr val="0F364D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2221992"/>
            <a:ext cx="1463040" cy="10972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80" b="1">
                <a:solidFill>
                  <a:srgbClr val="FFFFFF"/>
                </a:solidFill>
                <a:latin typeface="Microsoft YaHei"/>
              </a:rPr>
              <a:t>简历证据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78024" y="2286000"/>
            <a:ext cx="457200" cy="0"/>
          </a:xfrm>
          <a:prstGeom prst="line">
            <a:avLst/>
          </a:prstGeom>
          <a:ln w="1016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53512" y="2057400"/>
            <a:ext cx="1572768" cy="457200"/>
          </a:xfrm>
          <a:prstGeom prst="roundRect">
            <a:avLst/>
          </a:prstGeom>
          <a:solidFill>
            <a:srgbClr val="0F364D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08376" y="2221992"/>
            <a:ext cx="1463040" cy="10972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80" b="1">
                <a:solidFill>
                  <a:srgbClr val="FFFFFF"/>
                </a:solidFill>
                <a:latin typeface="Microsoft YaHei"/>
              </a:rPr>
              <a:t>岗位画像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35424" y="2286000"/>
            <a:ext cx="457200" cy="0"/>
          </a:xfrm>
          <a:prstGeom prst="line">
            <a:avLst/>
          </a:prstGeom>
          <a:ln w="1016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10912" y="2057400"/>
            <a:ext cx="1572768" cy="457200"/>
          </a:xfrm>
          <a:prstGeom prst="roundRect">
            <a:avLst/>
          </a:prstGeom>
          <a:solidFill>
            <a:srgbClr val="0F364D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65776" y="2221992"/>
            <a:ext cx="1463040" cy="10972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80" b="1">
                <a:solidFill>
                  <a:srgbClr val="FFFFFF"/>
                </a:solidFill>
                <a:latin typeface="Microsoft YaHei"/>
              </a:rPr>
              <a:t>能力差距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92824" y="2286000"/>
            <a:ext cx="457200" cy="0"/>
          </a:xfrm>
          <a:prstGeom prst="line">
            <a:avLst/>
          </a:prstGeom>
          <a:ln w="1016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068312" y="2057400"/>
            <a:ext cx="1572768" cy="457200"/>
          </a:xfrm>
          <a:prstGeom prst="roundRect">
            <a:avLst/>
          </a:prstGeom>
          <a:solidFill>
            <a:srgbClr val="0F364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23176" y="2221992"/>
            <a:ext cx="1463040" cy="10972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80" b="1">
                <a:solidFill>
                  <a:srgbClr val="FFFFFF"/>
                </a:solidFill>
                <a:latin typeface="Microsoft YaHei"/>
              </a:rPr>
              <a:t>简历润色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650224" y="2286000"/>
            <a:ext cx="457200" cy="0"/>
          </a:xfrm>
          <a:prstGeom prst="line">
            <a:avLst/>
          </a:prstGeom>
          <a:ln w="1016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25712" y="2057400"/>
            <a:ext cx="1572768" cy="457200"/>
          </a:xfrm>
          <a:prstGeom prst="roundRect">
            <a:avLst/>
          </a:prstGeom>
          <a:solidFill>
            <a:srgbClr val="0F364D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0576" y="2221992"/>
            <a:ext cx="1463040" cy="10972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80" b="1">
                <a:solidFill>
                  <a:srgbClr val="FFFFFF"/>
                </a:solidFill>
                <a:latin typeface="Microsoft YaHei"/>
              </a:rPr>
              <a:t>面试追问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2" y="3017520"/>
            <a:ext cx="1572768" cy="457200"/>
          </a:xfrm>
          <a:prstGeom prst="roundRect">
            <a:avLst/>
          </a:prstGeom>
          <a:solidFill>
            <a:srgbClr val="0F364D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3182112"/>
            <a:ext cx="1463040" cy="10972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80" b="1">
                <a:solidFill>
                  <a:srgbClr val="FFFFFF"/>
                </a:solidFill>
                <a:latin typeface="Microsoft YaHei"/>
              </a:rPr>
              <a:t>报告/任务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478024" y="3246120"/>
            <a:ext cx="457200" cy="0"/>
          </a:xfrm>
          <a:prstGeom prst="line">
            <a:avLst/>
          </a:prstGeom>
          <a:ln w="1016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953512" y="3017520"/>
            <a:ext cx="1572768" cy="457200"/>
          </a:xfrm>
          <a:prstGeom prst="roundRect">
            <a:avLst/>
          </a:prstGeom>
          <a:solidFill>
            <a:srgbClr val="0F364D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08376" y="3182112"/>
            <a:ext cx="1463040" cy="10972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80" b="1">
                <a:solidFill>
                  <a:srgbClr val="FFFFFF"/>
                </a:solidFill>
                <a:latin typeface="Microsoft YaHei"/>
              </a:rPr>
              <a:t>数据治理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535424" y="3246120"/>
            <a:ext cx="457200" cy="0"/>
          </a:xfrm>
          <a:prstGeom prst="line">
            <a:avLst/>
          </a:prstGeom>
          <a:ln w="1016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010912" y="3017520"/>
            <a:ext cx="1572768" cy="457200"/>
          </a:xfrm>
          <a:prstGeom prst="roundRect">
            <a:avLst/>
          </a:prstGeom>
          <a:solidFill>
            <a:srgbClr val="0F364D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65776" y="3182112"/>
            <a:ext cx="1463040" cy="10972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80" b="1">
                <a:solidFill>
                  <a:srgbClr val="FFFFFF"/>
                </a:solidFill>
                <a:latin typeface="Microsoft YaHei"/>
              </a:rPr>
              <a:t>Eval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592824" y="3246120"/>
            <a:ext cx="457200" cy="0"/>
          </a:xfrm>
          <a:prstGeom prst="line">
            <a:avLst/>
          </a:prstGeom>
          <a:ln w="1016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068312" y="3017520"/>
            <a:ext cx="1572768" cy="457200"/>
          </a:xfrm>
          <a:prstGeom prst="roundRect">
            <a:avLst/>
          </a:prstGeom>
          <a:solidFill>
            <a:srgbClr val="0F364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23176" y="3182112"/>
            <a:ext cx="1463040" cy="10972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80" b="1">
                <a:solidFill>
                  <a:srgbClr val="FFFFFF"/>
                </a:solidFill>
                <a:latin typeface="Microsoft YaHei"/>
              </a:rPr>
              <a:t>SFT Preview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29400" y="3794760"/>
            <a:ext cx="4434840" cy="1298448"/>
          </a:xfrm>
          <a:prstGeom prst="roundRect">
            <a:avLst/>
          </a:prstGeom>
          <a:solidFill>
            <a:srgbClr val="0C1F30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39712" y="4005072"/>
            <a:ext cx="393192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4B8A6"/>
                </a:solidFill>
                <a:latin typeface="Microsoft YaHei"/>
              </a:rPr>
              <a:t>当前节点：ResumePolishAgent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39712" y="4370832"/>
            <a:ext cx="3886200" cy="3474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60" b="0">
                <a:solidFill>
                  <a:srgbClr val="E2E8F0"/>
                </a:solidFill>
                <a:latin typeface="Microsoft YaHei"/>
              </a:rPr>
              <a:t>输出：强化 Flask/PostgreSQL 真实证据；Redis 仅提示补证据，不能写成已完成项目。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6112" y="5257800"/>
            <a:ext cx="5074920" cy="41148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4128" y="5394960"/>
            <a:ext cx="4800600" cy="914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1">
                <a:solidFill>
                  <a:srgbClr val="FFFFFF"/>
                </a:solidFill>
                <a:latin typeface="Microsoft YaHei"/>
              </a:rPr>
              <a:t>flags: sample_origin=demo_constructed · for_training=false · for_competition_demo=true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537960"/>
            <a:ext cx="11155680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94A3B8"/>
                </a:solidFill>
                <a:latin typeface="Microsoft YaHei"/>
              </a:rPr>
              <a:t>前端页面 /competition/agent-trace 消费同一批 demo/preview 资产；展示链路可追溯，数据边界明确。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778240" cy="42062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0F172A"/>
                </a:solidFill>
                <a:latin typeface="Microsoft YaHei"/>
              </a:rPr>
              <a:t>Eval Preview：沙盘规则评分，不是真实模型实测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13232"/>
            <a:ext cx="9875520" cy="24688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Microsoft YaHei"/>
              </a:rPr>
              <a:t>用于展示评估方法：baseline 是规则基线，agent_optimized 是规则评分示例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5640" y="320040"/>
            <a:ext cx="658368" cy="29260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379476"/>
            <a:ext cx="658368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10 Eval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5212080" cy="4343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17904"/>
            <a:ext cx="438912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C1 Python 后端 · 七维评分拆解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901952"/>
            <a:ext cx="960120" cy="1188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0">
                <a:solidFill>
                  <a:srgbClr val="475569"/>
                </a:solidFill>
                <a:latin typeface="Microsoft YaHei"/>
              </a:rPr>
              <a:t>聚焦能力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901952"/>
            <a:ext cx="201168" cy="1188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F59E0B"/>
                </a:solidFill>
                <a:latin typeface="Microsoft YaHei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48840" y="1920240"/>
            <a:ext cx="1097280" cy="731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48840" y="1920240"/>
            <a:ext cx="658368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1901952"/>
            <a:ext cx="201168" cy="1188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22C55E"/>
                </a:solidFill>
                <a:latin typeface="Microsoft YaHei"/>
              </a:rP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1920240"/>
            <a:ext cx="1097280" cy="731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0" y="1920240"/>
            <a:ext cx="109728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249424"/>
            <a:ext cx="960120" cy="1188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0">
                <a:solidFill>
                  <a:srgbClr val="475569"/>
                </a:solidFill>
                <a:latin typeface="Microsoft YaHei"/>
              </a:rPr>
              <a:t>证据约束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249424"/>
            <a:ext cx="201168" cy="1188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F59E0B"/>
                </a:solidFill>
                <a:latin typeface="Microsoft YaHei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48840" y="2267712"/>
            <a:ext cx="1097280" cy="731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48840" y="2267712"/>
            <a:ext cx="43891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84448" y="2249424"/>
            <a:ext cx="201168" cy="1188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22C55E"/>
                </a:solidFill>
                <a:latin typeface="Microsoft YaHei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2267712"/>
            <a:ext cx="1097280" cy="731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0480" y="2267712"/>
            <a:ext cx="109728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2596896"/>
            <a:ext cx="960120" cy="1188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0">
                <a:solidFill>
                  <a:srgbClr val="475569"/>
                </a:solidFill>
                <a:latin typeface="Microsoft YaHei"/>
              </a:rPr>
              <a:t>追问深度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2596896"/>
            <a:ext cx="201168" cy="1188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F59E0B"/>
                </a:solidFill>
                <a:latin typeface="Microsoft YaHei"/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48840" y="2615184"/>
            <a:ext cx="1097280" cy="731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48840" y="2615184"/>
            <a:ext cx="658368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84448" y="2596896"/>
            <a:ext cx="201168" cy="1188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22C55E"/>
                </a:solidFill>
                <a:latin typeface="Microsoft YaHei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0" y="2615184"/>
            <a:ext cx="1097280" cy="731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840480" y="2615184"/>
            <a:ext cx="109728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2944368"/>
            <a:ext cx="960120" cy="1188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0">
                <a:solidFill>
                  <a:srgbClr val="475569"/>
                </a:solidFill>
                <a:latin typeface="Microsoft YaHei"/>
              </a:rPr>
              <a:t>润色边界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19" y="2944368"/>
            <a:ext cx="201168" cy="1188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F59E0B"/>
                </a:solidFill>
                <a:latin typeface="Microsoft YaHei"/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48840" y="2962656"/>
            <a:ext cx="1097280" cy="731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148840" y="2962656"/>
            <a:ext cx="43891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84448" y="2944368"/>
            <a:ext cx="201168" cy="1188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22C55E"/>
                </a:solidFill>
                <a:latin typeface="Microsoft YaHei"/>
              </a:rPr>
              <a:t>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0" y="2962656"/>
            <a:ext cx="1097280" cy="731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40480" y="2962656"/>
            <a:ext cx="109728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" y="3291839"/>
            <a:ext cx="960120" cy="1188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0">
                <a:solidFill>
                  <a:srgbClr val="475569"/>
                </a:solidFill>
                <a:latin typeface="Microsoft YaHei"/>
              </a:rPr>
              <a:t>岗位匹配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74519" y="3291839"/>
            <a:ext cx="201168" cy="1188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F59E0B"/>
                </a:solidFill>
                <a:latin typeface="Microsoft YaHei"/>
              </a:rPr>
              <a:t>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48840" y="3310127"/>
            <a:ext cx="1097280" cy="731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148840" y="3310127"/>
            <a:ext cx="658368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84448" y="3291839"/>
            <a:ext cx="201168" cy="1188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22C55E"/>
                </a:solidFill>
                <a:latin typeface="Microsoft YaHei"/>
              </a:rPr>
              <a:t>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40480" y="3310127"/>
            <a:ext cx="1097280" cy="731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840480" y="3310127"/>
            <a:ext cx="877824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" y="3639311"/>
            <a:ext cx="960120" cy="1188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0">
                <a:solidFill>
                  <a:srgbClr val="475569"/>
                </a:solidFill>
                <a:latin typeface="Microsoft YaHei"/>
              </a:rPr>
              <a:t>格式稳定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74519" y="3639311"/>
            <a:ext cx="201168" cy="1188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F59E0B"/>
                </a:solidFill>
                <a:latin typeface="Microsoft YaHei"/>
              </a:rPr>
              <a:t>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48840" y="3657599"/>
            <a:ext cx="1097280" cy="731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148840" y="3657599"/>
            <a:ext cx="658368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84448" y="3639311"/>
            <a:ext cx="201168" cy="1188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22C55E"/>
                </a:solidFill>
                <a:latin typeface="Microsoft YaHei"/>
              </a:rPr>
              <a:t>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40480" y="3657599"/>
            <a:ext cx="1097280" cy="731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840480" y="3657599"/>
            <a:ext cx="109728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8" y="3986783"/>
            <a:ext cx="960120" cy="1188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0">
                <a:solidFill>
                  <a:srgbClr val="475569"/>
                </a:solidFill>
                <a:latin typeface="Microsoft YaHei"/>
              </a:rPr>
              <a:t>报告闭环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74519" y="3986783"/>
            <a:ext cx="201168" cy="1188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F59E0B"/>
                </a:solidFill>
                <a:latin typeface="Microsoft YaHei"/>
              </a:rPr>
              <a:t>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148840" y="4005071"/>
            <a:ext cx="1097280" cy="731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148840" y="4005071"/>
            <a:ext cx="658368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84448" y="3986783"/>
            <a:ext cx="201168" cy="1188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22C55E"/>
                </a:solidFill>
                <a:latin typeface="Microsoft YaHei"/>
              </a:rPr>
              <a:t>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40480" y="4005071"/>
            <a:ext cx="1097280" cy="731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840480" y="4005071"/>
            <a:ext cx="109728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874519" y="4498848"/>
            <a:ext cx="1417320" cy="10972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00" b="1">
                <a:solidFill>
                  <a:srgbClr val="F59E0B"/>
                </a:solidFill>
                <a:latin typeface="Microsoft YaHei"/>
              </a:rPr>
              <a:t>baseline_prompt_preview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29584" y="4498848"/>
            <a:ext cx="1417320" cy="10972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00" b="1">
                <a:solidFill>
                  <a:srgbClr val="22C55E"/>
                </a:solidFill>
                <a:latin typeface="Microsoft YaHei"/>
              </a:rPr>
              <a:t>agent_optimized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91640" y="4864608"/>
            <a:ext cx="3017520" cy="2743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0F172A"/>
                </a:solidFill>
                <a:latin typeface="Microsoft YaHei"/>
              </a:rPr>
              <a:t>19/35  →  34/35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46520" y="1234440"/>
            <a:ext cx="5074920" cy="43434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93408" y="1517904"/>
            <a:ext cx="182880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三岗位汇总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66560" y="2057400"/>
            <a:ext cx="1371600" cy="1371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0F172A"/>
                </a:solidFill>
                <a:latin typeface="Microsoft YaHei"/>
              </a:rPr>
              <a:t>Python 后端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95360" y="2057400"/>
            <a:ext cx="777240" cy="1371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F59E0B"/>
                </a:solidFill>
                <a:latin typeface="Microsoft YaHei"/>
              </a:rPr>
              <a:t>19/35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9400032" y="2130552"/>
            <a:ext cx="429768" cy="0"/>
          </a:xfrm>
          <a:prstGeom prst="line">
            <a:avLst/>
          </a:prstGeom>
          <a:ln w="1270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9948672" y="2057400"/>
            <a:ext cx="777240" cy="1371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22C55E"/>
                </a:solidFill>
                <a:latin typeface="Microsoft YaHei"/>
              </a:rPr>
              <a:t>34/35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66560" y="2624328"/>
            <a:ext cx="1371600" cy="1371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0F172A"/>
                </a:solidFill>
                <a:latin typeface="Microsoft YaHei"/>
              </a:rPr>
              <a:t>产品助理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95360" y="2624328"/>
            <a:ext cx="777240" cy="1371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F59E0B"/>
                </a:solidFill>
                <a:latin typeface="Microsoft YaHei"/>
              </a:rPr>
              <a:t>19/35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9400032" y="2697480"/>
            <a:ext cx="429768" cy="0"/>
          </a:xfrm>
          <a:prstGeom prst="line">
            <a:avLst/>
          </a:prstGeom>
          <a:ln w="1270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9948672" y="2624328"/>
            <a:ext cx="777240" cy="1371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22C55E"/>
                </a:solidFill>
                <a:latin typeface="Microsoft YaHei"/>
              </a:rPr>
              <a:t>34/35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766560" y="3191256"/>
            <a:ext cx="1371600" cy="1371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0F172A"/>
                </a:solidFill>
                <a:latin typeface="Microsoft YaHei"/>
              </a:rPr>
              <a:t>人力资源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95360" y="3191256"/>
            <a:ext cx="777240" cy="1371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F59E0B"/>
                </a:solidFill>
                <a:latin typeface="Microsoft YaHei"/>
              </a:rPr>
              <a:t>19/35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9400032" y="3264408"/>
            <a:ext cx="429768" cy="0"/>
          </a:xfrm>
          <a:prstGeom prst="line">
            <a:avLst/>
          </a:prstGeom>
          <a:ln w="1270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9948672" y="3191256"/>
            <a:ext cx="777240" cy="1371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22C55E"/>
                </a:solidFill>
                <a:latin typeface="Microsoft YaHei"/>
              </a:rPr>
              <a:t>34/35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784848" y="4160520"/>
            <a:ext cx="42519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967728" y="4315968"/>
            <a:ext cx="777240" cy="12801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EF4444"/>
                </a:solidFill>
                <a:latin typeface="Microsoft YaHei"/>
              </a:rPr>
              <a:t>解释口径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54112" y="4297680"/>
            <a:ext cx="3063240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0F172A"/>
                </a:solidFill>
                <a:latin typeface="Microsoft YaHei"/>
              </a:rPr>
              <a:t>Preview 规则评分，不代表真实 holdout eval、真实模型实测或微调结果。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7200" y="6537960"/>
            <a:ext cx="11155680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64748B"/>
                </a:solidFill>
                <a:latin typeface="Microsoft YaHei"/>
              </a:rPr>
              <a:t>评委看点：Eval 先证明“怎么评”，真实效果需等授权样本、真实 job 和 holdout 达标后补实。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778240" cy="42062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0F172A"/>
                </a:solidFill>
                <a:latin typeface="Microsoft YaHei"/>
              </a:rPr>
              <a:t>SFT Preview：后训练数据结构与付费门禁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13232"/>
            <a:ext cx="9875520" cy="24688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Microsoft YaHei"/>
              </a:rPr>
              <a:t>当前是 preview/demo 数据结构，不是已上传 OpenAI 的真实训练集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5640" y="320040"/>
            <a:ext cx="658368" cy="29260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379476"/>
            <a:ext cx="658368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11 SFT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70432"/>
            <a:ext cx="24231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353312"/>
            <a:ext cx="82296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2563EB"/>
                </a:solidFill>
                <a:latin typeface="Microsoft YaHe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417320"/>
            <a:ext cx="1444752" cy="12801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60" b="1">
                <a:solidFill>
                  <a:srgbClr val="475569"/>
                </a:solidFill>
                <a:latin typeface="Microsoft YaHei"/>
              </a:rPr>
              <a:t>demo_constructed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170432"/>
            <a:ext cx="24231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353312"/>
            <a:ext cx="82296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EF4444"/>
                </a:solidFill>
                <a:latin typeface="Microsoft YaHe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9392" y="1417320"/>
            <a:ext cx="1444752" cy="12801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60" b="1">
                <a:solidFill>
                  <a:srgbClr val="475569"/>
                </a:solidFill>
                <a:latin typeface="Microsoft YaHei"/>
              </a:rPr>
              <a:t>real_authorized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4" y="1170432"/>
            <a:ext cx="24231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353312"/>
            <a:ext cx="82296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22C55E"/>
                </a:solidFill>
                <a:latin typeface="Microsoft YaHe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5744" y="1417320"/>
            <a:ext cx="1444752" cy="12801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60" b="1">
                <a:solidFill>
                  <a:srgbClr val="475569"/>
                </a:solidFill>
                <a:latin typeface="Microsoft YaHei"/>
              </a:rPr>
              <a:t>train_preview_records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89136" y="1170432"/>
            <a:ext cx="24231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98863" y="1353312"/>
            <a:ext cx="82296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F59E0B"/>
                </a:solidFill>
                <a:latin typeface="Microsoft YaHei"/>
              </a:rPr>
              <a:t>false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12096" y="1417320"/>
            <a:ext cx="1444752" cy="12801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60" b="1">
                <a:solidFill>
                  <a:srgbClr val="475569"/>
                </a:solidFill>
                <a:latin typeface="Microsoft YaHei"/>
              </a:rPr>
              <a:t>ready_for_real_training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514600"/>
            <a:ext cx="32461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680" y="2761488"/>
            <a:ext cx="114300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2820924"/>
            <a:ext cx="114300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messages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" y="3246120"/>
            <a:ext cx="2788920" cy="7315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172A"/>
                </a:solidFill>
                <a:latin typeface="Microsoft YaHei"/>
              </a:rPr>
              <a:t>developer：证据约束追问</a:t>
            </a:r>
            <a:br/>
            <a:r>
              <a:rPr sz="1000" b="1">
                <a:solidFill>
                  <a:srgbClr val="0F172A"/>
                </a:solidFill>
                <a:latin typeface="Microsoft YaHei"/>
              </a:rPr>
              <a:t>user：能力缺口 + 证据状态</a:t>
            </a:r>
            <a:br/>
            <a:r>
              <a:rPr sz="1000" b="1">
                <a:solidFill>
                  <a:srgbClr val="0F172A"/>
                </a:solidFill>
                <a:latin typeface="Microsoft YaHei"/>
              </a:rPr>
              <a:t>assistant：标准追问/润色输出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53128" y="2514600"/>
            <a:ext cx="32461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36008" y="2761488"/>
            <a:ext cx="1143000" cy="29260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36008" y="2820924"/>
            <a:ext cx="114300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metadata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90872" y="3246120"/>
            <a:ext cx="2788920" cy="7315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172A"/>
                </a:solidFill>
                <a:latin typeface="Microsoft YaHei"/>
              </a:rPr>
              <a:t>sample_origin=demo_constructed</a:t>
            </a:r>
            <a:br/>
            <a:r>
              <a:rPr sz="1000" b="1">
                <a:solidFill>
                  <a:srgbClr val="0F172A"/>
                </a:solidFill>
                <a:latin typeface="Microsoft YaHei"/>
              </a:rPr>
              <a:t>for_training=false</a:t>
            </a:r>
            <a:br/>
            <a:r>
              <a:rPr sz="1000" b="1">
                <a:solidFill>
                  <a:srgbClr val="0F172A"/>
                </a:solidFill>
                <a:latin typeface="Microsoft YaHei"/>
              </a:rPr>
              <a:t>for_competition_demo=true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0456" y="2514600"/>
            <a:ext cx="32461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403336" y="2761488"/>
            <a:ext cx="1143000" cy="2926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03336" y="2820924"/>
            <a:ext cx="114300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gate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3246120"/>
            <a:ext cx="2788920" cy="7315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172A"/>
                </a:solidFill>
                <a:latin typeface="Microsoft YaHei"/>
              </a:rPr>
              <a:t>真实授权样本 ≥ 3</a:t>
            </a:r>
            <a:br/>
            <a:r>
              <a:rPr sz="1000" b="1">
                <a:solidFill>
                  <a:srgbClr val="0F172A"/>
                </a:solidFill>
                <a:latin typeface="Microsoft YaHei"/>
              </a:rPr>
              <a:t>总样本 ≥ 10</a:t>
            </a:r>
            <a:br/>
            <a:r>
              <a:rPr sz="1000" b="1">
                <a:solidFill>
                  <a:srgbClr val="0F172A"/>
                </a:solidFill>
                <a:latin typeface="Microsoft YaHei"/>
              </a:rPr>
              <a:t>人工复核 + 无 PII + 官方 OpenAI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7552" y="5138928"/>
            <a:ext cx="10149840" cy="438912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5568" y="5294376"/>
            <a:ext cx="9875520" cy="10972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1">
                <a:solidFill>
                  <a:srgbClr val="0F172A"/>
                </a:solidFill>
                <a:latin typeface="Microsoft YaHei"/>
              </a:rPr>
              <a:t>当前 dry-run 按预期拒绝真实 job：真实授权样本不足。门禁有效，比“强行宣称已训练”更可信。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37960"/>
            <a:ext cx="11155680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64748B"/>
                </a:solidFill>
                <a:latin typeface="Microsoft YaHei"/>
              </a:rPr>
              <a:t>只有 job succeeded 且 OpenAI 返回官方微调模型 ID 后，才允许写“已完成真实 OpenAI SFT 实验”。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778240" cy="42062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0F172A"/>
                </a:solidFill>
                <a:latin typeface="Microsoft YaHei"/>
              </a:rPr>
              <a:t>隐私与数据治理：授权优先，样本准入 fail-closed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13232"/>
            <a:ext cx="9875520" cy="24688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Microsoft YaHei"/>
              </a:rPr>
              <a:t>不同意数据贡献不影响核心功能，但不能进入人工评分沉淀和训练/评测样本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5640" y="320040"/>
            <a:ext cx="658368" cy="29260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379476"/>
            <a:ext cx="658368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12 治理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66928" y="1828800"/>
            <a:ext cx="1234440" cy="45720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993392"/>
            <a:ext cx="914400" cy="914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1">
                <a:solidFill>
                  <a:srgbClr val="FFFFFF"/>
                </a:solidFill>
                <a:latin typeface="Microsoft YaHei"/>
              </a:rPr>
              <a:t>基础协议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39696" y="1828800"/>
            <a:ext cx="1234440" cy="45720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9424" y="1993392"/>
            <a:ext cx="914400" cy="914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1">
                <a:solidFill>
                  <a:srgbClr val="FFFFFF"/>
                </a:solidFill>
                <a:latin typeface="Microsoft YaHei"/>
              </a:rPr>
              <a:t>数据贡献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712463" y="1828800"/>
            <a:ext cx="1234440" cy="457200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22191" y="1993392"/>
            <a:ext cx="914400" cy="914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1">
                <a:solidFill>
                  <a:srgbClr val="FFFFFF"/>
                </a:solidFill>
                <a:latin typeface="Microsoft YaHei"/>
              </a:rPr>
              <a:t>案例授权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285232" y="1828800"/>
            <a:ext cx="1234440" cy="45720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1993392"/>
            <a:ext cx="914400" cy="914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1">
                <a:solidFill>
                  <a:srgbClr val="FFFFFF"/>
                </a:solidFill>
                <a:latin typeface="Microsoft YaHei"/>
              </a:rPr>
              <a:t>去标识化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858000" y="1828800"/>
            <a:ext cx="1234440" cy="45720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1993392"/>
            <a:ext cx="914400" cy="914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1">
                <a:solidFill>
                  <a:srgbClr val="FFFFFF"/>
                </a:solidFill>
                <a:latin typeface="Microsoft YaHei"/>
              </a:rPr>
              <a:t>人工复核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30767" y="1828800"/>
            <a:ext cx="1234440" cy="457200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0495" y="1993392"/>
            <a:ext cx="914400" cy="914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1">
                <a:solidFill>
                  <a:srgbClr val="FFFFFF"/>
                </a:solidFill>
                <a:latin typeface="Microsoft YaHei"/>
              </a:rPr>
              <a:t>PII 扫描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0003536" y="1828800"/>
            <a:ext cx="1234440" cy="457200"/>
          </a:xfrm>
          <a:prstGeom prst="rightArrow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13263" y="1993392"/>
            <a:ext cx="914400" cy="914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1">
                <a:solidFill>
                  <a:srgbClr val="FFFFFF"/>
                </a:solidFill>
                <a:latin typeface="Microsoft YaHei"/>
              </a:rPr>
              <a:t>SFT 准入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3063240"/>
            <a:ext cx="1019556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07008" y="3364992"/>
            <a:ext cx="86868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2563EB"/>
                </a:solidFill>
                <a:latin typeface="Microsoft YaHei"/>
              </a:rPr>
              <a:t>保留边界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3273552"/>
            <a:ext cx="8595360" cy="8046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19">
                <a:solidFill>
                  <a:srgbClr val="475569"/>
                </a:solidFill>
                <a:latin typeface="Microsoft YaHei"/>
              </a:rPr>
              <a:t>• “去标识化/脱敏”不等于完全匿名化。</a:t>
            </a:r>
          </a:p>
          <a:p>
            <a:pPr algn="l">
              <a:lnSpc>
                <a:spcPct val="115000"/>
              </a:lnSpc>
            </a:pPr>
            <a:r>
              <a:rPr sz="919">
                <a:solidFill>
                  <a:srgbClr val="475569"/>
                </a:solidFill>
                <a:latin typeface="Microsoft YaHei"/>
              </a:rPr>
              <a:t>• 可保留学校、专业、项目经历、技能、岗位、问答和评分，用于保持诊断质量。</a:t>
            </a:r>
          </a:p>
          <a:p>
            <a:pPr algn="l">
              <a:lnSpc>
                <a:spcPct val="115000"/>
              </a:lnSpc>
            </a:pPr>
            <a:r>
              <a:rPr sz="919">
                <a:solidFill>
                  <a:srgbClr val="475569"/>
                </a:solidFill>
                <a:latin typeface="Microsoft YaHei"/>
              </a:rPr>
              <a:t>• 删除或遮挡姓名、手机号、邮箱、证件号、学号、详细住址、原始文件名等直接标识。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193792"/>
            <a:ext cx="941832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0F172A"/>
                </a:solidFill>
                <a:latin typeface="Microsoft YaHei"/>
              </a:rPr>
              <a:t>生产口径：未授权、未复核、含 PII、样本不足或 job 不匹配的数据，不能进入真实训练。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11155680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64748B"/>
                </a:solidFill>
                <a:latin typeface="Microsoft YaHei"/>
              </a:rPr>
              <a:t>评委看点：数据沉淀不是放任收集，而是清楚授权、最小必要和 fail-closed 样本准入。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778240" cy="42062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0F172A"/>
                </a:solidFill>
                <a:latin typeface="Microsoft YaHei"/>
              </a:rPr>
              <a:t>本地代码级收口，服务器待复验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13232"/>
            <a:ext cx="9875520" cy="24688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Microsoft YaHei"/>
              </a:rPr>
              <a:t>阶段 159-164 已完成本地测试；服务器需拉取最新提交后重新验收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5640" y="320040"/>
            <a:ext cx="658368" cy="29260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379476"/>
            <a:ext cx="658368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13 完成度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298448"/>
            <a:ext cx="52578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609344"/>
            <a:ext cx="1371600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2C55E"/>
                </a:solidFill>
                <a:latin typeface="Microsoft YaHei"/>
              </a:rPr>
              <a:t>本地已验收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148840"/>
            <a:ext cx="4526280" cy="1417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0F172A"/>
                </a:solidFill>
                <a:latin typeface="Microsoft YaHei"/>
              </a:rPr>
              <a:t>• 后端 pytest：193 passed, 1 skipped</a:t>
            </a:r>
          </a:p>
          <a:p>
            <a:pPr algn="l">
              <a:lnSpc>
                <a:spcPct val="125000"/>
              </a:lnSpc>
            </a:pPr>
            <a:r>
              <a:rPr sz="1050">
                <a:solidFill>
                  <a:srgbClr val="0F172A"/>
                </a:solidFill>
                <a:latin typeface="Microsoft YaHei"/>
              </a:rPr>
              <a:t>• 前端/后台 build 通过</a:t>
            </a:r>
          </a:p>
          <a:p>
            <a:pPr algn="l">
              <a:lnSpc>
                <a:spcPct val="125000"/>
              </a:lnSpc>
            </a:pPr>
            <a:r>
              <a:rPr sz="1050">
                <a:solidFill>
                  <a:srgbClr val="0F172A"/>
                </a:solidFill>
                <a:latin typeface="Microsoft YaHei"/>
              </a:rPr>
              <a:t>• generate_competition_assets 通过</a:t>
            </a:r>
          </a:p>
          <a:p>
            <a:pPr algn="l">
              <a:lnSpc>
                <a:spcPct val="125000"/>
              </a:lnSpc>
            </a:pPr>
            <a:r>
              <a:rPr sz="1050">
                <a:solidFill>
                  <a:srgbClr val="0F172A"/>
                </a:solidFill>
                <a:latin typeface="Microsoft YaHei"/>
              </a:rPr>
              <a:t>• SFT dry-run 因真实授权样本不足拒绝 job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7648" y="1298448"/>
            <a:ext cx="52578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609344"/>
            <a:ext cx="1645920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59E0B"/>
                </a:solidFill>
                <a:latin typeface="Microsoft YaHei"/>
              </a:rPr>
              <a:t>服务器待复验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2148840"/>
            <a:ext cx="4526280" cy="1417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0F172A"/>
                </a:solidFill>
                <a:latin typeface="Microsoft YaHei"/>
              </a:rPr>
              <a:t>• git pull 获取本地领先提交</a:t>
            </a:r>
          </a:p>
          <a:p>
            <a:pPr algn="l">
              <a:lnSpc>
                <a:spcPct val="125000"/>
              </a:lnSpc>
            </a:pPr>
            <a:r>
              <a:rPr sz="1050">
                <a:solidFill>
                  <a:srgbClr val="0F172A"/>
                </a:solidFill>
                <a:latin typeface="Microsoft YaHei"/>
              </a:rPr>
              <a:t>• docker compose up -d --build</a:t>
            </a:r>
          </a:p>
          <a:p>
            <a:pPr algn="l">
              <a:lnSpc>
                <a:spcPct val="125000"/>
              </a:lnSpc>
            </a:pPr>
            <a:r>
              <a:rPr sz="1050">
                <a:solidFill>
                  <a:srgbClr val="0F172A"/>
                </a:solidFill>
                <a:latin typeface="Microsoft YaHei"/>
              </a:rPr>
              <a:t>• alembic upgrade head</a:t>
            </a:r>
          </a:p>
          <a:p>
            <a:pPr algn="l">
              <a:lnSpc>
                <a:spcPct val="125000"/>
              </a:lnSpc>
            </a:pPr>
            <a:r>
              <a:rPr sz="1050">
                <a:solidFill>
                  <a:srgbClr val="0F172A"/>
                </a:solidFill>
                <a:latin typeface="Microsoft YaHei"/>
              </a:rPr>
              <a:t>• health + Competition API + 前端页面验收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3120" y="5833872"/>
            <a:ext cx="8046720" cy="347472"/>
          </a:xfrm>
          <a:prstGeom prst="roundRect">
            <a:avLst/>
          </a:prstGeom>
          <a:solidFill>
            <a:srgbClr val="0C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31136" y="5952744"/>
            <a:ext cx="7772400" cy="914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1">
                <a:solidFill>
                  <a:srgbClr val="FFFFFF"/>
                </a:solidFill>
                <a:latin typeface="Microsoft YaHei"/>
              </a:rPr>
              <a:t>答辩口径：本地代码级收口已完成；服务器以赛前部署验收报告为准。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11155680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64748B"/>
                </a:solidFill>
                <a:latin typeface="Microsoft YaHei"/>
              </a:rPr>
              <a:t>边界：不能把“本地通过”说成“服务器已完成最新版本部署验收”。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778240" cy="42062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三个月补实路线：从 Preview 到真实评测和后训练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13232"/>
            <a:ext cx="9875520" cy="24688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94A3B8"/>
                </a:solidFill>
                <a:latin typeface="Microsoft YaHei"/>
              </a:rPr>
              <a:t>赛前展示链路，赛后用真实授权样本补实模型效果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5640" y="320040"/>
            <a:ext cx="658368" cy="29260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379476"/>
            <a:ext cx="658368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14 路线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1828800"/>
            <a:ext cx="2514600" cy="2514600"/>
          </a:xfrm>
          <a:prstGeom prst="roundRect">
            <a:avLst/>
          </a:prstGeom>
          <a:solidFill>
            <a:srgbClr val="0D3B52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157984"/>
            <a:ext cx="2057400" cy="23774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2C55E"/>
                </a:solidFill>
                <a:latin typeface="Microsoft YaHei"/>
              </a:rPr>
              <a:t>第 1 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788920"/>
            <a:ext cx="2057400" cy="7132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C1/C2/C3 真实闭环</a:t>
            </a:r>
            <a:br/>
            <a:r>
              <a:rPr sz="1050" b="1">
                <a:solidFill>
                  <a:srgbClr val="FFFFFF"/>
                </a:solidFill>
                <a:latin typeface="Microsoft YaHei"/>
              </a:rPr>
              <a:t>授权样本 + 人工评分</a:t>
            </a:r>
            <a:br/>
            <a:r>
              <a:rPr sz="1050" b="1">
                <a:solidFill>
                  <a:srgbClr val="FFFFFF"/>
                </a:solidFill>
                <a:latin typeface="Microsoft YaHei"/>
              </a:rPr>
              <a:t>holdout 集准备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828800"/>
            <a:ext cx="2514600" cy="2514600"/>
          </a:xfrm>
          <a:prstGeom prst="roundRect">
            <a:avLst/>
          </a:prstGeom>
          <a:solidFill>
            <a:srgbClr val="0D3B5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2157984"/>
            <a:ext cx="2057400" cy="23774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6B6D4"/>
                </a:solidFill>
                <a:latin typeface="Microsoft YaHei"/>
              </a:rPr>
              <a:t>第 2 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788920"/>
            <a:ext cx="2057400" cy="7132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OpenAI SFT</a:t>
            </a:r>
            <a:br/>
            <a:r>
              <a:rPr sz="1050" b="1">
                <a:solidFill>
                  <a:srgbClr val="FFFFFF"/>
                </a:solidFill>
                <a:latin typeface="Microsoft YaHei"/>
              </a:rPr>
              <a:t>job id + 官方微调模型 ID</a:t>
            </a:r>
            <a:br/>
            <a:r>
              <a:rPr sz="1050" b="1">
                <a:solidFill>
                  <a:srgbClr val="FFFFFF"/>
                </a:solidFill>
                <a:latin typeface="Microsoft YaHei"/>
              </a:rPr>
              <a:t>base 对比 eval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828800"/>
            <a:ext cx="2514600" cy="2514600"/>
          </a:xfrm>
          <a:prstGeom prst="roundRect">
            <a:avLst/>
          </a:prstGeom>
          <a:solidFill>
            <a:srgbClr val="0D3B52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157984"/>
            <a:ext cx="2057400" cy="23774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7C3AED"/>
                </a:solidFill>
                <a:latin typeface="Microsoft YaHei"/>
              </a:rPr>
              <a:t>第 3 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788920"/>
            <a:ext cx="2057400" cy="7132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DPO / QLoRA</a:t>
            </a:r>
            <a:br/>
            <a:r>
              <a:rPr sz="1050" b="1">
                <a:solidFill>
                  <a:srgbClr val="FFFFFF"/>
                </a:solidFill>
                <a:latin typeface="Microsoft YaHei"/>
              </a:rPr>
              <a:t>偏好样本与开源模型</a:t>
            </a:r>
            <a:br/>
            <a:r>
              <a:rPr sz="1050" b="1">
                <a:solidFill>
                  <a:srgbClr val="FFFFFF"/>
                </a:solidFill>
                <a:latin typeface="Microsoft YaHei"/>
              </a:rPr>
              <a:t>私有化验证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49240"/>
            <a:ext cx="10424160" cy="32918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19" b="1">
                <a:solidFill>
                  <a:srgbClr val="E2E8F0"/>
                </a:solidFill>
                <a:latin typeface="Microsoft YaHei"/>
              </a:rPr>
              <a:t>里程碑门槛：不达标不宣称。只有 job succeeded 且 OpenAI 返回官方微调模型 ID 后，才写“已完成真实 OpenAI SFT 实验”。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11155680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94A3B8"/>
                </a:solidFill>
                <a:latin typeface="Microsoft YaHei"/>
              </a:rPr>
              <a:t>补实路线服务于答辩后的真实产品迭代，不把 Preview 包装成真实训练结果。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778240" cy="42062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0F172A"/>
                </a:solidFill>
                <a:latin typeface="Microsoft YaHei"/>
              </a:rPr>
              <a:t>备答：和 ChatGPT 通用问答有什么区别？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13232"/>
            <a:ext cx="9875520" cy="24688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Microsoft YaHei"/>
              </a:rPr>
              <a:t>区别不在模型名字，而在任务拆解、证据约束和数据闭环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5640" y="320040"/>
            <a:ext cx="658368" cy="29260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379476"/>
            <a:ext cx="658368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备答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00200"/>
            <a:ext cx="10287000" cy="3154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993392"/>
            <a:ext cx="9646920" cy="1508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>
                <a:solidFill>
                  <a:srgbClr val="0F172A"/>
                </a:solidFill>
                <a:latin typeface="Microsoft YaHei"/>
              </a:rPr>
              <a:t>• ChatGPT 通用问答：自由聊天、自由生成、难追溯依据。</a:t>
            </a:r>
          </a:p>
          <a:p>
            <a:pPr algn="l">
              <a:lnSpc>
                <a:spcPct val="122000"/>
              </a:lnSpc>
            </a:pPr>
            <a:r>
              <a:rPr sz="1300">
                <a:solidFill>
                  <a:srgbClr val="0F172A"/>
                </a:solidFill>
                <a:latin typeface="Microsoft YaHei"/>
              </a:rPr>
              <a:t>• 职启智评：岗位画像、证据状态、能力缺口、追问目标、报告和学习任务全链路绑定。</a:t>
            </a:r>
          </a:p>
          <a:p>
            <a:pPr algn="l">
              <a:lnSpc>
                <a:spcPct val="122000"/>
              </a:lnSpc>
            </a:pPr>
            <a:r>
              <a:rPr sz="1300">
                <a:solidFill>
                  <a:srgbClr val="0F172A"/>
                </a:solidFill>
                <a:latin typeface="Microsoft YaHei"/>
              </a:rPr>
              <a:t>• 一句话：我们不是让大模型“聊面试”，而是把就业诊断拆成多 Agent 工作流。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5257800"/>
            <a:ext cx="9692640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75569"/>
                </a:solidFill>
                <a:latin typeface="Microsoft YaHei"/>
              </a:rPr>
              <a:t>备答原则：强势表达工程设计与 Preview 能力，严格区分真实训练、真实闭环和构造演示。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155680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64748B"/>
                </a:solidFill>
                <a:latin typeface="Microsoft YaHei"/>
              </a:rPr>
              <a:t>答辩备用页：仅在评委追问时展示，不进入 8-10 分钟主讲节奏。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778240" cy="42062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0F172A"/>
                </a:solidFill>
                <a:latin typeface="Microsoft YaHei"/>
              </a:rPr>
              <a:t>备答：为什么当前不宣称真实微调完成？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13232"/>
            <a:ext cx="9875520" cy="24688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Microsoft YaHei"/>
              </a:rPr>
              <a:t>这是工程可信度问题，也是合规边界问题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5640" y="320040"/>
            <a:ext cx="658368" cy="29260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379476"/>
            <a:ext cx="658368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备答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00200"/>
            <a:ext cx="10287000" cy="3154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993392"/>
            <a:ext cx="9646920" cy="1508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>
                <a:solidFill>
                  <a:srgbClr val="0F172A"/>
                </a:solidFill>
                <a:latin typeface="Microsoft YaHei"/>
              </a:rPr>
              <a:t>• 当前完成：SFT-ready 样本结构、训练脚本、job 创建门禁、状态检查、eval 入口。</a:t>
            </a:r>
          </a:p>
          <a:p>
            <a:pPr algn="l">
              <a:lnSpc>
                <a:spcPct val="122000"/>
              </a:lnSpc>
            </a:pPr>
            <a:r>
              <a:rPr sz="1300">
                <a:solidFill>
                  <a:srgbClr val="0F172A"/>
                </a:solidFill>
                <a:latin typeface="Microsoft YaHei"/>
              </a:rPr>
              <a:t>• 当前未完成：真实授权样本达标、OpenAI job 成功、官方微调模型 ID、真实 holdout eval。</a:t>
            </a:r>
          </a:p>
          <a:p>
            <a:pPr algn="l">
              <a:lnSpc>
                <a:spcPct val="122000"/>
              </a:lnSpc>
            </a:pPr>
            <a:r>
              <a:rPr sz="1300">
                <a:solidFill>
                  <a:srgbClr val="0F172A"/>
                </a:solidFill>
                <a:latin typeface="Microsoft YaHei"/>
              </a:rPr>
              <a:t>• 安全表达：赛前版本完成后训练闭环工程化准备和演示级验证。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5257800"/>
            <a:ext cx="9692640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75569"/>
                </a:solidFill>
                <a:latin typeface="Microsoft YaHei"/>
              </a:rPr>
              <a:t>备答原则：强势表达工程设计与 Preview 能力，严格区分真实训练、真实闭环和构造演示。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155680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64748B"/>
                </a:solidFill>
                <a:latin typeface="Microsoft YaHei"/>
              </a:rPr>
              <a:t>答辩备用页：仅在评委追问时展示，不进入 8-10 分钟主讲节奏。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778240" cy="42062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0F172A"/>
                </a:solidFill>
                <a:latin typeface="Microsoft YaHei"/>
              </a:rPr>
              <a:t>备答：数据授权与隐私边界如何处理？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13232"/>
            <a:ext cx="9875520" cy="24688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75569"/>
                </a:solidFill>
                <a:latin typeface="Microsoft YaHei"/>
              </a:rPr>
              <a:t>基础服务必要处理与可选数据贡献分开，后者默认不勾选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5640" y="320040"/>
            <a:ext cx="658368" cy="29260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379476"/>
            <a:ext cx="658368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备答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00200"/>
            <a:ext cx="10287000" cy="3154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993392"/>
            <a:ext cx="9646920" cy="1508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>
                <a:solidFill>
                  <a:srgbClr val="0F172A"/>
                </a:solidFill>
                <a:latin typeface="Microsoft YaHei"/>
              </a:rPr>
              <a:t>• 基础隐私协议用于核心服务必要处理。</a:t>
            </a:r>
          </a:p>
          <a:p>
            <a:pPr algn="l">
              <a:lnSpc>
                <a:spcPct val="122000"/>
              </a:lnSpc>
            </a:pPr>
            <a:r>
              <a:rPr sz="1300">
                <a:solidFill>
                  <a:srgbClr val="0F172A"/>
                </a:solidFill>
                <a:latin typeface="Microsoft YaHei"/>
              </a:rPr>
              <a:t>• 可选数据贡献用于评测、比赛材料、质量改进和数据集沉淀；不同意不影响核心功能。</a:t>
            </a:r>
          </a:p>
          <a:p>
            <a:pPr algn="l">
              <a:lnSpc>
                <a:spcPct val="122000"/>
              </a:lnSpc>
            </a:pPr>
            <a:r>
              <a:rPr sz="1300">
                <a:solidFill>
                  <a:srgbClr val="0F172A"/>
                </a:solidFill>
                <a:latin typeface="Microsoft YaHei"/>
              </a:rPr>
              <a:t>• 去标识化不等于完全匿名化；可保留学校、专业、项目经历、技能、岗位、问答和评分。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5257800"/>
            <a:ext cx="9692640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75569"/>
                </a:solidFill>
                <a:latin typeface="Microsoft YaHei"/>
              </a:rPr>
              <a:t>备答原则：强势表达工程设计与 Preview 能力，严格区分真实训练、真实闭环和构造演示。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155680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64748B"/>
                </a:solidFill>
                <a:latin typeface="Microsoft YaHei"/>
              </a:rPr>
              <a:t>答辩备用页：仅在评委追问时展示，不进入 8-10 分钟主讲节奏。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778240" cy="42062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备答：评委高压问题的标准回答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13232"/>
            <a:ext cx="9875520" cy="24688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94A3B8"/>
                </a:solidFill>
                <a:latin typeface="Microsoft YaHei"/>
              </a:rPr>
              <a:t>所有回答都回到“当前真实状态 + 后续补实路径”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5640" y="320040"/>
            <a:ext cx="658368" cy="29260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379476"/>
            <a:ext cx="658368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备答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00200"/>
            <a:ext cx="10287000" cy="3154680"/>
          </a:xfrm>
          <a:prstGeom prst="roundRect">
            <a:avLst/>
          </a:prstGeom>
          <a:solidFill>
            <a:srgbClr val="08253A"/>
          </a:solidFill>
          <a:ln w="12700">
            <a:solidFill>
              <a:srgbClr val="1E4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993392"/>
            <a:ext cx="9646920" cy="1508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>
                <a:solidFill>
                  <a:srgbClr val="FFFFFF"/>
                </a:solidFill>
                <a:latin typeface="Microsoft YaHei"/>
              </a:rPr>
              <a:t>• Q：你们到底微调了吗？A：完成 SFT-ready 工程链路，真实训练需授权样本和复核达标。</a:t>
            </a:r>
          </a:p>
          <a:p>
            <a:pPr algn="l">
              <a:lnSpc>
                <a:spcPct val="122000"/>
              </a:lnSpc>
            </a:pPr>
            <a:r>
              <a:rPr sz="1200">
                <a:solidFill>
                  <a:srgbClr val="FFFFFF"/>
                </a:solidFill>
                <a:latin typeface="Microsoft YaHei"/>
              </a:rPr>
              <a:t>• Q：Eval 34/35 是真实效果吗？A：不是，是 Preview 规则评分。</a:t>
            </a:r>
          </a:p>
          <a:p>
            <a:pPr algn="l">
              <a:lnSpc>
                <a:spcPct val="122000"/>
              </a:lnSpc>
            </a:pPr>
            <a:r>
              <a:rPr sz="1200">
                <a:solidFill>
                  <a:srgbClr val="FFFFFF"/>
                </a:solidFill>
                <a:latin typeface="Microsoft YaHei"/>
              </a:rPr>
              <a:t>• Q：演示样本来自真实用户吗？A：不是，demo_constructed 且 for_training=false。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5257800"/>
            <a:ext cx="9692640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94A3B8"/>
                </a:solidFill>
                <a:latin typeface="Microsoft YaHei"/>
              </a:rPr>
              <a:t>备答原则：强势表达工程设计与 Preview 能力，严格区分真实训练、真实闭环和构造演示。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155680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94A3B8"/>
                </a:solidFill>
                <a:latin typeface="Microsoft YaHei"/>
              </a:rPr>
              <a:t>答辩备用页：仅在评委追问时展示，不进入 8-10 分钟主讲节奏。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职启智评 Career-AgentOS 人工智能创新赛答辩 PPT 评委优化版</dc:title>
  <dc:subject>Career-AgentOS defense deck judge optimized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